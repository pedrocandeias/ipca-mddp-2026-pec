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notesSlides/notesSlide2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3.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30.xml" ContentType="application/vnd.openxmlformats-officedocument.presentationml.notesSlide+xml"/>
  <Override PartName="/ppt/notesSlides/notesSlide2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v</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h</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t-PT" sz="2000" b="0" u="none" strike="noStrike">
                <a:solidFill>
                  <a:srgbClr val="000000"/>
                </a:solidFill>
                <a:effectLst/>
                <a:uFillTx/>
                <a:latin typeface="Arial"/>
              </a:rPr>
              <a:t>Click to edit the notes format</a:t>
            </a:r>
            <a:endParaRPr lang="pt-PT"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t-PT" sz="1400" b="0" u="none" strike="noStrike">
                <a:solidFill>
                  <a:srgbClr val="000000"/>
                </a:solidFill>
                <a:effectLst/>
                <a:uFillTx/>
                <a:latin typeface="Times New Roman"/>
              </a:rPr>
              <a:t>&lt;header&gt;</a:t>
            </a:r>
            <a:endParaRPr lang="pt-PT"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pt-PT" sz="1400" b="0" u="none" strike="noStrike">
                <a:solidFill>
                  <a:srgbClr val="000000"/>
                </a:solidFill>
                <a:effectLst/>
                <a:uFillTx/>
                <a:latin typeface="Times New Roman"/>
              </a:defRPr>
            </a:lvl1pPr>
          </a:lstStyle>
          <a:p>
            <a:pPr indent="0" algn="r">
              <a:buNone/>
            </a:pPr>
            <a:r>
              <a:rPr lang="pt-PT" sz="1400" b="0" u="none" strike="noStrike">
                <a:solidFill>
                  <a:srgbClr val="000000"/>
                </a:solidFill>
                <a:effectLst/>
                <a:uFillTx/>
                <a:latin typeface="Times New Roman"/>
              </a:rPr>
              <a:t>&lt;date/time&gt;</a:t>
            </a:r>
            <a:endParaRPr lang="pt-PT"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pt-PT" sz="1400" b="0" u="none" strike="noStrike">
                <a:solidFill>
                  <a:srgbClr val="000000"/>
                </a:solidFill>
                <a:effectLst/>
                <a:uFillTx/>
                <a:latin typeface="Times New Roman"/>
              </a:defRPr>
            </a:lvl1pPr>
          </a:lstStyle>
          <a:p>
            <a:pPr indent="0" algn="l">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pt-PT" sz="1400" b="0" u="none" strike="noStrike">
                <a:solidFill>
                  <a:srgbClr val="000000"/>
                </a:solidFill>
                <a:effectLst/>
                <a:uFillTx/>
                <a:latin typeface="Times New Roman"/>
              </a:defRPr>
            </a:lvl1pPr>
          </a:lstStyle>
          <a:p>
            <a:pPr indent="0" algn="r">
              <a:buNone/>
            </a:pPr>
            <a:fld id="{FA987135-6AA1-4E4A-9DA4-048CBE1654EB}" type="slidenum">
              <a:rPr lang="pt-PT" sz="1400" b="0" u="none" strike="noStrike">
                <a:solidFill>
                  <a:srgbClr val="000000"/>
                </a:solidFill>
                <a:effectLst/>
                <a:uFillTx/>
                <a:latin typeface="Times New Roman"/>
              </a:rPr>
              <a:t>&lt;number&gt;</a:t>
            </a:fld>
            <a:endParaRPr lang="pt-PT"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1143000" y="685800"/>
            <a:ext cx="4571640" cy="3428640"/>
          </a:xfrm>
          <a:prstGeom prst="rect">
            <a:avLst/>
          </a:prstGeom>
          <a:ln w="0">
            <a:noFill/>
          </a:ln>
        </p:spPr>
      </p:sp>
      <p:sp>
        <p:nvSpPr>
          <p:cNvPr id="48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- 0:35</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Bom dia. Sou o Pedro Candeias e este é o projeto que desenvolvi com a orientação do Doutor Demétrio Matos.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Quis perceber como podemos configurar uma mão protésica para impressão 3D e verificar se as escolhas feitas no ecrã chegam à peça como esperamos. Para estudar isso, desenvolvi o HandFab, com modelos paramétricos e apoio de inteligência artificial. Vou mostrar algumas decisões que tomei e o que aprendi ao testar o resultado.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começar pela fotografia. É uma montagem feita durante o projeto e ajuda-me a mostrar logo a ligação entre a configuração no ecrã e a peça física.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Imagem: produção do autor · Suplemento 4 · Phoenix, observação de montagem em bancada.</a:t>
            </a:r>
            <a:endParaRPr lang="pt-PT" sz="2000" b="0" u="none" strike="noStrike">
              <a:solidFill>
                <a:srgbClr val="000000"/>
              </a:solidFill>
              <a:effectLst/>
              <a:uFillTx/>
              <a:latin typeface="Arial"/>
            </a:endParaRPr>
          </a:p>
        </p:txBody>
      </p:sp>
      <p:sp>
        <p:nvSpPr>
          <p:cNvPr id="487"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D3AE265-27C1-41B3-81F5-3E6FAB885878}"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1143000" y="685800"/>
            <a:ext cx="4571640" cy="3428640"/>
          </a:xfrm>
          <a:prstGeom prst="rect">
            <a:avLst/>
          </a:prstGeom>
          <a:ln w="0">
            <a:noFill/>
          </a:ln>
        </p:spPr>
      </p:sp>
      <p:sp>
        <p:nvSpPr>
          <p:cNvPr id="48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1:15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motivação parte das dificuldades de acesso a próteses adaptadas às necessidades das pessoas, particularmente em contextos de baixos e médios rendimentos. O custo é uma barreira, a que se juntam a disponibilidade de técnicos, a adaptação e a manutenção dos dispositivos.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impressão 3D e os modelos abertos oferecem possibilidades de produção e modificação. Mas disponibilizar um ficheiro não resolve a forma de o ajustar. Muitos modelos exigem alterações manuais, conhecimento de modelação e decisões que nem sempre ficam documentadas.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Foi esta dificuldade que motivou o desenvolvimento do HandFab: organizar a passagem das medidas para modelos configuráveis e verificar o efeito das escolhas até à peça física.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projeto explora uma base técnica para apoiar esse percurso. A redução de custos e a melhoria do acesso nesses contextos continuam por avaliar.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secção 1.1 associa a motivação aos obstáculos de custo, adaptação anatómica e dependência de técnicos especializados. A Lacuna 5 do estado da arte acrescenta as dificuldades de durabilidade, manutenção e infraestrutura em contextos de baixos e médios rendimentos. Isto ajuda-me a explicar por que razão desenvolver um processo de configuração mais explícito é relevante. Não fiz uma implantação nesses países nem uma comparação económica que permita afirmar uma melhoria de acesso. O apoio técnico e clínico continua necessário.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Começar pela necessidade que motivou o desenvolvimento. Ligar as barreiras de acesso à possibilidade de configurar modelos abertos. Apresentar o HandFab como resposta de investigação ao problema delimitado. Não atribuir o projeto a uma experiência pessoal nem anunciar uma redução de custos demonstrada.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Manuscrito, 1.1–1.2 e 2.8, Lacuna 5 · Andrysek (2010); Alluhydan et al. (2023); Baumann e Maria (2023).</a:t>
            </a:r>
            <a:endParaRPr lang="pt-PT" sz="2000" b="0" u="none" strike="noStrike">
              <a:solidFill>
                <a:srgbClr val="000000"/>
              </a:solidFill>
              <a:effectLst/>
              <a:uFillTx/>
              <a:latin typeface="Arial"/>
            </a:endParaRPr>
          </a:p>
        </p:txBody>
      </p:sp>
      <p:sp>
        <p:nvSpPr>
          <p:cNvPr id="490"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12ECAF-2029-41CA-935F-7F7AB246005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1143000" y="685800"/>
            <a:ext cx="4571640" cy="3428640"/>
          </a:xfrm>
          <a:prstGeom prst="rect">
            <a:avLst/>
          </a:prstGeom>
          <a:ln w="0">
            <a:noFill/>
          </a:ln>
        </p:spPr>
      </p:sp>
      <p:sp>
        <p:nvSpPr>
          <p:cNvPr id="4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1:00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ponto de partida é simples: introduzo uma largura e espero obter uma peça com uma dimensão correspondente. O problema está no que acontece entre esses dois momentos.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valor entra num parâmetro e passa pelas regras do modelo. Uma regra pode aumentar a mão inteira. Outra pode alterar só uma parte. Preciso de perceber qual destas situações estou a controlar.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Há ainda uma diferença importante entre medir uma mão e medir a dimensão exterior de uma peça. Mesmo que ambos os valores estejam em milímetros, podem representar coisas diferentes.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Foi aqui que situei o problema de design: definir o que pode ser alterado e verificar o efeito dessa escolha. Quem usa a configuração precisa de perceber até onde o modelo consegue responder ao pedido.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um exemplo, usar a largura e o comprimento: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 Posso querer aumentar só a largura, mas a regra do modelo também aumentar o comprimento. Tenho de decidir se essa ligação faz sentido e explicar o efeito a quem configura.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Captura do HandFab e fotografias do autor · Configuração e peças ilustram etapas do projeto.</a:t>
            </a:r>
            <a:endParaRPr lang="pt-PT" sz="2000" b="0" u="none" strike="noStrike">
              <a:solidFill>
                <a:srgbClr val="000000"/>
              </a:solidFill>
              <a:effectLst/>
              <a:uFillTx/>
              <a:latin typeface="Arial"/>
            </a:endParaRPr>
          </a:p>
        </p:txBody>
      </p:sp>
      <p:sp>
        <p:nvSpPr>
          <p:cNvPr id="493"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6CF3668-58AA-4DB3-92E0-D8E769DCBEE1}"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1143000" y="685800"/>
            <a:ext cx="4571640" cy="3428640"/>
          </a:xfrm>
          <a:prstGeom prst="rect">
            <a:avLst/>
          </a:prstGeom>
          <a:ln w="0">
            <a:noFill/>
          </a:ln>
        </p:spPr>
      </p:sp>
      <p:sp>
        <p:nvSpPr>
          <p:cNvPr id="4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0:40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perguntas orientaram a personalização com controlo sobre as decisões, a avaliação dos resultados e a relação entre requisitos do produto e experiência das pessoas.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primeira articula design, parametrização e IA. A segunda pergunta como examinar a eficácia, a usabilidade, a durabilidade e a reprodução dos resultados. A terceira inclui a aceitação, a dignidade e a autonomia.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resposta empírica ficou na configuração e na verificação técnica e dimensional. A experiência de utilização e o desempenho clínico exigem estudos com participantes. As perguntas integrais estão nos diapositivos de apoio.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qual é a diferença entre verificar o funcionamento técnico e avaliar a experiência de utilização, posso explicar com um exemplo: medir uma peça permite comparar as suas dimensões com as da malha digital. Para perceber se é confortável, preciso de observar a sua utilização e ouvir a pessoa que a usa. Na interface, os testes verificam se a tarefa é executada. Para perceber se os controlos são fáceis de compreender, preciso de observar pessoas a realizar essa tarefa.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Dizer claramente onde ficou o estudo e seguir em frente. Não preciso de repetir a lista de limitações em todos os diapositivos. Se pedirem a formulação exata de uma pergunta, ir ao diapositivo 24.</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Síntese das perguntas aprovadas · Formulações integrais no diapositivo 24 · Tabela 31.</a:t>
            </a:r>
            <a:endParaRPr lang="pt-PT" sz="2000" b="0" u="none" strike="noStrike">
              <a:solidFill>
                <a:srgbClr val="000000"/>
              </a:solidFill>
              <a:effectLst/>
              <a:uFillTx/>
              <a:latin typeface="Arial"/>
            </a:endParaRPr>
          </a:p>
        </p:txBody>
      </p:sp>
      <p:sp>
        <p:nvSpPr>
          <p:cNvPr id="496"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BF40F9A-5ADF-4B4D-B66C-2626206A02DE}"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1143000" y="685800"/>
            <a:ext cx="4571640" cy="3428640"/>
          </a:xfrm>
          <a:prstGeom prst="rect">
            <a:avLst/>
          </a:prstGeom>
          <a:ln w="0">
            <a:noFill/>
          </a:ln>
        </p:spPr>
      </p:sp>
      <p:sp>
        <p:nvSpPr>
          <p:cNvPr id="4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1:05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objetivo geral foi produzir conhecimento através do desenvolvimento e da avaliação técnica de um sistema paramétrico com apoio de IA para configurar modelos de mão protésica.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Os sete objetivos específicos orientaram esse trabalho: compreender a tradução das necessidades em decisões de design; organizar os dados antropométricos com a sua origem; adaptar modelos abertos; integrar a configuração numa plataforma web; delimitar o papel da IA; examinar a coerência entre dados, geometria e peças; e identificar as condições necessárias para uma avaliação posterior com utilizadores.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Vou mostrar como estas tarefas se articularam no processo de investigação e nas decisões tomadas no HandFab.</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ligar um objetivo a uma decisão concreta. Ao organizar os dados, tive de conservar a origem de cada valor para conseguir interpretá-lo na configuração. Ao adaptar os modelos, precisei de tornar as regras explícitas para verificar o efeito desses valores. É essa ligação que os objetivos me ajudam a acompanhar.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Apresentar o objetivo geral antes de percorrer a lista. Seguir a numeração da coluna esquerda para a direita. Estes pontos resumem a secção 1.3 do manuscrito; os resultados vêm depois.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Síntese da secção 1.3 do manuscrito · Sete objetivos específicos, com o âmbito original preservado.</a:t>
            </a:r>
            <a:endParaRPr lang="pt-PT" sz="2000" b="0" u="none" strike="noStrike">
              <a:solidFill>
                <a:srgbClr val="000000"/>
              </a:solidFill>
              <a:effectLst/>
              <a:uFillTx/>
              <a:latin typeface="Arial"/>
            </a:endParaRPr>
          </a:p>
        </p:txBody>
      </p:sp>
      <p:sp>
        <p:nvSpPr>
          <p:cNvPr id="499"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6BC4AB-A465-4A88-AEA2-795F323A33BB}"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1143000" y="685800"/>
            <a:ext cx="4571640" cy="3428640"/>
          </a:xfrm>
          <a:prstGeom prst="rect">
            <a:avLst/>
          </a:prstGeom>
          <a:ln w="0">
            <a:noFill/>
          </a:ln>
        </p:spPr>
      </p:sp>
      <p:sp>
        <p:nvSpPr>
          <p:cNvPr id="5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1:20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Organizei a investigação através do projeto, ou Research Through Design. Construir o HandFab permitiu-me examinar decisões de configuração e aprender com os efeitos observados nos modelos e nas peças.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Double Diamond ajudou a organizar esse percurso. Na descoberta, explorei a literatura, os modelos e as necessidades. Na definição, delimitei o problema, os requisitos e o que conseguiria avaliar. O desenvolvimento reuniu a adaptação dos modelos e a plataforma. A entrega incluiu exportações, protótipos e verificação dos resultados.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momentos admitiam regressos. No Paraglider, os ensaios mostraram que a palma não acompanhava a escala esperada. Procurei a causa, alterei a regra e voltei a examinar a geometria.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aprendizagem está nessa relação documentada entre problema, decisão e resultado. A pesquisa bibliográfica e as ferramentas de IA apoiaram o percurso, como explico a seguir.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Research Through Design enquadra a produção de conhecimento através do desenvolvimento e da análise do artefacto. O Double Diamond organiza a exploração e a convergência das decisões. Não são métodos equivalentes. No exemplo do Paraglider, o requisito era propagar a largura introduzida para a palma. A alteração do ponto de aplicação da escala modificou o resultado geométrico. Os registos permitem relacionar a alteração com o resultado e compreender uma restrição do modelo. A Tabela 4 documenta outros ciclos.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Percorrer as quatro fases no esquema e terminar no ciclo inferior. Usar o Paraglider como exemplo breve. A avaliação realizada é técnica e dimensional; não apresentar a fase de entrega como implantação clínica ou comercial.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Manuscrito, 3.1–3.3 e Tabela 4 · Frayling (1994); Zimmerman et al. (2007); Design Council (2007).</a:t>
            </a:r>
            <a:endParaRPr lang="pt-PT" sz="2000" b="0" u="none" strike="noStrike">
              <a:solidFill>
                <a:srgbClr val="000000"/>
              </a:solidFill>
              <a:effectLst/>
              <a:uFillTx/>
              <a:latin typeface="Arial"/>
            </a:endParaRPr>
          </a:p>
        </p:txBody>
      </p:sp>
      <p:sp>
        <p:nvSpPr>
          <p:cNvPr id="502"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4FC6319-F9AB-411A-AFCF-FB6ABA3E6118}"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1143000" y="685800"/>
            <a:ext cx="4571640" cy="3428640"/>
          </a:xfrm>
          <a:prstGeom prst="rect">
            <a:avLst/>
          </a:prstGeom>
          <a:ln w="0">
            <a:noFill/>
          </a:ln>
        </p:spPr>
      </p:sp>
      <p:sp>
        <p:nvSpPr>
          <p:cNvPr id="5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0:55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IA teve dois papéis no projeto.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Durante a investigação, usei o Elicit para apoiar a pesquisa e agregar bibliografia por tema. Recorri também ao ChatGPT, ao Codex e ao Claude no apoio à organização da informação, à escrita e revisão e ao desenvolvimento e depuração de código. Este uso está declarado no manuscrito.</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Dentro do HandFab, a IA constitui uma componente estudada: propõe valores iniciais para parâmetros existentes, que podem ser revistos antes de gerar a geometria.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Em ambos os casos, mantive a responsabilidade pela seleção do que utilizo e pela verificação dos resultados. No caso da bibliografia, isso exige voltar às publicações que sustentam as afirmações.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distinguir uma síntese usada para localizar referências de uma afirmação fundamentada num artigo. A primeira ajuda a orientar a pesquisa; a segunda exige examinar a fonte e os seus limites. Também distingo o código produzido com apoio de IA do comportamento verificado nos ensaios. Não quantifiquei ganhos de produtividade atribuíveis a estas ferramentas.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Apresentar as ferramentas pelas tarefas em que apoiaram o trabalho. O Elicit recebe um exemplo no diapositivo seguinte. Os pormenores da IA dentro do HandFab são desenvolvidos mais adiante.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Declaração de utilização de IA e capítulo 6 · Registos locais da pesquisa bibliográfica e do desenvolvimento.</a:t>
            </a:r>
            <a:endParaRPr lang="pt-PT" sz="2000" b="0" u="none" strike="noStrike">
              <a:solidFill>
                <a:srgbClr val="000000"/>
              </a:solidFill>
              <a:effectLst/>
              <a:uFillTx/>
              <a:latin typeface="Arial"/>
            </a:endParaRPr>
          </a:p>
        </p:txBody>
      </p:sp>
      <p:sp>
        <p:nvSpPr>
          <p:cNvPr id="505"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A537BA4-94C3-4B3A-8476-1989DD4C63A2}"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1143000" y="685800"/>
            <a:ext cx="4571640" cy="3428640"/>
          </a:xfrm>
          <a:prstGeom prst="rect">
            <a:avLst/>
          </a:prstGeom>
          <a:ln w="0">
            <a:noFill/>
          </a:ln>
        </p:spPr>
      </p:sp>
      <p:sp>
        <p:nvSpPr>
          <p:cNvPr id="5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1:30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Elicit, parti de perguntas ligadas a secções do manuscrito. Fiz pesquisas dirigidas e usei relatórios para aprofundar temas e reunir referências relacionadas. As sínteses ajudaram a organizar a leitura e a identificar trabalhos a examinar.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Um exemplo é a pesquisa sobre o papel da IA. Precisava de distinguir os estudos sobre controlo da prótese, como o reconhecimento de movimentos, dos estudos sobre configuração e tradução de dados antropométricos em parâmetros. Os registos mostram resultados fora do foco, incluindo próteses dentárias, que exigiram avaliação de pertinência.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agregação não terminava na lista devolvida. Era necessário consultar as publicações, conferir o que sustentavam e selecionar a informação relevante para a síntese crítica.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Guardei localmente as perguntas, resultados, relatórios e listas de fontes, com notas organizadas por secção. Assim, a bibliografia e as razões da seleção permanecem consultáveis para além da ferramenta.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pacote da secção 6.1 conserva pesquisas dirigidas e um relatório de síntese. A pesquisa 03 regista a presença de resultados de próteses dentárias e de trabalhos centrados no controlo, mostrando por que foi necessário filtrar a pertinência. As sessões locais incluem listas de fontes em CSV ou XLSX, textos e exportações, consoante o material disponível. A conferência dos originais evita atribuir à literatura uma conclusão que só aparece numa síntese automática. Posso mostrar estes registos se me pedirem um exemplo. A utilização do Elicit, por si só, não transforma toda a revisão numa revisão sistemática; só devo atribuir esse estatuto a procedimentos efetivamente documentados.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Percorrer o esquema da pergunta até à síntese. Dar o exemplo da distinção entre controlo e configuração. Explicar o trabalho de seleção e verificação do investigador. Não apresentar contagens de pesquisas ou estudos como um processo PRISMA consolidado, nem prometer que todas as fontes sugeridas foram incluídas.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Registos Elicit: pesquisas, relatórios e sessões por secção · Exemplo documentado no pacote da secção 6.1.</a:t>
            </a:r>
            <a:endParaRPr lang="pt-PT" sz="2000" b="0" u="none" strike="noStrike">
              <a:solidFill>
                <a:srgbClr val="000000"/>
              </a:solidFill>
              <a:effectLst/>
              <a:uFillTx/>
              <a:latin typeface="Arial"/>
            </a:endParaRPr>
          </a:p>
        </p:txBody>
      </p:sp>
      <p:sp>
        <p:nvSpPr>
          <p:cNvPr id="508"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F48109-41AC-4203-8489-982BBF05A8E5}"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1143000" y="685800"/>
            <a:ext cx="4571640" cy="3428640"/>
          </a:xfrm>
          <a:prstGeom prst="rect">
            <a:avLst/>
          </a:prstGeom>
          <a:ln w="0">
            <a:noFill/>
          </a:ln>
        </p:spPr>
      </p:sp>
      <p:sp>
        <p:nvSpPr>
          <p:cNvPr id="51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0:40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bibliografia selecionada ajudou a fundamentar decisões. Cross enquadra o conhecimento de design; Frayling e Zimmerman ajudam a discutir a aprendizagem através do artefacto.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Fischer permite examinar as condições de modificação do sistema. Manero e Cabibihan contextualizam as próteses impressas em 3D e a necessidade de avaliar os dispositivos.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Ligo estas obras à função que têm no argumento. Os estudos citados não avaliaram o HandFab, e a existência de parâmetros editáveis não demonstra participação de utilizadores.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por um autor, voltar à função que tem neste argumento. Posso usar Zimmerman para explicar por que preciso de analisar o que aprendi ao construir o protótipo. Com Fischer, posso discutir as condições de modificação do sistema. Evitar atribuir a estas obras uma avaliação do HandFab que elas não fizeram.</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Não ler a tabela como uma lista de nomes. Ligar cada referência à ideia que me ajuda a explicar. A ordem da exposição é uma escolha para esta apresentação; não preciso de inventar uma história sobre quando conheci cada autor.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Referências já mobilizadas no manuscrito · Seleção para esta exposição pela função no argumento.</a:t>
            </a:r>
            <a:endParaRPr lang="pt-PT" sz="2000" b="0" u="none" strike="noStrike">
              <a:solidFill>
                <a:srgbClr val="000000"/>
              </a:solidFill>
              <a:effectLst/>
              <a:uFillTx/>
              <a:latin typeface="Arial"/>
            </a:endParaRPr>
          </a:p>
        </p:txBody>
      </p:sp>
      <p:sp>
        <p:nvSpPr>
          <p:cNvPr id="511"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D33DFC9-89F2-4A92-AE7A-C894CB61415D}"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1143000" y="685800"/>
            <a:ext cx="4571640" cy="3428640"/>
          </a:xfrm>
          <a:prstGeom prst="rect">
            <a:avLst/>
          </a:prstGeom>
          <a:ln w="0">
            <a:noFill/>
          </a:ln>
        </p:spPr>
      </p:sp>
      <p:sp>
        <p:nvSpPr>
          <p:cNvPr id="51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a:t>
            </a:r>
            <a:r>
              <a:rPr lang="pt-PT" sz="2000" b="0" u="none" strike="noStrike">
                <a:solidFill>
                  <a:srgbClr val="000000"/>
                </a:solidFill>
                <a:effectLst/>
                <a:uFillTx/>
                <a:latin typeface="Arial"/>
              </a:rPr>
              <a:t>0:45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está o HandFab que desenvolvi. Começo pela escolha do modelo. Estão disponíveis quatro modelos, cada um com as suas regras de configuração.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partir daqui, posso trabalhar com uma referência antropométrica ou ajustar os valores. A IA pode ajudar a propor um ponto de partida. Continuo a poder rever os parâmetros antes de gerar e exportar a geometria.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Pensei no utilizador base como qualquer pessoa. Os cargos técnicos permitem moderar e apoiar as suas escolhas. A forma como esse apoio funciona na prática fica para a avaliação com utilizadores.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houver dúvidas sobre a IA, esclarecer que o seu uso é opcional e depende de um serviço externo. O sistema já tem modelos e parâmetros definidos. A IA sugere valores para esses parâmetros. Isso permite-me separar a análise da sugestão da análise da geometria gerada pelo modelo.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Mostrar os quatro modelos no catálogo. Explicar o percurso enquanto aponto para o modelo escolhido. Reservar os detalhes de configuração para as capturas seguintes.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HandFab · Catálogo documentado na Figura 22 do manuscrito · Captura do projeto.</a:t>
            </a:r>
            <a:endParaRPr lang="pt-PT" sz="2000" b="0" u="none" strike="noStrike">
              <a:solidFill>
                <a:srgbClr val="000000"/>
              </a:solidFill>
              <a:effectLst/>
              <a:uFillTx/>
              <a:latin typeface="Arial"/>
            </a:endParaRPr>
          </a:p>
        </p:txBody>
      </p:sp>
      <p:sp>
        <p:nvSpPr>
          <p:cNvPr id="514"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D5E0825-5E01-4A61-AD4D-89EF3C264484}"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1143000" y="685800"/>
            <a:ext cx="4571640" cy="3428640"/>
          </a:xfrm>
          <a:prstGeom prst="rect">
            <a:avLst/>
          </a:prstGeom>
          <a:ln w="0">
            <a:noFill/>
          </a:ln>
        </p:spPr>
      </p:sp>
      <p:sp>
        <p:nvSpPr>
          <p:cNvPr id="5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0:45</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Usei fontes antropométricas como referência inicial para a configuração. Os levantamentos ANSUR de 1988 e ANSUR II são distintos, tal como os conjuntos kima1993, geron1998 e dined2004 da DINED.</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ISO 7250-1 ajuda a definir as medidas e os pontos anatómicos. Para interpretar um valor, conservei a população, a idade, a unidade, a estatística e o protocolo de origem.</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Uma referência populacional não substitui a medição da pessoa. Também preciso de verificar se o parâmetro do modelo corresponde à medida descrita pela fonte.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DESENVOLVER: </a:t>
            </a:r>
            <a:r>
              <a:rPr lang="pt-PT" sz="2000" b="0" u="none" strike="noStrike">
                <a:solidFill>
                  <a:srgbClr val="000000"/>
                </a:solidFill>
                <a:effectLst/>
                <a:uFillTx/>
                <a:latin typeface="Arial"/>
              </a:rPr>
              <a:t>Se surgir uma dúvida sobre percentis, explicar com o percentil cinquenta: metade dos valores fica de cada lado. As medidas de uma pessoa não têm de corresponder todas ao mesmo percentil. Posso também comparar uma população militar adulta com uma população infantil para mostrar por que a origem dos dados importa. A citação da norma não garante que todos os estudos tenham usado o mesmo protocolo.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Apontar para os campos do formulário, sobretudo a origem e a unidade. Relacionar cada valor com a população e a medida de onde veio. As referências completas estão no diapositivo 30.</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Gordon et al. (1989; 2014) · TU Delft, DINED (s.d.) · ISO 7250-1:2017 · Figura 24.</a:t>
            </a:r>
            <a:endParaRPr lang="pt-PT" sz="2000" b="0" u="none" strike="noStrike">
              <a:solidFill>
                <a:srgbClr val="000000"/>
              </a:solidFill>
              <a:effectLst/>
              <a:uFillTx/>
              <a:latin typeface="Arial"/>
            </a:endParaRPr>
          </a:p>
        </p:txBody>
      </p:sp>
      <p:sp>
        <p:nvSpPr>
          <p:cNvPr id="517"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D1D144-693B-49E8-9EE5-86D9D5ABB11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1143000" y="685800"/>
            <a:ext cx="4571640" cy="3428640"/>
          </a:xfrm>
          <a:prstGeom prst="rect">
            <a:avLst/>
          </a:prstGeom>
          <a:ln w="0">
            <a:noFill/>
          </a:ln>
        </p:spPr>
      </p:sp>
      <p:sp>
        <p:nvSpPr>
          <p:cNvPr id="51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a:t>
            </a:r>
            <a:r>
              <a:rPr lang="pt-PT" sz="2000" b="0" u="none" strike="noStrike">
                <a:solidFill>
                  <a:srgbClr val="000000"/>
                </a:solidFill>
                <a:effectLst/>
                <a:uFillTx/>
                <a:latin typeface="Arial"/>
              </a:rPr>
              <a:t>0:45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plataforma documentada existiam 100 perfis: 97 importados em lote, dois por CSV e um criado manualmente.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tabela permite consultar e editar referências antropométricas. A contribuição do projeto está na organização dos dados e na sua ligação à configuração, conservando a origem e o significado dos valores.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perfis são referências estatísticas. Não correspondem a 100 participantes do estudo, nem a uma única população. As diferentes vias de entrada também impedem tratar cada linha dos ficheiros de origem como um perfil automaticamente equivalente.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pelos ficheiros, lembrar que o subconjunto ANSUR repete parte da extração completa. Somar as linhas dos dois daria uma contagem enganadora. A compilação multipopulacional tem 1790 linhas, das quais 852 são DINED. Estes números contam registos estatísticos. Os cem perfis referem-se ao estado documentado da aplicação.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Apontar para a tabela de perfis e explicar a contagem ao lado. Os 100 perfis são o estado documentado da aplicação; as linhas das bases estatísticas representam outra coisa.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Manuscrito, 4.2 e Figura 23 · Suplemento 1 · Contagens de perfis da aplicação.</a:t>
            </a:r>
            <a:endParaRPr lang="pt-PT" sz="2000" b="0" u="none" strike="noStrike">
              <a:solidFill>
                <a:srgbClr val="000000"/>
              </a:solidFill>
              <a:effectLst/>
              <a:uFillTx/>
              <a:latin typeface="Arial"/>
            </a:endParaRPr>
          </a:p>
        </p:txBody>
      </p:sp>
      <p:sp>
        <p:nvSpPr>
          <p:cNvPr id="520"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929FCE4-0E50-4755-9004-B3BDC51CD059}"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143000" y="685800"/>
            <a:ext cx="4571640" cy="3428640"/>
          </a:xfrm>
          <a:prstGeom prst="rect">
            <a:avLst/>
          </a:prstGeom>
          <a:ln w="0">
            <a:noFill/>
          </a:ln>
        </p:spPr>
      </p:sp>
      <p:sp>
        <p:nvSpPr>
          <p:cNvPr id="5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1:00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Paraglider e o Phoenix mostraram limites diferentes.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Paraglider, os dedos respondiam à configuração, mas a palma mantinha a escala interna da biblioteca. Corrigi o ponto de aplicação da escala e verifiquei a resposta geométrica.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modelo Phoenix, a largura fica limitada a cerca de 82 milímetros. Pedir menos mantém o modelo nesse mínimo, pelo que a dimensão pretendida fica por satisfazer.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casos mostram por que precisei de examinar as regras de cada modelo e tornar explícitas as restrições da configuração. Os modelos de origem mantêm a autoria dos seus criadores.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 que os modelos já existiam e mantêm a autoria dos seus criadores. O meu trabalho foi integrá-los e verificar as relações usadas no HandFab. Os oitenta e dois milímetros dizem respeito ao Phoenix que examinei. Numa revisão futura, posso estudar como assinalar esse limite e orientar a escolha de outro modelo quando o pedido fica fora da cobertura.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Usar as fotografias para identificar os modelos. Explicar a correção da palma e o limite de largura a partir dos registos, sem apresentar estas imagens como uma comparação histórica antes e depois.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Manuscrito, 4.4 e 8.3 · Fotografias ilustrativas dos modelos; não constituem comparação antes/depois.</a:t>
            </a:r>
            <a:endParaRPr lang="pt-PT" sz="2000" b="0" u="none" strike="noStrike">
              <a:solidFill>
                <a:srgbClr val="000000"/>
              </a:solidFill>
              <a:effectLst/>
              <a:uFillTx/>
              <a:latin typeface="Arial"/>
            </a:endParaRPr>
          </a:p>
        </p:txBody>
      </p:sp>
      <p:sp>
        <p:nvSpPr>
          <p:cNvPr id="523"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26441E7-F78D-4C32-8299-B0E8BE5138F9}"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1143000" y="685800"/>
            <a:ext cx="4571640" cy="3428640"/>
          </a:xfrm>
          <a:prstGeom prst="rect">
            <a:avLst/>
          </a:prstGeom>
          <a:ln w="0">
            <a:noFill/>
          </a:ln>
        </p:spPr>
      </p:sp>
      <p:sp>
        <p:nvSpPr>
          <p:cNvPr id="5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a:t>
            </a:r>
            <a:r>
              <a:rPr lang="pt-PT" sz="2000" b="0" u="none" strike="noStrike">
                <a:solidFill>
                  <a:srgbClr val="000000"/>
                </a:solidFill>
                <a:effectLst/>
                <a:uFillTx/>
                <a:latin typeface="Arial"/>
              </a:rPr>
              <a:t>0:55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está o papel que dei à IA: receber uma descrição e sugerir valores para parâmetros que o sistema já conhece. Quem configura pode rever a proposta antes de a aplicar.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primeiro conjunto de ensaios reais, as cinco respostas cumpriram o formato esperado. O percurso funcionou nessas condições. Para saber se os valores são adequados a uma pessoa, seria necessária outra avaliação.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Uma decisão concreta foi retirar a lateralidade da inferência. A escolha entre mão esquerda e direita passou a seguir uma regra explícita e ficou fora do pedido de sugestões.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estudei foi a integração desta proposta editável no percurso. Não fiz uma comparação experimental com a configuração manual que permitisse afirmar uma vantagem de tempo ou de qualidade.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pela qualidade da resposta, separar o formato dos valores. Conseguir ler a resposta é uma verificação. Saber que efeito os valores têm no modelo exige examinar a geometria. A adequação à utilização terá de ser estudada depois.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Apontar para a caixa do pedido e para o botão de sugestão. A imagem mostra a interface documentada. Explicar oralmente a revisão dos valores e a regra da lateralidade.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HandFab · Figura 22 · Captura existente da interface de assistência, sem nova execução de IA.</a:t>
            </a:r>
            <a:endParaRPr lang="pt-PT" sz="2000" b="0" u="none" strike="noStrike">
              <a:solidFill>
                <a:srgbClr val="000000"/>
              </a:solidFill>
              <a:effectLst/>
              <a:uFillTx/>
              <a:latin typeface="Arial"/>
            </a:endParaRPr>
          </a:p>
        </p:txBody>
      </p:sp>
      <p:sp>
        <p:nvSpPr>
          <p:cNvPr id="526"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82199E3-E01D-4B1D-86EE-F9B39495001D}"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1143000" y="685800"/>
            <a:ext cx="457164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a:t>
            </a:r>
            <a:r>
              <a:rPr lang="pt-PT" sz="2000" b="0" u="none" strike="noStrike">
                <a:solidFill>
                  <a:srgbClr val="000000"/>
                </a:solidFill>
                <a:effectLst/>
                <a:uFillTx/>
                <a:latin typeface="Arial"/>
              </a:rPr>
              <a:t> 0:45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consigo mostrar melhor os controlos da configuração. Tenho os parâmetros do lado esquerdo e a pré-visualização do modelo do lado direito.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me interessa explicar é a ligação entre um valor e a forma que aparece. Posso rever os valores e gerar novamente a geometria para examinar o resultado. Foi ao comparar estas alterações que encontrei diferenças importantes nas regras dos modelos.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 sequência usa capturas guardadas durante o projeto. Para a defesa, ajuda-me a mostrar o percurso sem depender de uma ligação ao serviço de 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tiver tempo, percorrer uma alteração pelas imagens: identificar o controlo disponível e explicar o que se deve observar na geometria. Para avaliar a compreensão, posso futuramente pedir a alguém que faça uma alteração e depois lhe perguntar como interpretou o resultado. Aqui estou a usar capturas existentes, sem relatar uma tarefa realizada com participantes.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Apontar para um controlo de dimensão e depois para a pré-visualização. Dar tempo ao júri para observar o modelo. Continuar para as cores e para a exportação.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HandFab · Figura 22 · Controlos de configuração e pré-visualização da Phoenix.</a:t>
            </a:r>
            <a:endParaRPr lang="pt-PT" sz="2000" b="0" u="none" strike="noStrike">
              <a:solidFill>
                <a:srgbClr val="000000"/>
              </a:solidFill>
              <a:effectLst/>
              <a:uFillTx/>
              <a:latin typeface="Arial"/>
            </a:endParaRPr>
          </a:p>
        </p:txBody>
      </p:sp>
      <p:sp>
        <p:nvSpPr>
          <p:cNvPr id="529"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F7D6B6A-0324-40C9-A627-E0A89706F070}"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1143000" y="685800"/>
            <a:ext cx="4571640" cy="3428640"/>
          </a:xfrm>
          <a:prstGeom prst="rect">
            <a:avLst/>
          </a:prstGeom>
          <a:ln w="0">
            <a:noFill/>
          </a:ln>
        </p:spPr>
      </p:sp>
      <p:sp>
        <p:nvSpPr>
          <p:cNvPr id="53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Tempo:0:20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Nesta parte posso escolher as cores dos componentes e ver o resultado no modelo. A interface também reúne opções de material.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Quis dar espaço a escolhas sobre a aparência da prótese. A forma como cada pessoa valoriza essas opções terá de ser estudada com utilizadores.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usar os dedos com cores diferentes para mostrar que a configuração atua em componentes identificados. A escolha que aparece no ecrã ainda precisa de ser concretizada e verificada na preparação para impressão.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Apontar para uma cor e para o componente correspondente. Deixar a imagem explicar as opções, sem ler a lista de controlos.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HandFab · Figura 22 · Opções de cor e material apresentadas na interface.</a:t>
            </a:r>
            <a:endParaRPr lang="pt-PT" sz="2000" b="0" u="none" strike="noStrike">
              <a:solidFill>
                <a:srgbClr val="000000"/>
              </a:solidFill>
              <a:effectLst/>
              <a:uFillTx/>
              <a:latin typeface="Arial"/>
            </a:endParaRPr>
          </a:p>
        </p:txBody>
      </p:sp>
      <p:sp>
        <p:nvSpPr>
          <p:cNvPr id="532"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74946F-518B-44FC-8C87-EFD9BE889ABB}"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1143000" y="685800"/>
            <a:ext cx="4571640" cy="3428640"/>
          </a:xfrm>
          <a:prstGeom prst="rect">
            <a:avLst/>
          </a:prstGeom>
          <a:ln w="0">
            <a:noFill/>
          </a:ln>
        </p:spPr>
      </p:sp>
      <p:sp>
        <p:nvSpPr>
          <p:cNvPr id="53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0:30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Depois de rever a configuração, consigo examinar a geometria gerada e exportar a malha. Esta imagem mostra também o código OpenSCAD associado ao modelo.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exportação permite continuar o trabalho no programa de preparação para impressão. A partir desse momento, entram as escolhas do equipamento e das condições de fabrico. Foi por isso que acompanhei o processo até às peças físicas.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explicar a diferença, a malha descreve a superfície do objeto. O programa de preparação usa essa geometria para calcular as trajetórias de impressão. As estimativas de tempo ou material pertencem a essa preparação.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Apontar para a pré-visualização e para Export. Evitar ler código ao júri. A imagem seguinte mostra trabalho de impressão já realizado.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HandFab · Figura 20 · Código OpenSCAD, pré-visualização e comando de exportação.</a:t>
            </a:r>
            <a:endParaRPr lang="pt-PT" sz="2000" b="0" u="none" strike="noStrike">
              <a:solidFill>
                <a:srgbClr val="000000"/>
              </a:solidFill>
              <a:effectLst/>
              <a:uFillTx/>
              <a:latin typeface="Arial"/>
            </a:endParaRPr>
          </a:p>
        </p:txBody>
      </p:sp>
      <p:sp>
        <p:nvSpPr>
          <p:cNvPr id="535"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A217EB-96E7-4EC3-9FF0-E3BD106E6CA3}"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1143000" y="685800"/>
            <a:ext cx="4571640" cy="3428640"/>
          </a:xfrm>
          <a:prstGeom prst="rect">
            <a:avLst/>
          </a:prstGeom>
          <a:ln w="0">
            <a:noFill/>
          </a:ln>
        </p:spPr>
      </p:sp>
      <p:sp>
        <p:nvSpPr>
          <p:cNvPr id="53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Tempo:0:50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avaliação acompanhou a plataforma, as sugestões de IA, as malhas e as peças físicas.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preparação digital, a Série A reuniu quatro projetos em condições diferentes. A Série B </a:t>
            </a:r>
            <a:r>
              <a:rPr lang="pt-PT" sz="2000" b="0" u="none" strike="noStrike">
                <a:solidFill>
                  <a:srgbClr val="000000"/>
                </a:solidFill>
                <a:effectLst/>
                <a:uFillTx/>
                <a:latin typeface="Arial"/>
              </a:rPr>
              <a:t>comparou doze casos numa condição comum: três modelos e quatro perfis.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comparação física reuniu 72 medições, combinando modelos, perfis, eixos e materiais. Fiz </a:t>
            </a:r>
            <a:r>
              <a:rPr lang="pt-PT" sz="2000" b="0" u="none" strike="noStrike">
                <a:solidFill>
                  <a:srgbClr val="000000"/>
                </a:solidFill>
                <a:effectLst/>
                <a:uFillTx/>
                <a:latin typeface="Arial"/>
              </a:rPr>
              <a:t>uma leitura por combinação.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fotografias documentam as peças produzidas. Para compreender a correspondência </a:t>
            </a:r>
            <a:r>
              <a:rPr lang="pt-PT" sz="2000" b="0" u="none" strike="noStrike">
                <a:solidFill>
                  <a:srgbClr val="000000"/>
                </a:solidFill>
                <a:effectLst/>
                <a:uFillTx/>
                <a:latin typeface="Arial"/>
              </a:rPr>
              <a:t>dimensional, comparei as medidas físicas com as malhas exportadas.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houver dúvidas nas contagens, ir ao diapositivo 25. A plataforma tem quatro modelos </a:t>
            </a:r>
            <a:r>
              <a:rPr lang="pt-PT" sz="2000" b="0" u="none" strike="noStrike">
                <a:solidFill>
                  <a:srgbClr val="000000"/>
                </a:solidFill>
                <a:effectLst/>
                <a:uFillTx/>
                <a:latin typeface="Arial"/>
              </a:rPr>
              <a:t>disponíveis, mas a comparação física principal abrange três. Preciso de manter esta diferença </a:t>
            </a:r>
            <a:r>
              <a:rPr lang="pt-PT" sz="2000" b="0" u="none" strike="noStrike">
                <a:solidFill>
                  <a:srgbClr val="000000"/>
                </a:solidFill>
                <a:effectLst/>
                <a:uFillTx/>
                <a:latin typeface="Arial"/>
              </a:rPr>
              <a:t>quando explico o alcance dos resultados.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Começar pelas peças na placa e pela palma impressa. Explicar os conjuntos sem </a:t>
            </a:r>
            <a:r>
              <a:rPr lang="pt-PT" sz="2000" b="0" u="none" strike="noStrike">
                <a:solidFill>
                  <a:srgbClr val="000000"/>
                </a:solidFill>
                <a:effectLst/>
                <a:uFillTx/>
                <a:latin typeface="Arial"/>
              </a:rPr>
              <a:t>confundir projetos de preparação, casos digitais e leituras dimensionais. Os detalhes das </a:t>
            </a:r>
            <a:r>
              <a:rPr lang="pt-PT" sz="2000" b="0" u="none" strike="noStrike">
                <a:solidFill>
                  <a:srgbClr val="000000"/>
                </a:solidFill>
                <a:effectLst/>
                <a:uFillTx/>
                <a:latin typeface="Arial"/>
              </a:rPr>
              <a:t>contagens estão no diapositivo 25.</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Suplemento 4 · Fotografias originais na placa da Bambu Lab A1 e da palma impressa.</a:t>
            </a:r>
            <a:endParaRPr lang="pt-PT" sz="2000" b="0" u="none" strike="noStrike">
              <a:solidFill>
                <a:srgbClr val="000000"/>
              </a:solidFill>
              <a:effectLst/>
              <a:uFillTx/>
              <a:latin typeface="Arial"/>
            </a:endParaRPr>
          </a:p>
        </p:txBody>
      </p:sp>
      <p:sp>
        <p:nvSpPr>
          <p:cNvPr id="538"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C257891-1EDC-43C0-A069-9D2981660DFC}"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1143000" y="685800"/>
            <a:ext cx="4571640" cy="3428640"/>
          </a:xfrm>
          <a:prstGeom prst="rect">
            <a:avLst/>
          </a:prstGeom>
          <a:ln w="0">
            <a:noFill/>
          </a:ln>
        </p:spPr>
      </p:sp>
      <p:sp>
        <p:nvSpPr>
          <p:cNvPr id="54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0:40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vê-se melhor o que imprimi para comparar os perfis. À esquerda estão dedos do Flexy Beast. À direita estão os do Paraglider.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marcações identificam os perfis de referência de 8, 15, 28 e 70 anos. Usei esses perfis para examinar como cada modelo responde a diferentes valores.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fotografias ajudam a observar a variação entre as peças. Para comparar dimensões, usei os registos de medição que resumo no gráfico seguinte.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apontar para duas peças da mesma série e explicar que a diferença depende da regra de parametrização. Os perfis são referências para o ensaio, não pessoas que tenham participado no estudo.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Dar alguns segundos para observar as duas séries. Dizer o nome de cada modelo e explicar as marcações. Passar depois ao gráfico, que apresenta os valores medidos.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Fotografias do autor · Suplemento 4 · Idades dos perfis de referência, sem participantes.</a:t>
            </a:r>
            <a:endParaRPr lang="pt-PT" sz="2000" b="0" u="none" strike="noStrike">
              <a:solidFill>
                <a:srgbClr val="000000"/>
              </a:solidFill>
              <a:effectLst/>
              <a:uFillTx/>
              <a:latin typeface="Arial"/>
            </a:endParaRPr>
          </a:p>
        </p:txBody>
      </p:sp>
      <p:sp>
        <p:nvSpPr>
          <p:cNvPr id="541"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5338D4-A5DD-4DED-AB16-46C3C0550714}"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1143000" y="685800"/>
            <a:ext cx="4571640" cy="3428640"/>
          </a:xfrm>
          <a:prstGeom prst="rect">
            <a:avLst/>
          </a:prstGeom>
          <a:ln w="0">
            <a:noFill/>
          </a:ln>
        </p:spPr>
      </p:sp>
      <p:sp>
        <p:nvSpPr>
          <p:cNvPr id="54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1:15</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Neste gráfico comparei as dimensões das peças com as dimensões correspondentes da malha exportada.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Cada segmento vai do menor ao maior desvio registado para um modelo e material. Reúne doze valores, relativos a quatro perfis e três eixos. As cores distinguem PLA e PETG.</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Calculei a diferença subtraindo a dimensão digital à física. Os valores negativos indicam que medi dimensões físicas inferiores às digitais correspondentes. No conjunto, os desvios vão aproximadamente de menos 0,53 a menos 0,08 milímetros.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Fiz uma leitura por combinação. Por isso, estes registos não permitem estimar a variação de medições repetidas. O intervalo apresentado também não é uma precisão garantida pelo processo.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Como os grupos juntam eixos e dimensões diferentes, o gráfico não permite escolher o melhor material nem identificar uma causa única para as diferenças.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retiro daqui é a necessidade de medir o que foi produzido. A avaliação funcional exigiria trabalho adicional, como ajuda a enquadrar a referência de Cabibihan.</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usar o Flexy Beast em PLA como exemplo: os extremos são menos 0,398 e menos 0,108 milímetros. São doze comparações. Se quiser estudar a consistência de uma condição concreta, preciso de repetir as medições e controlar as condições. Tenho a tabela com os extremos no apoio e os registos individuais no CSV.</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Mostrar primeiro o zero e depois um segmento. Ler os valores decimais devagar. Não preciso de ler todos os grupos. Se houver uma pergunta sobre uma dimensão concreta, consultar o CSV em vez de tirar uma conclusão geral do intervalo.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Suplemento 4, comparacao_dimensional_72_medicoes.csv · Gráfico calculado a partir dos registos.</a:t>
            </a:r>
            <a:endParaRPr lang="pt-PT" sz="2000" b="0" u="none" strike="noStrike">
              <a:solidFill>
                <a:srgbClr val="000000"/>
              </a:solidFill>
              <a:effectLst/>
              <a:uFillTx/>
              <a:latin typeface="Arial"/>
            </a:endParaRPr>
          </a:p>
        </p:txBody>
      </p:sp>
      <p:sp>
        <p:nvSpPr>
          <p:cNvPr id="544"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2323956-54B3-47B6-AE8C-B36EB43AC872}"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1143000" y="685800"/>
            <a:ext cx="4571640" cy="3428640"/>
          </a:xfrm>
          <a:prstGeom prst="rect">
            <a:avLst/>
          </a:prstGeom>
          <a:ln w="0">
            <a:noFill/>
          </a:ln>
        </p:spPr>
      </p:sp>
      <p:sp>
        <p:nvSpPr>
          <p:cNvPr id="54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Atenção: </a:t>
            </a:r>
            <a:r>
              <a:rPr lang="pt-PT" sz="2000" b="1" u="none" strike="noStrike">
                <a:solidFill>
                  <a:srgbClr val="000000"/>
                </a:solidFill>
                <a:effectLst/>
                <a:uFillTx/>
                <a:latin typeface="Arial"/>
              </a:rPr>
              <a:t>Tempo: </a:t>
            </a:r>
            <a:r>
              <a:rPr lang="pt-PT" sz="2000" b="1" u="none" strike="noStrike">
                <a:solidFill>
                  <a:srgbClr val="000000"/>
                </a:solidFill>
                <a:effectLst/>
                <a:uFillTx/>
                <a:latin typeface="Arial"/>
              </a:rPr>
              <a:t>0:45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 é a Phoenix que montei em PLA, para o perfil de referência de 15 anos. Observei em bancada o movimento manual e o retorno dos dedos. Durante essa montagem, substituí os elásticos.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fotografia da direita deixa ver melhor a articulação. Foi uma forma de observar como as peças funcionavam em conjunto. Ficou por estudar o comportamento ao longo de uma utilização prolongada, com um protocolo próprio.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Tenho o registo de um espécime. O número de ciclos não foi registado e os testes com cilindros não foram realizados. Os 15 anos identificam o perfil de configuração; não houve um participante com essa idade. Se me perguntarem pelo uso protésico, explicar que essa avaliação ficou para trabalho futuro.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Apontar para a mão montada e depois para o pormenor da articulação. Dizer o que observei em bancada. Não simular uma demonstração de movimento a partir destas imagens estáticas.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Suplemento 4 · PHX-TEEN15-MONT-001 · Um espécime PLA, perfil de 15 anos; observação em bancada.</a:t>
            </a:r>
            <a:endParaRPr lang="pt-PT" sz="2000" b="0" u="none" strike="noStrike">
              <a:solidFill>
                <a:srgbClr val="000000"/>
              </a:solidFill>
              <a:effectLst/>
              <a:uFillTx/>
              <a:latin typeface="Arial"/>
            </a:endParaRPr>
          </a:p>
        </p:txBody>
      </p:sp>
      <p:sp>
        <p:nvSpPr>
          <p:cNvPr id="547"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83566F-2B0B-44B7-B384-6E959A0ED9D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1143000" y="685800"/>
            <a:ext cx="4571640" cy="3428640"/>
          </a:xfrm>
          <a:prstGeom prst="rect">
            <a:avLst/>
          </a:prstGeom>
          <a:ln w="0">
            <a:noFill/>
          </a:ln>
        </p:spPr>
      </p:sp>
      <p:sp>
        <p:nvSpPr>
          <p:cNvPr id="5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1:25</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contributo está em organizar escolhas de configuração e examinar o seu efeito na forma.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Para a primeira pergunta, demonstrei um percurso com parâmetros editáveis e revisão das sugestões. O conforto e a adequação individual exigem avaliação própria.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Para a segunda, documentei verificações técnicas e comparações dimensionais. A usabilidade com participantes e a durabilidade permanecem por estudar.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Para a terceira, traduzi requisitos em regras e opções de configuração. A aceitação e os efeitos na autonomia exigem estudos com as pessoas.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Os casos do Paraglider e do Phoenix mostram o conhecimento obtido: cada modelo tem relações e limites próprios. Registar essas condições permite compreender as decisões tomadas e preparar novas avaliações.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se isto se aplica a qualquer prótese, delimitar a resposta aos modelos e condições documentados. Para alargar o trabalho, preciso de novas verificações. A avaliação com pessoas será necessária para perceber se esta organização ajuda a compreender as escolhas durante uma tarefa.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quero tornar o contributo claro, sem voltar a explicar toda a plataforma. Usar o Paraglider se precisar de um exemplo. Cross ajuda-me a enquadrar o conhecimento de design, e a investigação através do projeto enquadra a aprendizagem obtida com o protótipo.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Síntese da Tabela 31 e de 9.1-9.4 · Cross (1982): enquadramento do conhecimento de design.</a:t>
            </a:r>
            <a:endParaRPr lang="pt-PT" sz="2000" b="0" u="none" strike="noStrike">
              <a:solidFill>
                <a:srgbClr val="000000"/>
              </a:solidFill>
              <a:effectLst/>
              <a:uFillTx/>
              <a:latin typeface="Arial"/>
            </a:endParaRPr>
          </a:p>
        </p:txBody>
      </p:sp>
      <p:sp>
        <p:nvSpPr>
          <p:cNvPr id="550"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4A91F2D-2885-4954-B096-16D85F896F0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1143000" y="685800"/>
            <a:ext cx="4571640" cy="3428640"/>
          </a:xfrm>
          <a:prstGeom prst="rect">
            <a:avLst/>
          </a:prstGeom>
          <a:ln w="0">
            <a:noFill/>
          </a:ln>
        </p:spPr>
      </p:sp>
      <p:sp>
        <p:nvSpPr>
          <p:cNvPr id="55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1" u="none" strike="noStrike">
                <a:solidFill>
                  <a:srgbClr val="000000"/>
                </a:solidFill>
                <a:effectLst/>
                <a:uFillTx/>
                <a:latin typeface="Arial"/>
              </a:rPr>
              <a:t>Tempo: 0:20</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retiro deste trabalho é que configurar exige conhecer as regras de cada modelo e verificar o seu efeito na peça. O próximo passo é avaliar o HandFab com as pessoas que o irão utilizar. Obrigado.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 a conclusão, voltar à relação entre a escolha e o efeito na forma. Os casos examinados ajudam-me a decidir que verificações acrescentar. A experiência das pessoas terá de ser estudada nas tarefas de configuração e na utilização.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Terminar com a fotografia do protótipo e olhar para o júri. Deixar este diapositivo no ecrã durante o início da discussão.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Projeto HandFab · Pedro Miguel Candeias da Silva · Obrigado.</a:t>
            </a:r>
            <a:endParaRPr lang="pt-PT" sz="2000" b="0" u="none" strike="noStrike">
              <a:solidFill>
                <a:srgbClr val="000000"/>
              </a:solidFill>
              <a:effectLst/>
              <a:uFillTx/>
              <a:latin typeface="Arial"/>
            </a:endParaRPr>
          </a:p>
        </p:txBody>
      </p:sp>
      <p:sp>
        <p:nvSpPr>
          <p:cNvPr id="553"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A5A0382-F06D-455A-AE38-123030F6F94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1143000" y="685800"/>
            <a:ext cx="4571640" cy="3428640"/>
          </a:xfrm>
          <a:prstGeom prst="rect">
            <a:avLst/>
          </a:prstGeom>
          <a:ln w="0">
            <a:noFill/>
          </a:ln>
        </p:spPr>
      </p:sp>
      <p:sp>
        <p:nvSpPr>
          <p:cNvPr id="55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Aqui tenho as perguntas aprovadas na formulação completa. Durante a exposição usei versões mais curtas.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primeira pergunta é: «Como o design de produto, métodos paramétricos e inteligência artificial podem melhorar a personalização, o conforto e a adequação funcional de próteses, mantendo a acessibilidade e o controlo sobre as decisões de projeto?»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segunda é: «Quais metodologias e ferramentas validam a eficácia, a usabilidade, a durabilidade e a possibilidade de reproduzir os resultados de próteses impressas em 3D?»</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terceira é: «Como é que o design industrial concilia requisitos anatómicos, funcionais, ergonómicos, estéticos e simbólicos, promovendo a aceitação, a dignidade e a autonomia?»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minhas respostas dizem respeito à parte técnica e dimensional que consegui estudar. As outras dimensões continuam por avaliar.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Abrir este diapositivo se pedirem a formulação exata de uma pergunta. Ler só a que estiver em discussão e explicar até onde consegui responder. Manter o texto aprovado tal como está.</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manuscrito, 9.1. Diapositivo fora do percurso principal de 20 minutos.</a:t>
            </a:r>
            <a:endParaRPr lang="pt-PT" sz="2000" b="0" u="none" strike="noStrike">
              <a:solidFill>
                <a:srgbClr val="000000"/>
              </a:solidFill>
              <a:effectLst/>
              <a:uFillTx/>
              <a:latin typeface="Arial"/>
            </a:endParaRPr>
          </a:p>
        </p:txBody>
      </p:sp>
      <p:sp>
        <p:nvSpPr>
          <p:cNvPr id="556"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E115D0-230D-4137-8AA4-DC3C86567215}"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1143000" y="685800"/>
            <a:ext cx="4571640" cy="3428640"/>
          </a:xfrm>
          <a:prstGeom prst="rect">
            <a:avLst/>
          </a:prstGeom>
          <a:ln w="0">
            <a:noFill/>
          </a:ln>
        </p:spPr>
      </p:sp>
      <p:sp>
        <p:nvSpPr>
          <p:cNvPr id="55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números correspondem a conjuntos diferentes.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Série A, preparei quatro projetos em condições distintas. Isso limita as comparações diretas entre equipamentos.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Série B, os doze casos resultam de três modelos combinados com quatro perfis, numa condição digital comum. A preparação ficou concluída, com os avisos registados.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setenta e duas medições combinam três modelos, quatro perfis, três eixos e dois materiais. Houve uma leitura por combinação. Não são setenta e duas repetições da mesma medida.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idades de oito, quinze, vinte e oito e setenta anos identificam perfis de ensaio. Não tive participantes com essas idades.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Começar pelo número sobre o qual me perguntaram. Se a dúvida for o número de modelos, explicar que havia quatro na plataforma e três na comparação física principal.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capítulo 8, Anexo D e CSV das Séries A/B e medições físicas.</a:t>
            </a:r>
            <a:endParaRPr lang="pt-PT" sz="2000" b="0" u="none" strike="noStrike">
              <a:solidFill>
                <a:srgbClr val="000000"/>
              </a:solidFill>
              <a:effectLst/>
              <a:uFillTx/>
              <a:latin typeface="Arial"/>
            </a:endParaRPr>
          </a:p>
        </p:txBody>
      </p:sp>
      <p:sp>
        <p:nvSpPr>
          <p:cNvPr id="559"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C2CF29-FC4B-4782-B93A-6EF142613B44}"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1143000" y="685800"/>
            <a:ext cx="4571640" cy="3428640"/>
          </a:xfrm>
          <a:prstGeom prst="rect">
            <a:avLst/>
          </a:prstGeom>
          <a:ln w="0">
            <a:noFill/>
          </a:ln>
        </p:spPr>
      </p:sp>
      <p:sp>
        <p:nvSpPr>
          <p:cNvPr id="56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 tabela contém os valores que usei no gráfico. Para cada modelo e material, apresenta o menor e o maior desvio entre a dimensão física e a digital.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Flexy Beast em PLA, por exemplo, os extremos são menos 0,398 e menos 0,108 milímetros. O grupo reúne doze valores, relativos a quatro perfis e três eixos.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tabela descreve as medições que fiz. Como não repeti as leituras por combinação, não consigo estimar a incerteza a partir destes dados. Também não defini aqui uma tolerância de aceitação.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a pergunta for sobre uma dimensão específica, posso consultar o registo correspondente no CSV.</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Usar um grupo para explicar a leitura. Os restantes ficam para consulta conforme a pergunta. Lembrar-me de dizer «desvio observado», sem o transformar numa garantia de precisão.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comparacao_dimensional_72_medicoes.csv · Diferença = dimensão física − dimensão da malha.</a:t>
            </a:r>
            <a:endParaRPr lang="pt-PT" sz="2000" b="0" u="none" strike="noStrike">
              <a:solidFill>
                <a:srgbClr val="000000"/>
              </a:solidFill>
              <a:effectLst/>
              <a:uFillTx/>
              <a:latin typeface="Arial"/>
            </a:endParaRPr>
          </a:p>
        </p:txBody>
      </p:sp>
      <p:sp>
        <p:nvSpPr>
          <p:cNvPr id="562"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0B22C25-6A32-4EEE-8279-632C2701EEFD}"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1143000" y="685800"/>
            <a:ext cx="4571640" cy="3428640"/>
          </a:xfrm>
          <a:prstGeom prst="rect">
            <a:avLst/>
          </a:prstGeom>
          <a:ln w="0">
            <a:noFill/>
          </a:ln>
        </p:spPr>
      </p:sp>
      <p:sp>
        <p:nvSpPr>
          <p:cNvPr id="56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Os testes também mostraram falhas que preciso de resolver.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Num ensaio com uma resposta simulada, um valor acima do limite chegou ao estado interno da aplicação. Esse caso mostrou um ponto em que o controlo não estava a funcionar como devia.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verificação manual de acessibilidade, cinco dos doze itens falharam. Identifiquei, portanto, barreiras no percurso de interação.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resultados ajudam-me a decidir onde rever o sistema e o que voltar a testar. A robustez global e a acessibilidade continuam por demonstrar; o funcionamento nas condições ensaiadas não chega para as garantir.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pelo valor fora do limite, esclarecer que foi uma resposta preparada para testar o comportamento do sistema. É diferente de uma chamada real à IA. Na acessibilidade, usei critérios e inspeção. Para compreender as dificuldades das pessoas durante uma tarefa, preciso de complementar isso com observação de utilização.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Explicar o efeito de cada falha no desenvolvimento. Não ficar só pela lista de problemas: mostrar o que os registos me permitem rever.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8.1.2 e Anexo B · Ensaios de recuperação e auditoria de acessibilidade.</a:t>
            </a:r>
            <a:endParaRPr lang="pt-PT" sz="2000" b="0" u="none" strike="noStrike">
              <a:solidFill>
                <a:srgbClr val="000000"/>
              </a:solidFill>
              <a:effectLst/>
              <a:uFillTx/>
              <a:latin typeface="Arial"/>
            </a:endParaRPr>
          </a:p>
        </p:txBody>
      </p:sp>
      <p:sp>
        <p:nvSpPr>
          <p:cNvPr id="565"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28A94AA-7DA8-4E81-BBEE-EC5EE99AF515}"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1143000" y="685800"/>
            <a:ext cx="4571640" cy="3428640"/>
          </a:xfrm>
          <a:prstGeom prst="rect">
            <a:avLst/>
          </a:prstGeom>
          <a:ln w="0">
            <a:noFill/>
          </a:ln>
        </p:spPr>
      </p:sp>
      <p:sp>
        <p:nvSpPr>
          <p:cNvPr id="56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Nos ensaios de repetição, concluí sete exportações do Flexy Beast, cinco do Paraglider e cinco do Phoenix. Os ficheiros foram idênticos dentro de cada configuração testada. O objetivo de dez exportações por modelo ficou por atingir.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Isto documenta consistência nessas execuções. Para generalizar a outras configurações, teria de as testar.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verificação manual de acessibilidade, sete itens foram considerados conformes e cinco falharam. São os resultados da lista examinada, sem uma certificação global de acessibilidade.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WebKit, o bloqueio de autenticação impediu concluir a avaliação. Esse resultado ficou inconclusivo.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Usar só a parte relevante para a pergunta. No caso do WebKit, explicar o bloqueio encontrado sem o apresentar como prova de incompatibilidade geral.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8.1.2 e Anexo B. Repetições idênticas dentro da configuração examinada.</a:t>
            </a:r>
            <a:endParaRPr lang="pt-PT" sz="2000" b="0" u="none" strike="noStrike">
              <a:solidFill>
                <a:srgbClr val="000000"/>
              </a:solidFill>
              <a:effectLst/>
              <a:uFillTx/>
              <a:latin typeface="Arial"/>
            </a:endParaRPr>
          </a:p>
        </p:txBody>
      </p:sp>
      <p:sp>
        <p:nvSpPr>
          <p:cNvPr id="568"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89D56F-95B2-42FA-B665-299ACB80FEBE}"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1143000" y="685800"/>
            <a:ext cx="4571640" cy="3428640"/>
          </a:xfrm>
          <a:prstGeom prst="rect">
            <a:avLst/>
          </a:prstGeom>
          <a:ln w="0">
            <a:noFill/>
          </a:ln>
        </p:spPr>
      </p:sp>
      <p:sp>
        <p:nvSpPr>
          <p:cNvPr id="57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Tenho aqui as referências que me ajudam a explicar o enquadramento de design e a metodologia.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Cross permite-me discutir o conhecimento produzido através do design. Fischer ajuda-me a pensar nas condições de modificação do sistema. Com Frayling e Zimmerman, enquadro a investigação através do desenvolvimento e análise do artefacto. O Design Council ajuda a explicar a organização do processo.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seleção foi feita para apoiar o argumento desta apresentação. A revisão completa está no manuscrito.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 </a:t>
            </a:r>
            <a:r>
              <a:rPr lang="pt-PT" sz="2000" b="0" u="none" strike="noStrike">
                <a:solidFill>
                  <a:srgbClr val="000000"/>
                </a:solidFill>
                <a:effectLst/>
                <a:uFillTx/>
                <a:latin typeface="Arial"/>
              </a:rPr>
              <a:t>Ir diretamente ao autor relevante para a pergunta. A entrada completa de Frayling ainda precisa de ser conferida antes da prova. O ano mantém o que está no manuscrito.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Seleção da bibliografia do manuscrito · A ligação ao HandFab é uma interpretação aplicada ao projeto.</a:t>
            </a:r>
            <a:endParaRPr lang="pt-PT" sz="2000" b="0" u="none" strike="noStrike">
              <a:solidFill>
                <a:srgbClr val="000000"/>
              </a:solidFill>
              <a:effectLst/>
              <a:uFillTx/>
              <a:latin typeface="Arial"/>
            </a:endParaRPr>
          </a:p>
        </p:txBody>
      </p:sp>
      <p:sp>
        <p:nvSpPr>
          <p:cNvPr id="571"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8E2E166-BEF7-4843-B4D9-F7F78508383F}"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1143000" y="685800"/>
            <a:ext cx="4571640" cy="3428640"/>
          </a:xfrm>
          <a:prstGeom prst="rect">
            <a:avLst/>
          </a:prstGeom>
          <a:ln w="0">
            <a:noFill/>
          </a:ln>
        </p:spPr>
      </p:sp>
      <p:sp>
        <p:nvSpPr>
          <p:cNvPr id="5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Estas são as referências de apoio ao domínio das próteses e aos dados antropométricos.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Manero enquadra a impressão 3D no desenvolvimento de próteses. Cabibihan examina a funcionalidade e a durabilidade de mãos abertas. Gordon documenta os levantamentos antropométricos. Na DINED, identifico os conjuntos consultados, e a ISO 7250-1 ajuda a definir as medidas.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Os dados publicados pertencem a essas fontes. O meu trabalho foi prepará-los para o HandFab e avaliar o percurso implementado. Os registos estão no manuscrito e nos suplementos.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1" u="none" strike="noStrike">
                <a:solidFill>
                  <a:srgbClr val="000000"/>
                </a:solidFill>
                <a:effectLst/>
                <a:uFillTx/>
                <a:latin typeface="Arial"/>
              </a:rPr>
              <a:t>Atenção:</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Identificar a fonte que responde à pergunta. A norma ajuda-me a definir as medidas; não garante a conformidade de todos os dados. Para avaliar uma pessoa concreta, os perfis populacionais são apenas uma referência de partida.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Dados e atribuições: Suplemento 1 · Ensaios do projeto: Suplementos 2-4 · Obras distintas com funções próprias.</a:t>
            </a:r>
            <a:endParaRPr lang="pt-PT" sz="2000" b="0" u="none" strike="noStrike">
              <a:solidFill>
                <a:srgbClr val="000000"/>
              </a:solidFill>
              <a:effectLst/>
              <a:uFillTx/>
              <a:latin typeface="Arial"/>
            </a:endParaRPr>
          </a:p>
        </p:txBody>
      </p:sp>
      <p:sp>
        <p:nvSpPr>
          <p:cNvPr id="574"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503EBCD-ECFB-4CF6-A568-0C72EF11E797}"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BB78E8D-AFAF-4A9A-B80D-5307AA9B57A4}"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a:t>
            </a:r>
            <a:r>
              <a:rPr lang="en-US" sz="4400" b="0" u="none" strike="noStrike">
                <a:solidFill>
                  <a:schemeClr val="dk1"/>
                </a:solidFill>
                <a:effectLst/>
                <a:uFillTx/>
                <a:latin typeface="Calibri"/>
              </a:rPr>
              <a:t>Master 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615D3DE-03DB-4AF7-8AF3-0E1AFC14E568}"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0ECD1E1-42FE-461E-88E0-B1AD790B5E6E}"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A51090E-7541-4071-9FE7-4E2DC4483845}"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a:t>
            </a:r>
            <a:r>
              <a:rPr lang="en-US" sz="4000" b="1" u="none" strike="noStrike" cap="all">
                <a:solidFill>
                  <a:schemeClr val="dk1"/>
                </a:solidFill>
                <a:effectLst/>
                <a:uFillTx/>
                <a:latin typeface="Calibri"/>
              </a:rPr>
              <a:t>l</a:t>
            </a:r>
            <a:r>
              <a:rPr lang="en-US" sz="4000" b="1" u="none" strike="noStrike" cap="all">
                <a:solidFill>
                  <a:schemeClr val="dk1"/>
                </a:solidFill>
                <a:effectLst/>
                <a:uFillTx/>
                <a:latin typeface="Calibri"/>
              </a:rPr>
              <a:t>i</a:t>
            </a:r>
            <a:r>
              <a:rPr lang="en-US" sz="4000" b="1" u="none" strike="noStrike" cap="all">
                <a:solidFill>
                  <a:schemeClr val="dk1"/>
                </a:solidFill>
                <a:effectLst/>
                <a:uFillTx/>
                <a:latin typeface="Calibri"/>
              </a:rPr>
              <a:t>c</a:t>
            </a:r>
            <a:r>
              <a:rPr lang="en-US" sz="4000" b="1" u="none" strike="noStrike" cap="all">
                <a:solidFill>
                  <a:schemeClr val="dk1"/>
                </a:solidFill>
                <a:effectLst/>
                <a:uFillTx/>
                <a:latin typeface="Calibri"/>
              </a:rPr>
              <a:t>k </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o</a:t>
            </a:r>
            <a:r>
              <a:rPr lang="en-US" sz="4000" b="1" u="none" strike="noStrike" cap="all">
                <a:solidFill>
                  <a:schemeClr val="dk1"/>
                </a:solidFill>
                <a:effectLst/>
                <a:uFillTx/>
                <a:latin typeface="Calibri"/>
              </a:rPr>
              <a:t> </a:t>
            </a:r>
            <a:r>
              <a:rPr lang="en-US" sz="4000" b="1" u="none" strike="noStrike" cap="all">
                <a:solidFill>
                  <a:schemeClr val="dk1"/>
                </a:solidFill>
                <a:effectLst/>
                <a:uFillTx/>
                <a:latin typeface="Calibri"/>
              </a:rPr>
              <a:t>e</a:t>
            </a:r>
            <a:r>
              <a:rPr lang="en-US" sz="4000" b="1" u="none" strike="noStrike" cap="all">
                <a:solidFill>
                  <a:schemeClr val="dk1"/>
                </a:solidFill>
                <a:effectLst/>
                <a:uFillTx/>
                <a:latin typeface="Calibri"/>
              </a:rPr>
              <a:t>d</a:t>
            </a:r>
            <a:r>
              <a:rPr lang="en-US" sz="4000" b="1" u="none" strike="noStrike" cap="all">
                <a:solidFill>
                  <a:schemeClr val="dk1"/>
                </a:solidFill>
                <a:effectLst/>
                <a:uFillTx/>
                <a:latin typeface="Calibri"/>
              </a:rPr>
              <a:t>i</a:t>
            </a:r>
            <a:r>
              <a:rPr lang="en-US" sz="4000" b="1" u="none" strike="noStrike" cap="all">
                <a:solidFill>
                  <a:schemeClr val="dk1"/>
                </a:solidFill>
                <a:effectLst/>
                <a:uFillTx/>
                <a:latin typeface="Calibri"/>
              </a:rPr>
              <a:t>t </a:t>
            </a:r>
            <a:r>
              <a:rPr lang="en-US" sz="4000" b="1" u="none" strike="noStrike" cap="all">
                <a:solidFill>
                  <a:schemeClr val="dk1"/>
                </a:solidFill>
                <a:effectLst/>
                <a:uFillTx/>
                <a:latin typeface="Calibri"/>
              </a:rPr>
              <a:t>M</a:t>
            </a:r>
            <a:r>
              <a:rPr lang="en-US" sz="4000" b="1" u="none" strike="noStrike" cap="all">
                <a:solidFill>
                  <a:schemeClr val="dk1"/>
                </a:solidFill>
                <a:effectLst/>
                <a:uFillTx/>
                <a:latin typeface="Calibri"/>
              </a:rPr>
              <a:t>a</a:t>
            </a:r>
            <a:r>
              <a:rPr lang="en-US" sz="4000" b="1" u="none" strike="noStrike" cap="all">
                <a:solidFill>
                  <a:schemeClr val="dk1"/>
                </a:solidFill>
                <a:effectLst/>
                <a:uFillTx/>
                <a:latin typeface="Calibri"/>
              </a:rPr>
              <a:t>s</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e</a:t>
            </a:r>
            <a:r>
              <a:rPr lang="en-US" sz="4000" b="1" u="none" strike="noStrike" cap="all">
                <a:solidFill>
                  <a:schemeClr val="dk1"/>
                </a:solidFill>
                <a:effectLst/>
                <a:uFillTx/>
                <a:latin typeface="Calibri"/>
              </a:rPr>
              <a:t>r </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i</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l</a:t>
            </a:r>
            <a:r>
              <a:rPr lang="en-US" sz="4000" b="1" u="none" strike="noStrike" cap="all">
                <a:solidFill>
                  <a:schemeClr val="dk1"/>
                </a:solidFill>
                <a:effectLst/>
                <a:uFillTx/>
                <a:latin typeface="Calibri"/>
              </a:rPr>
              <a:t>e </a:t>
            </a:r>
            <a:r>
              <a:rPr lang="en-US" sz="4000" b="1" u="none" strike="noStrike" cap="all">
                <a:solidFill>
                  <a:schemeClr val="dk1"/>
                </a:solidFill>
                <a:effectLst/>
                <a:uFillTx/>
                <a:latin typeface="Calibri"/>
              </a:rPr>
              <a:t>s</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y</a:t>
            </a:r>
            <a:r>
              <a:rPr lang="en-US" sz="4000" b="1" u="none" strike="noStrike" cap="all">
                <a:solidFill>
                  <a:schemeClr val="dk1"/>
                </a:solidFill>
                <a:effectLst/>
                <a:uFillTx/>
                <a:latin typeface="Calibri"/>
              </a:rPr>
              <a:t>l</a:t>
            </a:r>
            <a:r>
              <a:rPr lang="en-US" sz="4000" b="1" u="none" strike="noStrike" cap="all">
                <a:solidFill>
                  <a:schemeClr val="dk1"/>
                </a:solidFill>
                <a:effectLst/>
                <a:uFillTx/>
                <a:latin typeface="Calibri"/>
              </a:rPr>
              <a:t>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0FA9A5-A01D-4901-8047-6DFDEDB04BDE}"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2DE75E1-14D2-4B4E-A8A9-EA48D8C736DF}"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4E016C-CD98-4E0D-B116-26AEA0E0A894}"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D21F07D-D2FB-4A5A-AFBA-E7A7FD709FDA}"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EB78D4F-B1EA-48C0-83C8-C81547462774}"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3F0B306-E439-471A-844A-638F447EFE21}"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4C84004-4205-4825-A099-2D0F4DE0C3FF}"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9.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jpeg"/><Relationship Id="rId3" Type="http://schemas.openxmlformats.org/officeDocument/2006/relationships/slideLayout" Target="../slideLayouts/slideLayout9.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2.jpeg"/><Relationship Id="rId3" Type="http://schemas.openxmlformats.org/officeDocument/2006/relationships/slideLayout" Target="../slideLayouts/slideLayout9.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slideLayout" Target="../slideLayouts/slideLayout9.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8.jpeg"/><Relationship Id="rId3" Type="http://schemas.openxmlformats.org/officeDocument/2006/relationships/slideLayout" Target="../slideLayouts/slideLayout9.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7.jpeg"/><Relationship Id="rId3" Type="http://schemas.openxmlformats.org/officeDocument/2006/relationships/slideLayout" Target="../slideLayouts/slideLayout9.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67"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MESTRADO EM DESIGN E DESENVOLVIMENTO DE PRODUTO · UPCA</a:t>
            </a:r>
            <a:endParaRPr lang="pt-PT" sz="1100" b="0" u="none" strike="noStrike">
              <a:solidFill>
                <a:srgbClr val="000000"/>
              </a:solidFill>
              <a:effectLst/>
              <a:uFillTx/>
              <a:latin typeface="Arial"/>
            </a:endParaRPr>
          </a:p>
        </p:txBody>
      </p:sp>
      <p:sp>
        <p:nvSpPr>
          <p:cNvPr id="69"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Da medida à peça física</a:t>
            </a:r>
            <a:endParaRPr lang="pt-PT" sz="3200" b="0" u="none" strike="noStrike">
              <a:solidFill>
                <a:srgbClr val="000000"/>
              </a:solidFill>
              <a:effectLst/>
              <a:uFillTx/>
              <a:latin typeface="Arial"/>
            </a:endParaRPr>
          </a:p>
        </p:txBody>
      </p:sp>
      <p:sp>
        <p:nvSpPr>
          <p:cNvPr id="70"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Imagem: produção do autor · Suplemento 4 · Phoenix, observação de montagem em bancada.</a:t>
            </a:r>
            <a:endParaRPr lang="pt-PT" sz="1000" b="0" u="none" strike="noStrike">
              <a:solidFill>
                <a:srgbClr val="000000"/>
              </a:solidFill>
              <a:effectLst/>
              <a:uFillTx/>
              <a:latin typeface="Arial"/>
            </a:endParaRPr>
          </a:p>
        </p:txBody>
      </p:sp>
      <p:sp>
        <p:nvSpPr>
          <p:cNvPr id="71"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01</a:t>
            </a:r>
            <a:endParaRPr lang="pt-PT" sz="1100" b="0" u="none" strike="noStrike">
              <a:solidFill>
                <a:srgbClr val="000000"/>
              </a:solidFill>
              <a:effectLst/>
              <a:uFillTx/>
              <a:latin typeface="Arial"/>
            </a:endParaRPr>
          </a:p>
        </p:txBody>
      </p:sp>
      <p:sp>
        <p:nvSpPr>
          <p:cNvPr id="72" name="TextBox 6"/>
          <p:cNvSpPr/>
          <p:nvPr/>
        </p:nvSpPr>
        <p:spPr>
          <a:xfrm>
            <a:off x="640080" y="1865520"/>
            <a:ext cx="5623200" cy="2468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Integração do design e da inteligência artificial em processos paramétricos para o desenvolvimento de próteses de membros superiores em impressão 3D</a:t>
            </a:r>
            <a:endParaRPr lang="pt-PT" sz="2300" b="0" u="none" strike="noStrike">
              <a:solidFill>
                <a:srgbClr val="000000"/>
              </a:solidFill>
              <a:effectLst/>
              <a:uFillTx/>
              <a:latin typeface="Arial"/>
            </a:endParaRPr>
          </a:p>
        </p:txBody>
      </p:sp>
      <p:sp>
        <p:nvSpPr>
          <p:cNvPr id="73" name="TextBox 7"/>
          <p:cNvSpPr/>
          <p:nvPr/>
        </p:nvSpPr>
        <p:spPr>
          <a:xfrm>
            <a:off x="640080" y="4526280"/>
            <a:ext cx="5577480" cy="594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Pedro Miguel Candeias da Silva</a:t>
            </a:r>
            <a:endParaRPr lang="pt-PT" sz="2100" b="0" u="none" strike="noStrike">
              <a:solidFill>
                <a:srgbClr val="000000"/>
              </a:solidFill>
              <a:effectLst/>
              <a:uFillTx/>
              <a:latin typeface="Arial"/>
            </a:endParaRPr>
          </a:p>
        </p:txBody>
      </p:sp>
      <p:sp>
        <p:nvSpPr>
          <p:cNvPr id="74" name="TextBox 8"/>
          <p:cNvSpPr/>
          <p:nvPr/>
        </p:nvSpPr>
        <p:spPr>
          <a:xfrm>
            <a:off x="640080" y="5148000"/>
            <a:ext cx="5577480" cy="8226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566B6A"/>
                </a:solidFill>
                <a:effectLst/>
                <a:uFillTx/>
                <a:latin typeface="Arial"/>
              </a:rPr>
              <a:t>Orientador: Doutor </a:t>
            </a:r>
            <a:r>
              <a:rPr lang="en-US" sz="1700" b="0" u="none" strike="noStrike">
                <a:solidFill>
                  <a:srgbClr val="566B6A"/>
                </a:solidFill>
                <a:effectLst/>
                <a:uFillTx/>
                <a:latin typeface="Arial"/>
              </a:rPr>
              <a:t>Demétrio Ferreira </a:t>
            </a:r>
            <a:r>
              <a:rPr lang="en-US" sz="1700" b="0" u="none" strike="noStrike">
                <a:solidFill>
                  <a:srgbClr val="566B6A"/>
                </a:solidFill>
                <a:effectLst/>
                <a:uFillTx/>
                <a:latin typeface="Arial"/>
              </a:rPr>
              <a:t>Matos</a:t>
            </a:r>
            <a:endParaRPr lang="pt-PT" sz="1700" b="0" u="none" strike="noStrike">
              <a:solidFill>
                <a:srgbClr val="000000"/>
              </a:solidFill>
              <a:effectLst/>
              <a:uFillTx/>
              <a:latin typeface="Arial"/>
            </a:endParaRPr>
          </a:p>
          <a:p>
            <a:pPr defTabSz="457200">
              <a:lnSpc>
                <a:spcPct val="110000"/>
              </a:lnSpc>
              <a:spcAft>
                <a:spcPts val="700"/>
              </a:spcAft>
            </a:pPr>
            <a:r>
              <a:rPr lang="en-US" sz="1700" b="0" u="none" strike="noStrike">
                <a:solidFill>
                  <a:srgbClr val="566B6A"/>
                </a:solidFill>
                <a:effectLst/>
                <a:uFillTx/>
                <a:latin typeface="Arial"/>
              </a:rPr>
              <a:t>Projeto de mestrado · </a:t>
            </a:r>
            <a:r>
              <a:rPr lang="en-US" sz="1700" b="0" u="none" strike="noStrike">
                <a:solidFill>
                  <a:srgbClr val="566B6A"/>
                </a:solidFill>
                <a:effectLst/>
                <a:uFillTx/>
                <a:latin typeface="Arial"/>
              </a:rPr>
              <a:t>2026</a:t>
            </a:r>
            <a:endParaRPr lang="pt-PT" sz="1700" b="0" u="none" strike="noStrike">
              <a:solidFill>
                <a:srgbClr val="000000"/>
              </a:solidFill>
              <a:effectLst/>
              <a:uFillTx/>
              <a:latin typeface="Arial"/>
            </a:endParaRPr>
          </a:p>
        </p:txBody>
      </p:sp>
      <p:pic>
        <p:nvPicPr>
          <p:cNvPr id="75" name="Picture 9" descr="upca_logo_oficial.png"/>
          <p:cNvPicPr/>
          <p:nvPr/>
        </p:nvPicPr>
        <p:blipFill>
          <a:blip r:embed="rId1"/>
          <a:stretch/>
        </p:blipFill>
        <p:spPr>
          <a:xfrm>
            <a:off x="8869680" y="411480"/>
            <a:ext cx="2651400" cy="1082160"/>
          </a:xfrm>
          <a:prstGeom prst="rect">
            <a:avLst/>
          </a:prstGeom>
          <a:noFill/>
          <a:ln w="0">
            <a:noFill/>
          </a:ln>
        </p:spPr>
      </p:pic>
      <p:pic>
        <p:nvPicPr>
          <p:cNvPr id="76" name="Picture 10" descr="phoenix_montagem.jpg"/>
          <p:cNvPicPr/>
          <p:nvPr/>
        </p:nvPicPr>
        <p:blipFill>
          <a:blip r:embed="rId2"/>
          <a:stretch/>
        </p:blipFill>
        <p:spPr>
          <a:xfrm>
            <a:off x="6492240" y="2152080"/>
            <a:ext cx="5028840" cy="2827440"/>
          </a:xfrm>
          <a:prstGeom prst="rect">
            <a:avLst/>
          </a:prstGeom>
          <a:noFill/>
          <a:ln w="0">
            <a:noFill/>
          </a:ln>
        </p:spPr>
      </p:pic>
      <p:sp>
        <p:nvSpPr>
          <p:cNvPr id="77" name="TextBox 11"/>
          <p:cNvSpPr/>
          <p:nvPr/>
        </p:nvSpPr>
        <p:spPr>
          <a:xfrm>
            <a:off x="6510600" y="5431680"/>
            <a:ext cx="4937400" cy="475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HandFab: da configuração à peça</a:t>
            </a:r>
            <a:endParaRPr lang="pt-P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7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MOTIVAÇÃO · ACESSO E PERSONALIZAÇÃO</a:t>
            </a:r>
            <a:endParaRPr lang="pt-PT" sz="1100" b="0" u="none" strike="noStrike">
              <a:solidFill>
                <a:srgbClr val="000000"/>
              </a:solidFill>
              <a:effectLst/>
              <a:uFillTx/>
              <a:latin typeface="Arial"/>
            </a:endParaRPr>
          </a:p>
        </p:txBody>
      </p:sp>
      <p:sp>
        <p:nvSpPr>
          <p:cNvPr id="8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O que motivou o desenvolvimento do projeto?</a:t>
            </a:r>
            <a:endParaRPr lang="pt-PT" sz="3200" b="0" u="none" strike="noStrike">
              <a:solidFill>
                <a:srgbClr val="000000"/>
              </a:solidFill>
              <a:effectLst/>
              <a:uFillTx/>
              <a:latin typeface="Arial"/>
            </a:endParaRPr>
          </a:p>
        </p:txBody>
      </p:sp>
      <p:sp>
        <p:nvSpPr>
          <p:cNvPr id="8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Manuscrito, 1.1–1.2 e 2.8, Lacuna 5 · </a:t>
            </a:r>
            <a:r>
              <a:rPr lang="en-US" sz="1000" b="0" u="none" strike="noStrike">
                <a:solidFill>
                  <a:srgbClr val="566B6A"/>
                </a:solidFill>
                <a:effectLst/>
                <a:uFillTx/>
                <a:latin typeface="Arial"/>
              </a:rPr>
              <a:t>Andrysek (2010); Alluhydan et al. </a:t>
            </a:r>
            <a:r>
              <a:rPr lang="en-US" sz="1000" b="0" u="none" strike="noStrike">
                <a:solidFill>
                  <a:srgbClr val="566B6A"/>
                </a:solidFill>
                <a:effectLst/>
                <a:uFillTx/>
                <a:latin typeface="Arial"/>
              </a:rPr>
              <a:t>(2023); Baumann e Maria (2023).</a:t>
            </a:r>
            <a:endParaRPr lang="pt-PT" sz="1000" b="0" u="none" strike="noStrike">
              <a:solidFill>
                <a:srgbClr val="000000"/>
              </a:solidFill>
              <a:effectLst/>
              <a:uFillTx/>
              <a:latin typeface="Arial"/>
            </a:endParaRPr>
          </a:p>
        </p:txBody>
      </p:sp>
      <p:sp>
        <p:nvSpPr>
          <p:cNvPr id="8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02</a:t>
            </a:r>
            <a:endParaRPr lang="pt-PT" sz="1100" b="0" u="none" strike="noStrike">
              <a:solidFill>
                <a:srgbClr val="000000"/>
              </a:solidFill>
              <a:effectLst/>
              <a:uFillTx/>
              <a:latin typeface="Arial"/>
            </a:endParaRPr>
          </a:p>
        </p:txBody>
      </p:sp>
      <p:sp>
        <p:nvSpPr>
          <p:cNvPr id="83" name="TextBox 6"/>
          <p:cNvSpPr/>
          <p:nvPr/>
        </p:nvSpPr>
        <p:spPr>
          <a:xfrm>
            <a:off x="777240" y="1801440"/>
            <a:ext cx="10515240" cy="8226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600" b="1" u="none" strike="noStrike">
                <a:solidFill>
                  <a:srgbClr val="193536"/>
                </a:solidFill>
                <a:effectLst/>
                <a:uFillTx/>
                <a:latin typeface="Arial"/>
              </a:rPr>
              <a:t>Dificuldades </a:t>
            </a:r>
            <a:r>
              <a:rPr lang="en-US" sz="2600" b="1" u="none" strike="noStrike">
                <a:solidFill>
                  <a:srgbClr val="193536"/>
                </a:solidFill>
                <a:effectLst/>
                <a:uFillTx/>
                <a:latin typeface="Arial"/>
              </a:rPr>
              <a:t>de acesso a </a:t>
            </a:r>
            <a:r>
              <a:rPr lang="en-US" sz="2600" b="1" u="none" strike="noStrike">
                <a:solidFill>
                  <a:srgbClr val="193536"/>
                </a:solidFill>
                <a:effectLst/>
                <a:uFillTx/>
                <a:latin typeface="Arial"/>
              </a:rPr>
              <a:t>próteses </a:t>
            </a:r>
            <a:r>
              <a:rPr lang="en-US" sz="2600" b="1" u="none" strike="noStrike">
                <a:solidFill>
                  <a:srgbClr val="193536"/>
                </a:solidFill>
                <a:effectLst/>
                <a:uFillTx/>
                <a:latin typeface="Arial"/>
              </a:rPr>
              <a:t>adaptadas,</a:t>
            </a:r>
            <a:endParaRPr lang="pt-PT" sz="2600" b="0" u="none" strike="noStrike">
              <a:solidFill>
                <a:srgbClr val="000000"/>
              </a:solidFill>
              <a:effectLst/>
              <a:uFillTx/>
              <a:latin typeface="Arial"/>
            </a:endParaRPr>
          </a:p>
          <a:p>
            <a:pPr defTabSz="457200">
              <a:lnSpc>
                <a:spcPct val="110000"/>
              </a:lnSpc>
              <a:spcAft>
                <a:spcPts val="700"/>
              </a:spcAft>
            </a:pPr>
            <a:r>
              <a:rPr lang="en-US" sz="2600" b="1" u="none" strike="noStrike">
                <a:solidFill>
                  <a:srgbClr val="193536"/>
                </a:solidFill>
                <a:effectLst/>
                <a:uFillTx/>
                <a:latin typeface="Arial"/>
              </a:rPr>
              <a:t>particularme</a:t>
            </a:r>
            <a:r>
              <a:rPr lang="en-US" sz="2600" b="1" u="none" strike="noStrike">
                <a:solidFill>
                  <a:srgbClr val="193536"/>
                </a:solidFill>
                <a:effectLst/>
                <a:uFillTx/>
                <a:latin typeface="Arial"/>
              </a:rPr>
              <a:t>nte em </a:t>
            </a:r>
            <a:r>
              <a:rPr lang="en-US" sz="2600" b="1" u="none" strike="noStrike">
                <a:solidFill>
                  <a:srgbClr val="193536"/>
                </a:solidFill>
                <a:effectLst/>
                <a:uFillTx/>
                <a:latin typeface="Arial"/>
              </a:rPr>
              <a:t>contextos de </a:t>
            </a:r>
            <a:r>
              <a:rPr lang="en-US" sz="2600" b="1" u="none" strike="noStrike">
                <a:solidFill>
                  <a:srgbClr val="193536"/>
                </a:solidFill>
                <a:effectLst/>
                <a:uFillTx/>
                <a:latin typeface="Arial"/>
              </a:rPr>
              <a:t>baixos e </a:t>
            </a:r>
            <a:r>
              <a:rPr lang="en-US" sz="2600" b="1" u="none" strike="noStrike">
                <a:solidFill>
                  <a:srgbClr val="193536"/>
                </a:solidFill>
                <a:effectLst/>
                <a:uFillTx/>
                <a:latin typeface="Arial"/>
              </a:rPr>
              <a:t>médios </a:t>
            </a:r>
            <a:r>
              <a:rPr lang="en-US" sz="2600" b="1" u="none" strike="noStrike">
                <a:solidFill>
                  <a:srgbClr val="193536"/>
                </a:solidFill>
                <a:effectLst/>
                <a:uFillTx/>
                <a:latin typeface="Arial"/>
              </a:rPr>
              <a:t>rendimentos.</a:t>
            </a:r>
            <a:endParaRPr lang="pt-PT" sz="2600" b="0" u="none" strike="noStrike">
              <a:solidFill>
                <a:srgbClr val="000000"/>
              </a:solidFill>
              <a:effectLst/>
              <a:uFillTx/>
              <a:latin typeface="Arial"/>
            </a:endParaRPr>
          </a:p>
        </p:txBody>
      </p:sp>
      <p:sp>
        <p:nvSpPr>
          <p:cNvPr id="84" name="Rectangle 7"/>
          <p:cNvSpPr/>
          <p:nvPr/>
        </p:nvSpPr>
        <p:spPr>
          <a:xfrm>
            <a:off x="640080" y="2853000"/>
            <a:ext cx="5303160" cy="1983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TextBox 8"/>
          <p:cNvSpPr/>
          <p:nvPr/>
        </p:nvSpPr>
        <p:spPr>
          <a:xfrm>
            <a:off x="868680" y="3035880"/>
            <a:ext cx="484596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Barreiras identificadas</a:t>
            </a:r>
            <a:endParaRPr lang="pt-PT" sz="2300" b="0" u="none" strike="noStrike">
              <a:solidFill>
                <a:srgbClr val="000000"/>
              </a:solidFill>
              <a:effectLst/>
              <a:uFillTx/>
              <a:latin typeface="Arial"/>
            </a:endParaRPr>
          </a:p>
        </p:txBody>
      </p:sp>
      <p:sp>
        <p:nvSpPr>
          <p:cNvPr id="86" name="TextBox 9"/>
          <p:cNvSpPr/>
          <p:nvPr/>
        </p:nvSpPr>
        <p:spPr>
          <a:xfrm>
            <a:off x="868680" y="3593520"/>
            <a:ext cx="4845960" cy="1051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0" u="none" strike="noStrike">
                <a:solidFill>
                  <a:srgbClr val="193536"/>
                </a:solidFill>
                <a:effectLst/>
                <a:uFillTx/>
                <a:latin typeface="Arial"/>
              </a:rPr>
              <a:t>Custo e apoio técnico especializado</a:t>
            </a:r>
            <a:endParaRPr lang="pt-PT" sz="2100" b="0" u="none" strike="noStrike">
              <a:solidFill>
                <a:srgbClr val="000000"/>
              </a:solidFill>
              <a:effectLst/>
              <a:uFillTx/>
              <a:latin typeface="Arial"/>
            </a:endParaRPr>
          </a:p>
          <a:p>
            <a:pPr defTabSz="457200">
              <a:lnSpc>
                <a:spcPct val="110000"/>
              </a:lnSpc>
              <a:spcAft>
                <a:spcPts val="700"/>
              </a:spcAft>
            </a:pPr>
            <a:r>
              <a:rPr lang="en-US" sz="2100" b="0" u="none" strike="noStrike">
                <a:solidFill>
                  <a:srgbClr val="193536"/>
                </a:solidFill>
                <a:effectLst/>
                <a:uFillTx/>
                <a:latin typeface="Arial"/>
              </a:rPr>
              <a:t>Adaptação, manutenção e infraestrutura</a:t>
            </a:r>
            <a:endParaRPr lang="pt-PT" sz="2100" b="0" u="none" strike="noStrike">
              <a:solidFill>
                <a:srgbClr val="000000"/>
              </a:solidFill>
              <a:effectLst/>
              <a:uFillTx/>
              <a:latin typeface="Arial"/>
            </a:endParaRPr>
          </a:p>
        </p:txBody>
      </p:sp>
      <p:sp>
        <p:nvSpPr>
          <p:cNvPr id="87" name="Rectangle 10"/>
          <p:cNvSpPr/>
          <p:nvPr/>
        </p:nvSpPr>
        <p:spPr>
          <a:xfrm>
            <a:off x="6217920" y="2853000"/>
            <a:ext cx="5303160" cy="1983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8" name="TextBox 11"/>
          <p:cNvSpPr/>
          <p:nvPr/>
        </p:nvSpPr>
        <p:spPr>
          <a:xfrm>
            <a:off x="6446520" y="3035880"/>
            <a:ext cx="484596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Possibilidade a explorar</a:t>
            </a:r>
            <a:endParaRPr lang="pt-PT" sz="2300" b="0" u="none" strike="noStrike">
              <a:solidFill>
                <a:srgbClr val="000000"/>
              </a:solidFill>
              <a:effectLst/>
              <a:uFillTx/>
              <a:latin typeface="Arial"/>
            </a:endParaRPr>
          </a:p>
        </p:txBody>
      </p:sp>
      <p:sp>
        <p:nvSpPr>
          <p:cNvPr id="89" name="TextBox 12"/>
          <p:cNvSpPr/>
          <p:nvPr/>
        </p:nvSpPr>
        <p:spPr>
          <a:xfrm>
            <a:off x="6446520" y="3593520"/>
            <a:ext cx="4845960" cy="1051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0" u="none" strike="noStrike">
                <a:solidFill>
                  <a:srgbClr val="193536"/>
                </a:solidFill>
                <a:effectLst/>
                <a:uFillTx/>
                <a:latin typeface="Arial"/>
              </a:rPr>
              <a:t>Modelos abertos e impressão 3D</a:t>
            </a:r>
            <a:endParaRPr lang="pt-PT" sz="2100" b="0" u="none" strike="noStrike">
              <a:solidFill>
                <a:srgbClr val="000000"/>
              </a:solidFill>
              <a:effectLst/>
              <a:uFillTx/>
              <a:latin typeface="Arial"/>
            </a:endParaRPr>
          </a:p>
          <a:p>
            <a:pPr defTabSz="457200">
              <a:lnSpc>
                <a:spcPct val="110000"/>
              </a:lnSpc>
              <a:spcAft>
                <a:spcPts val="700"/>
              </a:spcAft>
            </a:pPr>
            <a:r>
              <a:rPr lang="en-US" sz="2100" b="0" u="none" strike="noStrike">
                <a:solidFill>
                  <a:srgbClr val="193536"/>
                </a:solidFill>
                <a:effectLst/>
                <a:uFillTx/>
                <a:latin typeface="Arial"/>
              </a:rPr>
              <a:t>Configuração ajustável e compreensível</a:t>
            </a:r>
            <a:endParaRPr lang="pt-PT" sz="2100" b="0" u="none" strike="noStrike">
              <a:solidFill>
                <a:srgbClr val="000000"/>
              </a:solidFill>
              <a:effectLst/>
              <a:uFillTx/>
              <a:latin typeface="Arial"/>
            </a:endParaRPr>
          </a:p>
        </p:txBody>
      </p:sp>
      <p:sp>
        <p:nvSpPr>
          <p:cNvPr id="90" name="Rectangle 13"/>
          <p:cNvSpPr/>
          <p:nvPr/>
        </p:nvSpPr>
        <p:spPr>
          <a:xfrm>
            <a:off x="640080" y="5093280"/>
            <a:ext cx="10881000" cy="968760"/>
          </a:xfrm>
          <a:prstGeom prst="rect">
            <a:avLst/>
          </a:prstGeom>
          <a:solidFill>
            <a:srgbClr val="E3EC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14"/>
          <p:cNvSpPr/>
          <p:nvPr/>
        </p:nvSpPr>
        <p:spPr>
          <a:xfrm>
            <a:off x="868680" y="5157360"/>
            <a:ext cx="10378080" cy="8226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193536"/>
                </a:solidFill>
                <a:effectLst/>
                <a:uFillTx/>
                <a:latin typeface="Arial"/>
              </a:rPr>
              <a:t>Desenvolver o HandFab para ligar medidas a modelos configuráveis</a:t>
            </a:r>
            <a:endParaRPr lang="pt-PT" sz="2200" b="0" u="none" strike="noStrike">
              <a:solidFill>
                <a:srgbClr val="000000"/>
              </a:solidFill>
              <a:effectLst/>
              <a:uFillTx/>
              <a:latin typeface="Arial"/>
            </a:endParaRPr>
          </a:p>
          <a:p>
            <a:pPr defTabSz="457200">
              <a:lnSpc>
                <a:spcPct val="110000"/>
              </a:lnSpc>
              <a:spcAft>
                <a:spcPts val="700"/>
              </a:spcAft>
            </a:pPr>
            <a:r>
              <a:rPr lang="en-US" sz="2200" b="1" u="none" strike="noStrike">
                <a:solidFill>
                  <a:srgbClr val="193536"/>
                </a:solidFill>
                <a:effectLst/>
                <a:uFillTx/>
                <a:latin typeface="Arial"/>
              </a:rPr>
              <a:t>e examinar o resultado até às peças físicas.</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92"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PROBLEMA DE DESIGN</a:t>
            </a:r>
            <a:endParaRPr lang="pt-PT" sz="1100" b="0" u="none" strike="noStrike">
              <a:solidFill>
                <a:srgbClr val="000000"/>
              </a:solidFill>
              <a:effectLst/>
              <a:uFillTx/>
              <a:latin typeface="Arial"/>
            </a:endParaRPr>
          </a:p>
        </p:txBody>
      </p:sp>
      <p:sp>
        <p:nvSpPr>
          <p:cNvPr id="94"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Como passar de uma medida a uma peça?</a:t>
            </a:r>
            <a:endParaRPr lang="pt-PT" sz="3200" b="0" u="none" strike="noStrike">
              <a:solidFill>
                <a:srgbClr val="000000"/>
              </a:solidFill>
              <a:effectLst/>
              <a:uFillTx/>
              <a:latin typeface="Arial"/>
            </a:endParaRPr>
          </a:p>
        </p:txBody>
      </p:sp>
      <p:sp>
        <p:nvSpPr>
          <p:cNvPr id="95"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Captura do HandFab e fotografias do autor · Configuração e peças ilustram etapas do projeto.</a:t>
            </a:r>
            <a:endParaRPr lang="pt-PT" sz="1000" b="0" u="none" strike="noStrike">
              <a:solidFill>
                <a:srgbClr val="000000"/>
              </a:solidFill>
              <a:effectLst/>
              <a:uFillTx/>
              <a:latin typeface="Arial"/>
            </a:endParaRPr>
          </a:p>
        </p:txBody>
      </p:sp>
      <p:sp>
        <p:nvSpPr>
          <p:cNvPr id="96"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03</a:t>
            </a:r>
            <a:endParaRPr lang="pt-PT" sz="1100" b="0" u="none" strike="noStrike">
              <a:solidFill>
                <a:srgbClr val="000000"/>
              </a:solidFill>
              <a:effectLst/>
              <a:uFillTx/>
              <a:latin typeface="Arial"/>
            </a:endParaRPr>
          </a:p>
        </p:txBody>
      </p:sp>
      <p:pic>
        <p:nvPicPr>
          <p:cNvPr id="97" name="Picture 6" descr="flexy_parametros.png"/>
          <p:cNvPicPr/>
          <p:nvPr/>
        </p:nvPicPr>
        <p:blipFill>
          <a:blip r:embed="rId1"/>
          <a:stretch/>
        </p:blipFill>
        <p:spPr>
          <a:xfrm>
            <a:off x="966960" y="1901880"/>
            <a:ext cx="5837760" cy="3538440"/>
          </a:xfrm>
          <a:prstGeom prst="rect">
            <a:avLst/>
          </a:prstGeom>
          <a:noFill/>
          <a:ln w="0">
            <a:noFill/>
          </a:ln>
        </p:spPr>
      </p:pic>
      <p:pic>
        <p:nvPicPr>
          <p:cNvPr id="98" name="Picture 7" descr="flexy_perfis.jpeg"/>
          <p:cNvPicPr/>
          <p:nvPr/>
        </p:nvPicPr>
        <p:blipFill>
          <a:blip r:embed="rId2"/>
          <a:stretch/>
        </p:blipFill>
        <p:spPr>
          <a:xfrm>
            <a:off x="7333560" y="2494440"/>
            <a:ext cx="4187520" cy="2353320"/>
          </a:xfrm>
          <a:prstGeom prst="rect">
            <a:avLst/>
          </a:prstGeom>
          <a:noFill/>
          <a:ln w="0">
            <a:noFill/>
          </a:ln>
        </p:spPr>
      </p:pic>
      <p:sp>
        <p:nvSpPr>
          <p:cNvPr id="99" name="TextBox 8"/>
          <p:cNvSpPr/>
          <p:nvPr/>
        </p:nvSpPr>
        <p:spPr>
          <a:xfrm>
            <a:off x="731520" y="5632560"/>
            <a:ext cx="640044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Que efeito tem o valor que introduzo?</a:t>
            </a:r>
            <a:endParaRPr lang="pt-PT" sz="2400" b="0" u="none" strike="noStrike">
              <a:solidFill>
                <a:srgbClr val="000000"/>
              </a:solidFill>
              <a:effectLst/>
              <a:uFillTx/>
              <a:latin typeface="Arial"/>
            </a:endParaRPr>
          </a:p>
        </p:txBody>
      </p:sp>
      <p:sp>
        <p:nvSpPr>
          <p:cNvPr id="100" name="TextBox 9"/>
          <p:cNvSpPr/>
          <p:nvPr/>
        </p:nvSpPr>
        <p:spPr>
          <a:xfrm>
            <a:off x="7406640" y="5632560"/>
            <a:ext cx="411444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O que chega à peça?</a:t>
            </a:r>
            <a:endParaRPr lang="pt-PT"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01"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PERGUNTAS E ÂMBITO</a:t>
            </a:r>
            <a:endParaRPr lang="pt-PT" sz="1100" b="0" u="none" strike="noStrike">
              <a:solidFill>
                <a:srgbClr val="000000"/>
              </a:solidFill>
              <a:effectLst/>
              <a:uFillTx/>
              <a:latin typeface="Arial"/>
            </a:endParaRPr>
          </a:p>
        </p:txBody>
      </p:sp>
      <p:sp>
        <p:nvSpPr>
          <p:cNvPr id="103"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Perguntas de investigação e âmbito da avaliação</a:t>
            </a:r>
            <a:endParaRPr lang="pt-PT" sz="3200" b="0" u="none" strike="noStrike">
              <a:solidFill>
                <a:srgbClr val="000000"/>
              </a:solidFill>
              <a:effectLst/>
              <a:uFillTx/>
              <a:latin typeface="Arial"/>
            </a:endParaRPr>
          </a:p>
        </p:txBody>
      </p:sp>
      <p:sp>
        <p:nvSpPr>
          <p:cNvPr id="104"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Síntese das perguntas aprovadas · Formulações integrais no diapositivo 24 · Tabela 31.</a:t>
            </a:r>
            <a:endParaRPr lang="pt-PT" sz="1000" b="0" u="none" strike="noStrike">
              <a:solidFill>
                <a:srgbClr val="000000"/>
              </a:solidFill>
              <a:effectLst/>
              <a:uFillTx/>
              <a:latin typeface="Arial"/>
            </a:endParaRPr>
          </a:p>
        </p:txBody>
      </p:sp>
      <p:sp>
        <p:nvSpPr>
          <p:cNvPr id="105"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04</a:t>
            </a:r>
            <a:endParaRPr lang="pt-PT" sz="1100" b="0" u="none" strike="noStrike">
              <a:solidFill>
                <a:srgbClr val="000000"/>
              </a:solidFill>
              <a:effectLst/>
              <a:uFillTx/>
              <a:latin typeface="Arial"/>
            </a:endParaRPr>
          </a:p>
        </p:txBody>
      </p:sp>
      <p:sp>
        <p:nvSpPr>
          <p:cNvPr id="106" name="Rectangle 6"/>
          <p:cNvSpPr/>
          <p:nvPr/>
        </p:nvSpPr>
        <p:spPr>
          <a:xfrm>
            <a:off x="640080" y="187452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 name="TextBox 7"/>
          <p:cNvSpPr/>
          <p:nvPr/>
        </p:nvSpPr>
        <p:spPr>
          <a:xfrm>
            <a:off x="841320" y="203904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P1</a:t>
            </a:r>
            <a:endParaRPr lang="pt-PT" sz="2800" b="0" u="none" strike="noStrike">
              <a:solidFill>
                <a:srgbClr val="000000"/>
              </a:solidFill>
              <a:effectLst/>
              <a:uFillTx/>
              <a:latin typeface="Arial"/>
            </a:endParaRPr>
          </a:p>
        </p:txBody>
      </p:sp>
      <p:sp>
        <p:nvSpPr>
          <p:cNvPr id="108" name="TextBox 8"/>
          <p:cNvSpPr/>
          <p:nvPr/>
        </p:nvSpPr>
        <p:spPr>
          <a:xfrm>
            <a:off x="841320" y="267012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Configuração e controlo</a:t>
            </a:r>
            <a:endParaRPr lang="pt-PT" sz="2300" b="0" u="none" strike="noStrike">
              <a:solidFill>
                <a:srgbClr val="000000"/>
              </a:solidFill>
              <a:effectLst/>
              <a:uFillTx/>
              <a:latin typeface="Arial"/>
            </a:endParaRPr>
          </a:p>
        </p:txBody>
      </p:sp>
      <p:sp>
        <p:nvSpPr>
          <p:cNvPr id="109" name="TextBox 9"/>
          <p:cNvSpPr/>
          <p:nvPr/>
        </p:nvSpPr>
        <p:spPr>
          <a:xfrm>
            <a:off x="841320" y="352044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Como apoiar escolhas sobre o modelo?</a:t>
            </a:r>
            <a:endParaRPr lang="pt-PT" sz="1900" b="0" u="none" strike="noStrike">
              <a:solidFill>
                <a:srgbClr val="000000"/>
              </a:solidFill>
              <a:effectLst/>
              <a:uFillTx/>
              <a:latin typeface="Arial"/>
            </a:endParaRPr>
          </a:p>
        </p:txBody>
      </p:sp>
      <p:sp>
        <p:nvSpPr>
          <p:cNvPr id="110" name="Rectangle 10"/>
          <p:cNvSpPr/>
          <p:nvPr/>
        </p:nvSpPr>
        <p:spPr>
          <a:xfrm>
            <a:off x="4343400" y="187452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11"/>
          <p:cNvSpPr/>
          <p:nvPr/>
        </p:nvSpPr>
        <p:spPr>
          <a:xfrm>
            <a:off x="4544640" y="203904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P2</a:t>
            </a:r>
            <a:endParaRPr lang="pt-PT" sz="2800" b="0" u="none" strike="noStrike">
              <a:solidFill>
                <a:srgbClr val="000000"/>
              </a:solidFill>
              <a:effectLst/>
              <a:uFillTx/>
              <a:latin typeface="Arial"/>
            </a:endParaRPr>
          </a:p>
        </p:txBody>
      </p:sp>
      <p:sp>
        <p:nvSpPr>
          <p:cNvPr id="112" name="TextBox 12"/>
          <p:cNvSpPr/>
          <p:nvPr/>
        </p:nvSpPr>
        <p:spPr>
          <a:xfrm>
            <a:off x="4544640" y="267012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Avaliação e reprodução</a:t>
            </a:r>
            <a:endParaRPr lang="pt-PT" sz="2300" b="0" u="none" strike="noStrike">
              <a:solidFill>
                <a:srgbClr val="000000"/>
              </a:solidFill>
              <a:effectLst/>
              <a:uFillTx/>
              <a:latin typeface="Arial"/>
            </a:endParaRPr>
          </a:p>
        </p:txBody>
      </p:sp>
      <p:sp>
        <p:nvSpPr>
          <p:cNvPr id="113" name="TextBox 13"/>
          <p:cNvSpPr/>
          <p:nvPr/>
        </p:nvSpPr>
        <p:spPr>
          <a:xfrm>
            <a:off x="4544640" y="352044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Como examinar o processo e os resultados?</a:t>
            </a:r>
            <a:endParaRPr lang="pt-PT" sz="1900" b="0" u="none" strike="noStrike">
              <a:solidFill>
                <a:srgbClr val="000000"/>
              </a:solidFill>
              <a:effectLst/>
              <a:uFillTx/>
              <a:latin typeface="Arial"/>
            </a:endParaRPr>
          </a:p>
        </p:txBody>
      </p:sp>
      <p:sp>
        <p:nvSpPr>
          <p:cNvPr id="114" name="Rectangle 14"/>
          <p:cNvSpPr/>
          <p:nvPr/>
        </p:nvSpPr>
        <p:spPr>
          <a:xfrm>
            <a:off x="8046720" y="187452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5" name="TextBox 15"/>
          <p:cNvSpPr/>
          <p:nvPr/>
        </p:nvSpPr>
        <p:spPr>
          <a:xfrm>
            <a:off x="8247960" y="203904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P3</a:t>
            </a:r>
            <a:endParaRPr lang="pt-PT" sz="2800" b="0" u="none" strike="noStrike">
              <a:solidFill>
                <a:srgbClr val="000000"/>
              </a:solidFill>
              <a:effectLst/>
              <a:uFillTx/>
              <a:latin typeface="Arial"/>
            </a:endParaRPr>
          </a:p>
        </p:txBody>
      </p:sp>
      <p:sp>
        <p:nvSpPr>
          <p:cNvPr id="116" name="TextBox 16"/>
          <p:cNvSpPr/>
          <p:nvPr/>
        </p:nvSpPr>
        <p:spPr>
          <a:xfrm>
            <a:off x="8247960" y="267012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Requisitos e experiência</a:t>
            </a:r>
            <a:endParaRPr lang="pt-PT" sz="2300" b="0" u="none" strike="noStrike">
              <a:solidFill>
                <a:srgbClr val="000000"/>
              </a:solidFill>
              <a:effectLst/>
              <a:uFillTx/>
              <a:latin typeface="Arial"/>
            </a:endParaRPr>
          </a:p>
        </p:txBody>
      </p:sp>
      <p:sp>
        <p:nvSpPr>
          <p:cNvPr id="117" name="TextBox 17"/>
          <p:cNvSpPr/>
          <p:nvPr/>
        </p:nvSpPr>
        <p:spPr>
          <a:xfrm>
            <a:off x="8247960" y="352044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Como responder às necessidades das pessoas?</a:t>
            </a:r>
            <a:endParaRPr lang="pt-PT" sz="1900" b="0" u="none" strike="noStrike">
              <a:solidFill>
                <a:srgbClr val="000000"/>
              </a:solidFill>
              <a:effectLst/>
              <a:uFillTx/>
              <a:latin typeface="Arial"/>
            </a:endParaRPr>
          </a:p>
        </p:txBody>
      </p:sp>
      <p:sp>
        <p:nvSpPr>
          <p:cNvPr id="118" name="TextBox 18"/>
          <p:cNvSpPr/>
          <p:nvPr/>
        </p:nvSpPr>
        <p:spPr>
          <a:xfrm>
            <a:off x="822960" y="5440680"/>
            <a:ext cx="10515240" cy="475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Âmbito realizado: verificação técnica e dimensional, sem participantes.</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19"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OBJETIVOS DA INVESTIGAÇÃO</a:t>
            </a:r>
            <a:endParaRPr lang="pt-PT" sz="1100" b="0" u="none" strike="noStrike">
              <a:solidFill>
                <a:srgbClr val="000000"/>
              </a:solidFill>
              <a:effectLst/>
              <a:uFillTx/>
              <a:latin typeface="Arial"/>
            </a:endParaRPr>
          </a:p>
        </p:txBody>
      </p:sp>
      <p:sp>
        <p:nvSpPr>
          <p:cNvPr id="121"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Objetivo geral e objetivos específicos</a:t>
            </a:r>
            <a:endParaRPr lang="pt-PT" sz="3200" b="0" u="none" strike="noStrike">
              <a:solidFill>
                <a:srgbClr val="000000"/>
              </a:solidFill>
              <a:effectLst/>
              <a:uFillTx/>
              <a:latin typeface="Arial"/>
            </a:endParaRPr>
          </a:p>
        </p:txBody>
      </p:sp>
      <p:sp>
        <p:nvSpPr>
          <p:cNvPr id="122"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Síntese da secção 1.3 do manuscrito · Sete objetivos específicos, com o âmbito original preservado.</a:t>
            </a:r>
            <a:endParaRPr lang="pt-PT" sz="1000" b="0" u="none" strike="noStrike">
              <a:solidFill>
                <a:srgbClr val="000000"/>
              </a:solidFill>
              <a:effectLst/>
              <a:uFillTx/>
              <a:latin typeface="Arial"/>
            </a:endParaRPr>
          </a:p>
        </p:txBody>
      </p:sp>
      <p:sp>
        <p:nvSpPr>
          <p:cNvPr id="123"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05</a:t>
            </a:r>
            <a:endParaRPr lang="pt-PT" sz="1100" b="0" u="none" strike="noStrike">
              <a:solidFill>
                <a:srgbClr val="000000"/>
              </a:solidFill>
              <a:effectLst/>
              <a:uFillTx/>
              <a:latin typeface="Arial"/>
            </a:endParaRPr>
          </a:p>
        </p:txBody>
      </p:sp>
      <p:sp>
        <p:nvSpPr>
          <p:cNvPr id="124" name="Rectangle 6"/>
          <p:cNvSpPr/>
          <p:nvPr/>
        </p:nvSpPr>
        <p:spPr>
          <a:xfrm>
            <a:off x="640080" y="1755720"/>
            <a:ext cx="10881000" cy="1481040"/>
          </a:xfrm>
          <a:prstGeom prst="rect">
            <a:avLst/>
          </a:prstGeom>
          <a:solidFill>
            <a:srgbClr val="E3EC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5" name="TextBox 7"/>
          <p:cNvSpPr/>
          <p:nvPr/>
        </p:nvSpPr>
        <p:spPr>
          <a:xfrm>
            <a:off x="841320" y="1865520"/>
            <a:ext cx="1042380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OBJETIVO GERAL</a:t>
            </a:r>
            <a:endParaRPr lang="pt-PT" sz="1200" b="0" u="none" strike="noStrike">
              <a:solidFill>
                <a:srgbClr val="000000"/>
              </a:solidFill>
              <a:effectLst/>
              <a:uFillTx/>
              <a:latin typeface="Arial"/>
            </a:endParaRPr>
          </a:p>
        </p:txBody>
      </p:sp>
      <p:sp>
        <p:nvSpPr>
          <p:cNvPr id="126" name="TextBox 8"/>
          <p:cNvSpPr/>
          <p:nvPr/>
        </p:nvSpPr>
        <p:spPr>
          <a:xfrm>
            <a:off x="841320" y="2148840"/>
            <a:ext cx="10423800" cy="1023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193536"/>
                </a:solidFill>
                <a:effectLst/>
                <a:uFillTx/>
                <a:latin typeface="Arial"/>
              </a:rPr>
              <a:t>Produzir conhecimento através da prática de design, desenvolvendo e avaliando tecnicamente um sistema paramétrico apoiado por IA para a configuração preliminar de modelos de mão protésica destinados ao fabrico aditivo.</a:t>
            </a:r>
            <a:endParaRPr lang="pt-PT" sz="2000" b="0" u="none" strike="noStrike">
              <a:solidFill>
                <a:srgbClr val="000000"/>
              </a:solidFill>
              <a:effectLst/>
              <a:uFillTx/>
              <a:latin typeface="Arial"/>
            </a:endParaRPr>
          </a:p>
        </p:txBody>
      </p:sp>
      <p:sp>
        <p:nvSpPr>
          <p:cNvPr id="127" name="TextBox 9"/>
          <p:cNvSpPr/>
          <p:nvPr/>
        </p:nvSpPr>
        <p:spPr>
          <a:xfrm>
            <a:off x="841320" y="3328560"/>
            <a:ext cx="10423800" cy="2556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OBJETIVOS ESPECÍFICOS</a:t>
            </a:r>
            <a:endParaRPr lang="pt-PT" sz="1200" b="0" u="none" strike="noStrike">
              <a:solidFill>
                <a:srgbClr val="000000"/>
              </a:solidFill>
              <a:effectLst/>
              <a:uFillTx/>
              <a:latin typeface="Arial"/>
            </a:endParaRPr>
          </a:p>
        </p:txBody>
      </p:sp>
      <p:sp>
        <p:nvSpPr>
          <p:cNvPr id="128" name="TextBox 10"/>
          <p:cNvSpPr/>
          <p:nvPr/>
        </p:nvSpPr>
        <p:spPr>
          <a:xfrm>
            <a:off x="841320" y="376740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01</a:t>
            </a:r>
            <a:endParaRPr lang="pt-PT" sz="1600" b="0" u="none" strike="noStrike">
              <a:solidFill>
                <a:srgbClr val="000000"/>
              </a:solidFill>
              <a:effectLst/>
              <a:uFillTx/>
              <a:latin typeface="Arial"/>
            </a:endParaRPr>
          </a:p>
        </p:txBody>
      </p:sp>
      <p:sp>
        <p:nvSpPr>
          <p:cNvPr id="129" name="TextBox 11"/>
          <p:cNvSpPr/>
          <p:nvPr/>
        </p:nvSpPr>
        <p:spPr>
          <a:xfrm>
            <a:off x="1280160" y="376740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Analisar como o design traduz requisitos humanos em decisões de projeto e fabrico.</a:t>
            </a:r>
            <a:endParaRPr lang="pt-PT" sz="1700" b="0" u="none" strike="noStrike">
              <a:solidFill>
                <a:srgbClr val="000000"/>
              </a:solidFill>
              <a:effectLst/>
              <a:uFillTx/>
              <a:latin typeface="Arial"/>
            </a:endParaRPr>
          </a:p>
        </p:txBody>
      </p:sp>
      <p:sp>
        <p:nvSpPr>
          <p:cNvPr id="130" name="TextBox 12"/>
          <p:cNvSpPr/>
          <p:nvPr/>
        </p:nvSpPr>
        <p:spPr>
          <a:xfrm>
            <a:off x="841320" y="437076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02</a:t>
            </a:r>
            <a:endParaRPr lang="pt-PT" sz="1600" b="0" u="none" strike="noStrike">
              <a:solidFill>
                <a:srgbClr val="000000"/>
              </a:solidFill>
              <a:effectLst/>
              <a:uFillTx/>
              <a:latin typeface="Arial"/>
            </a:endParaRPr>
          </a:p>
        </p:txBody>
      </p:sp>
      <p:sp>
        <p:nvSpPr>
          <p:cNvPr id="131" name="TextBox 13"/>
          <p:cNvSpPr/>
          <p:nvPr/>
        </p:nvSpPr>
        <p:spPr>
          <a:xfrm>
            <a:off x="1280160" y="437076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Organizar dados antropométricos, preservando a sua caracterização e limitações.</a:t>
            </a:r>
            <a:endParaRPr lang="pt-PT" sz="1700" b="0" u="none" strike="noStrike">
              <a:solidFill>
                <a:srgbClr val="000000"/>
              </a:solidFill>
              <a:effectLst/>
              <a:uFillTx/>
              <a:latin typeface="Arial"/>
            </a:endParaRPr>
          </a:p>
        </p:txBody>
      </p:sp>
      <p:sp>
        <p:nvSpPr>
          <p:cNvPr id="132" name="TextBox 14"/>
          <p:cNvSpPr/>
          <p:nvPr/>
        </p:nvSpPr>
        <p:spPr>
          <a:xfrm>
            <a:off x="841320" y="497448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03</a:t>
            </a:r>
            <a:endParaRPr lang="pt-PT" sz="1600" b="0" u="none" strike="noStrike">
              <a:solidFill>
                <a:srgbClr val="000000"/>
              </a:solidFill>
              <a:effectLst/>
              <a:uFillTx/>
              <a:latin typeface="Arial"/>
            </a:endParaRPr>
          </a:p>
        </p:txBody>
      </p:sp>
      <p:sp>
        <p:nvSpPr>
          <p:cNvPr id="133" name="TextBox 15"/>
          <p:cNvSpPr/>
          <p:nvPr/>
        </p:nvSpPr>
        <p:spPr>
          <a:xfrm>
            <a:off x="1280160" y="497448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Adaptar modelos abertos de mão a uma estrutura paramétrica explícita em OpenSCAD.</a:t>
            </a:r>
            <a:endParaRPr lang="pt-PT" sz="1700" b="0" u="none" strike="noStrike">
              <a:solidFill>
                <a:srgbClr val="000000"/>
              </a:solidFill>
              <a:effectLst/>
              <a:uFillTx/>
              <a:latin typeface="Arial"/>
            </a:endParaRPr>
          </a:p>
        </p:txBody>
      </p:sp>
      <p:sp>
        <p:nvSpPr>
          <p:cNvPr id="134" name="TextBox 16"/>
          <p:cNvSpPr/>
          <p:nvPr/>
        </p:nvSpPr>
        <p:spPr>
          <a:xfrm>
            <a:off x="841320" y="557784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04</a:t>
            </a:r>
            <a:endParaRPr lang="pt-PT" sz="1600" b="0" u="none" strike="noStrike">
              <a:solidFill>
                <a:srgbClr val="000000"/>
              </a:solidFill>
              <a:effectLst/>
              <a:uFillTx/>
              <a:latin typeface="Arial"/>
            </a:endParaRPr>
          </a:p>
        </p:txBody>
      </p:sp>
      <p:sp>
        <p:nvSpPr>
          <p:cNvPr id="135" name="TextBox 17"/>
          <p:cNvSpPr/>
          <p:nvPr/>
        </p:nvSpPr>
        <p:spPr>
          <a:xfrm>
            <a:off x="1280160" y="557784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Integrar o percurso na web, com visualização e gestão de versões, até à impressão.</a:t>
            </a:r>
            <a:endParaRPr lang="pt-PT" sz="1700" b="0" u="none" strike="noStrike">
              <a:solidFill>
                <a:srgbClr val="000000"/>
              </a:solidFill>
              <a:effectLst/>
              <a:uFillTx/>
              <a:latin typeface="Arial"/>
            </a:endParaRPr>
          </a:p>
        </p:txBody>
      </p:sp>
      <p:sp>
        <p:nvSpPr>
          <p:cNvPr id="136" name="TextBox 18"/>
          <p:cNvSpPr/>
          <p:nvPr/>
        </p:nvSpPr>
        <p:spPr>
          <a:xfrm>
            <a:off x="6419160" y="376740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05</a:t>
            </a:r>
            <a:endParaRPr lang="pt-PT" sz="1600" b="0" u="none" strike="noStrike">
              <a:solidFill>
                <a:srgbClr val="000000"/>
              </a:solidFill>
              <a:effectLst/>
              <a:uFillTx/>
              <a:latin typeface="Arial"/>
            </a:endParaRPr>
          </a:p>
        </p:txBody>
      </p:sp>
      <p:sp>
        <p:nvSpPr>
          <p:cNvPr id="137" name="TextBox 19"/>
          <p:cNvSpPr/>
          <p:nvPr/>
        </p:nvSpPr>
        <p:spPr>
          <a:xfrm>
            <a:off x="6858000" y="376740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Delimitar a IA à sugestão inicial, distinguindo regras geométricas e decisões humanas.</a:t>
            </a:r>
            <a:endParaRPr lang="pt-PT" sz="1700" b="0" u="none" strike="noStrike">
              <a:solidFill>
                <a:srgbClr val="000000"/>
              </a:solidFill>
              <a:effectLst/>
              <a:uFillTx/>
              <a:latin typeface="Arial"/>
            </a:endParaRPr>
          </a:p>
        </p:txBody>
      </p:sp>
      <p:sp>
        <p:nvSpPr>
          <p:cNvPr id="138" name="TextBox 20"/>
          <p:cNvSpPr/>
          <p:nvPr/>
        </p:nvSpPr>
        <p:spPr>
          <a:xfrm>
            <a:off x="6419160" y="437076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06</a:t>
            </a:r>
            <a:endParaRPr lang="pt-PT" sz="1600" b="0" u="none" strike="noStrike">
              <a:solidFill>
                <a:srgbClr val="000000"/>
              </a:solidFill>
              <a:effectLst/>
              <a:uFillTx/>
              <a:latin typeface="Arial"/>
            </a:endParaRPr>
          </a:p>
        </p:txBody>
      </p:sp>
      <p:sp>
        <p:nvSpPr>
          <p:cNvPr id="139" name="TextBox 21"/>
          <p:cNvSpPr/>
          <p:nvPr/>
        </p:nvSpPr>
        <p:spPr>
          <a:xfrm>
            <a:off x="6858000" y="437076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Avaliar a coerência entre dados, parâmetros, geometria digital e protótipos físicos.</a:t>
            </a:r>
            <a:endParaRPr lang="pt-PT" sz="1700" b="0" u="none" strike="noStrike">
              <a:solidFill>
                <a:srgbClr val="000000"/>
              </a:solidFill>
              <a:effectLst/>
              <a:uFillTx/>
              <a:latin typeface="Arial"/>
            </a:endParaRPr>
          </a:p>
        </p:txBody>
      </p:sp>
      <p:sp>
        <p:nvSpPr>
          <p:cNvPr id="140" name="TextBox 22"/>
          <p:cNvSpPr/>
          <p:nvPr/>
        </p:nvSpPr>
        <p:spPr>
          <a:xfrm>
            <a:off x="6419160" y="497448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07</a:t>
            </a:r>
            <a:endParaRPr lang="pt-PT" sz="1600" b="0" u="none" strike="noStrike">
              <a:solidFill>
                <a:srgbClr val="000000"/>
              </a:solidFill>
              <a:effectLst/>
              <a:uFillTx/>
              <a:latin typeface="Arial"/>
            </a:endParaRPr>
          </a:p>
        </p:txBody>
      </p:sp>
      <p:sp>
        <p:nvSpPr>
          <p:cNvPr id="141" name="TextBox 23"/>
          <p:cNvSpPr/>
          <p:nvPr/>
        </p:nvSpPr>
        <p:spPr>
          <a:xfrm>
            <a:off x="6858000" y="497448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Definir condições para avaliação clínica posterior, incluindo função e utilização.</a:t>
            </a:r>
            <a:endParaRPr lang="pt-PT"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42"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METODOLOGIA DE INVESTIGAÇÃO</a:t>
            </a:r>
            <a:endParaRPr lang="pt-PT" sz="1100" b="0" u="none" strike="noStrike">
              <a:solidFill>
                <a:srgbClr val="000000"/>
              </a:solidFill>
              <a:effectLst/>
              <a:uFillTx/>
              <a:latin typeface="Arial"/>
            </a:endParaRPr>
          </a:p>
        </p:txBody>
      </p:sp>
      <p:sp>
        <p:nvSpPr>
          <p:cNvPr id="144"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Como organizei a investigação e o desenvolvimento</a:t>
            </a:r>
            <a:endParaRPr lang="pt-PT" sz="3200" b="0" u="none" strike="noStrike">
              <a:solidFill>
                <a:srgbClr val="000000"/>
              </a:solidFill>
              <a:effectLst/>
              <a:uFillTx/>
              <a:latin typeface="Arial"/>
            </a:endParaRPr>
          </a:p>
        </p:txBody>
      </p:sp>
      <p:sp>
        <p:nvSpPr>
          <p:cNvPr id="145"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Manuscrito, 3.1–3.3 e Tabela 4 · Frayling (1994); Zimmerman et al. (2007); Design Council (2007).</a:t>
            </a:r>
            <a:endParaRPr lang="pt-PT" sz="1000" b="0" u="none" strike="noStrike">
              <a:solidFill>
                <a:srgbClr val="000000"/>
              </a:solidFill>
              <a:effectLst/>
              <a:uFillTx/>
              <a:latin typeface="Arial"/>
            </a:endParaRPr>
          </a:p>
        </p:txBody>
      </p:sp>
      <p:sp>
        <p:nvSpPr>
          <p:cNvPr id="146"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06</a:t>
            </a:r>
            <a:endParaRPr lang="pt-PT" sz="1100" b="0" u="none" strike="noStrike">
              <a:solidFill>
                <a:srgbClr val="000000"/>
              </a:solidFill>
              <a:effectLst/>
              <a:uFillTx/>
              <a:latin typeface="Arial"/>
            </a:endParaRPr>
          </a:p>
        </p:txBody>
      </p:sp>
      <p:sp>
        <p:nvSpPr>
          <p:cNvPr id="147" name="TextBox 6"/>
          <p:cNvSpPr/>
          <p:nvPr/>
        </p:nvSpPr>
        <p:spPr>
          <a:xfrm>
            <a:off x="822960" y="1810440"/>
            <a:ext cx="1051524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Double Diamond: organizar a exploração e a convergência</a:t>
            </a:r>
            <a:endParaRPr lang="pt-PT" sz="2400" b="0" u="none" strike="noStrike">
              <a:solidFill>
                <a:srgbClr val="000000"/>
              </a:solidFill>
              <a:effectLst/>
              <a:uFillTx/>
              <a:latin typeface="Arial"/>
            </a:endParaRPr>
          </a:p>
        </p:txBody>
      </p:sp>
      <p:sp>
        <p:nvSpPr>
          <p:cNvPr id="148" name="Rectangle 7"/>
          <p:cNvSpPr/>
          <p:nvPr/>
        </p:nvSpPr>
        <p:spPr>
          <a:xfrm>
            <a:off x="640080" y="2432160"/>
            <a:ext cx="2514240" cy="18100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 name="TextBox 8"/>
          <p:cNvSpPr/>
          <p:nvPr/>
        </p:nvSpPr>
        <p:spPr>
          <a:xfrm>
            <a:off x="795600" y="2578680"/>
            <a:ext cx="2194200" cy="2923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500" b="1" u="none" strike="noStrike">
                <a:solidFill>
                  <a:srgbClr val="007C78"/>
                </a:solidFill>
                <a:effectLst/>
                <a:uFillTx/>
                <a:latin typeface="Arial"/>
              </a:rPr>
              <a:t>01</a:t>
            </a:r>
            <a:endParaRPr lang="pt-PT" sz="1500" b="0" u="none" strike="noStrike">
              <a:solidFill>
                <a:srgbClr val="000000"/>
              </a:solidFill>
              <a:effectLst/>
              <a:uFillTx/>
              <a:latin typeface="Arial"/>
            </a:endParaRPr>
          </a:p>
        </p:txBody>
      </p:sp>
      <p:sp>
        <p:nvSpPr>
          <p:cNvPr id="150" name="TextBox 9"/>
          <p:cNvSpPr/>
          <p:nvPr/>
        </p:nvSpPr>
        <p:spPr>
          <a:xfrm>
            <a:off x="795600" y="2953440"/>
            <a:ext cx="21942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Descobrir</a:t>
            </a:r>
            <a:endParaRPr lang="pt-PT" sz="2300" b="0" u="none" strike="noStrike">
              <a:solidFill>
                <a:srgbClr val="000000"/>
              </a:solidFill>
              <a:effectLst/>
              <a:uFillTx/>
              <a:latin typeface="Arial"/>
            </a:endParaRPr>
          </a:p>
        </p:txBody>
      </p:sp>
      <p:sp>
        <p:nvSpPr>
          <p:cNvPr id="151" name="TextBox 10"/>
          <p:cNvSpPr/>
          <p:nvPr/>
        </p:nvSpPr>
        <p:spPr>
          <a:xfrm>
            <a:off x="795600" y="3456360"/>
            <a:ext cx="2194200" cy="7311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566B6A"/>
                </a:solidFill>
                <a:effectLst/>
                <a:uFillTx/>
                <a:latin typeface="Arial"/>
              </a:rPr>
              <a:t>Literatura e modelos</a:t>
            </a:r>
            <a:endParaRPr lang="pt-PT" sz="1700" b="0" u="none" strike="noStrike">
              <a:solidFill>
                <a:srgbClr val="000000"/>
              </a:solidFill>
              <a:effectLst/>
              <a:uFillTx/>
              <a:latin typeface="Arial"/>
            </a:endParaRPr>
          </a:p>
          <a:p>
            <a:pPr defTabSz="457200">
              <a:lnSpc>
                <a:spcPct val="110000"/>
              </a:lnSpc>
              <a:spcAft>
                <a:spcPts val="700"/>
              </a:spcAft>
            </a:pPr>
            <a:r>
              <a:rPr lang="en-US" sz="1700" b="0" u="none" strike="noStrike">
                <a:solidFill>
                  <a:srgbClr val="566B6A"/>
                </a:solidFill>
                <a:effectLst/>
                <a:uFillTx/>
                <a:latin typeface="Arial"/>
              </a:rPr>
              <a:t>Necessidades</a:t>
            </a:r>
            <a:endParaRPr lang="pt-PT" sz="1700" b="0" u="none" strike="noStrike">
              <a:solidFill>
                <a:srgbClr val="000000"/>
              </a:solidFill>
              <a:effectLst/>
              <a:uFillTx/>
              <a:latin typeface="Arial"/>
            </a:endParaRPr>
          </a:p>
        </p:txBody>
      </p:sp>
      <p:sp>
        <p:nvSpPr>
          <p:cNvPr id="152" name="TextBox 11"/>
          <p:cNvSpPr/>
          <p:nvPr/>
        </p:nvSpPr>
        <p:spPr>
          <a:xfrm>
            <a:off x="3173040" y="3063240"/>
            <a:ext cx="2466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a:t>
            </a:r>
            <a:endParaRPr lang="pt-PT" sz="2400" b="0" u="none" strike="noStrike">
              <a:solidFill>
                <a:srgbClr val="000000"/>
              </a:solidFill>
              <a:effectLst/>
              <a:uFillTx/>
              <a:latin typeface="Arial"/>
            </a:endParaRPr>
          </a:p>
        </p:txBody>
      </p:sp>
      <p:sp>
        <p:nvSpPr>
          <p:cNvPr id="153" name="Rectangle 12"/>
          <p:cNvSpPr/>
          <p:nvPr/>
        </p:nvSpPr>
        <p:spPr>
          <a:xfrm>
            <a:off x="3429000" y="2432160"/>
            <a:ext cx="2514240" cy="18100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4" name="TextBox 13"/>
          <p:cNvSpPr/>
          <p:nvPr/>
        </p:nvSpPr>
        <p:spPr>
          <a:xfrm>
            <a:off x="3584520" y="2578680"/>
            <a:ext cx="2194200" cy="2923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500" b="1" u="none" strike="noStrike">
                <a:solidFill>
                  <a:srgbClr val="007C78"/>
                </a:solidFill>
                <a:effectLst/>
                <a:uFillTx/>
                <a:latin typeface="Arial"/>
              </a:rPr>
              <a:t>02</a:t>
            </a:r>
            <a:endParaRPr lang="pt-PT" sz="1500" b="0" u="none" strike="noStrike">
              <a:solidFill>
                <a:srgbClr val="000000"/>
              </a:solidFill>
              <a:effectLst/>
              <a:uFillTx/>
              <a:latin typeface="Arial"/>
            </a:endParaRPr>
          </a:p>
        </p:txBody>
      </p:sp>
      <p:sp>
        <p:nvSpPr>
          <p:cNvPr id="155" name="TextBox 14"/>
          <p:cNvSpPr/>
          <p:nvPr/>
        </p:nvSpPr>
        <p:spPr>
          <a:xfrm>
            <a:off x="3584520" y="2953440"/>
            <a:ext cx="21942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Definir</a:t>
            </a:r>
            <a:endParaRPr lang="pt-PT" sz="2300" b="0" u="none" strike="noStrike">
              <a:solidFill>
                <a:srgbClr val="000000"/>
              </a:solidFill>
              <a:effectLst/>
              <a:uFillTx/>
              <a:latin typeface="Arial"/>
            </a:endParaRPr>
          </a:p>
        </p:txBody>
      </p:sp>
      <p:sp>
        <p:nvSpPr>
          <p:cNvPr id="156" name="TextBox 15"/>
          <p:cNvSpPr/>
          <p:nvPr/>
        </p:nvSpPr>
        <p:spPr>
          <a:xfrm>
            <a:off x="3584520" y="3456360"/>
            <a:ext cx="2194200" cy="7311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566B6A"/>
                </a:solidFill>
                <a:effectLst/>
                <a:uFillTx/>
                <a:latin typeface="Arial"/>
              </a:rPr>
              <a:t>Problema e requisitos</a:t>
            </a:r>
            <a:endParaRPr lang="pt-PT" sz="1700" b="0" u="none" strike="noStrike">
              <a:solidFill>
                <a:srgbClr val="000000"/>
              </a:solidFill>
              <a:effectLst/>
              <a:uFillTx/>
              <a:latin typeface="Arial"/>
            </a:endParaRPr>
          </a:p>
          <a:p>
            <a:pPr defTabSz="457200">
              <a:lnSpc>
                <a:spcPct val="110000"/>
              </a:lnSpc>
              <a:spcAft>
                <a:spcPts val="700"/>
              </a:spcAft>
            </a:pPr>
            <a:r>
              <a:rPr lang="en-US" sz="1700" b="0" u="none" strike="noStrike">
                <a:solidFill>
                  <a:srgbClr val="566B6A"/>
                </a:solidFill>
                <a:effectLst/>
                <a:uFillTx/>
                <a:latin typeface="Arial"/>
              </a:rPr>
              <a:t>Âmbito da avaliação</a:t>
            </a:r>
            <a:endParaRPr lang="pt-PT" sz="1700" b="0" u="none" strike="noStrike">
              <a:solidFill>
                <a:srgbClr val="000000"/>
              </a:solidFill>
              <a:effectLst/>
              <a:uFillTx/>
              <a:latin typeface="Arial"/>
            </a:endParaRPr>
          </a:p>
        </p:txBody>
      </p:sp>
      <p:sp>
        <p:nvSpPr>
          <p:cNvPr id="157" name="TextBox 16"/>
          <p:cNvSpPr/>
          <p:nvPr/>
        </p:nvSpPr>
        <p:spPr>
          <a:xfrm>
            <a:off x="5961960" y="3063240"/>
            <a:ext cx="2466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a:t>
            </a:r>
            <a:endParaRPr lang="pt-PT" sz="2400" b="0" u="none" strike="noStrike">
              <a:solidFill>
                <a:srgbClr val="000000"/>
              </a:solidFill>
              <a:effectLst/>
              <a:uFillTx/>
              <a:latin typeface="Arial"/>
            </a:endParaRPr>
          </a:p>
        </p:txBody>
      </p:sp>
      <p:sp>
        <p:nvSpPr>
          <p:cNvPr id="158" name="Rectangle 17"/>
          <p:cNvSpPr/>
          <p:nvPr/>
        </p:nvSpPr>
        <p:spPr>
          <a:xfrm>
            <a:off x="6217920" y="2432160"/>
            <a:ext cx="2514240" cy="18100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9" name="TextBox 18"/>
          <p:cNvSpPr/>
          <p:nvPr/>
        </p:nvSpPr>
        <p:spPr>
          <a:xfrm>
            <a:off x="6373440" y="2578680"/>
            <a:ext cx="2194200" cy="2923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500" b="1" u="none" strike="noStrike">
                <a:solidFill>
                  <a:srgbClr val="007C78"/>
                </a:solidFill>
                <a:effectLst/>
                <a:uFillTx/>
                <a:latin typeface="Arial"/>
              </a:rPr>
              <a:t>03</a:t>
            </a:r>
            <a:endParaRPr lang="pt-PT" sz="1500" b="0" u="none" strike="noStrike">
              <a:solidFill>
                <a:srgbClr val="000000"/>
              </a:solidFill>
              <a:effectLst/>
              <a:uFillTx/>
              <a:latin typeface="Arial"/>
            </a:endParaRPr>
          </a:p>
        </p:txBody>
      </p:sp>
      <p:sp>
        <p:nvSpPr>
          <p:cNvPr id="160" name="TextBox 19"/>
          <p:cNvSpPr/>
          <p:nvPr/>
        </p:nvSpPr>
        <p:spPr>
          <a:xfrm>
            <a:off x="6373440" y="2953440"/>
            <a:ext cx="21942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Desenvolver</a:t>
            </a:r>
            <a:endParaRPr lang="pt-PT" sz="2300" b="0" u="none" strike="noStrike">
              <a:solidFill>
                <a:srgbClr val="000000"/>
              </a:solidFill>
              <a:effectLst/>
              <a:uFillTx/>
              <a:latin typeface="Arial"/>
            </a:endParaRPr>
          </a:p>
        </p:txBody>
      </p:sp>
      <p:sp>
        <p:nvSpPr>
          <p:cNvPr id="161" name="TextBox 20"/>
          <p:cNvSpPr/>
          <p:nvPr/>
        </p:nvSpPr>
        <p:spPr>
          <a:xfrm>
            <a:off x="6373440" y="3456360"/>
            <a:ext cx="2194200" cy="7311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566B6A"/>
                </a:solidFill>
                <a:effectLst/>
                <a:uFillTx/>
                <a:latin typeface="Arial"/>
              </a:rPr>
              <a:t>Modelos paramétricos</a:t>
            </a:r>
            <a:endParaRPr lang="pt-PT" sz="1700" b="0" u="none" strike="noStrike">
              <a:solidFill>
                <a:srgbClr val="000000"/>
              </a:solidFill>
              <a:effectLst/>
              <a:uFillTx/>
              <a:latin typeface="Arial"/>
            </a:endParaRPr>
          </a:p>
          <a:p>
            <a:pPr defTabSz="457200">
              <a:lnSpc>
                <a:spcPct val="110000"/>
              </a:lnSpc>
              <a:spcAft>
                <a:spcPts val="700"/>
              </a:spcAft>
            </a:pPr>
            <a:r>
              <a:rPr lang="en-US" sz="1700" b="0" u="none" strike="noStrike">
                <a:solidFill>
                  <a:srgbClr val="566B6A"/>
                </a:solidFill>
                <a:effectLst/>
                <a:uFillTx/>
                <a:latin typeface="Arial"/>
              </a:rPr>
              <a:t>Plataforma web</a:t>
            </a:r>
            <a:endParaRPr lang="pt-PT" sz="1700" b="0" u="none" strike="noStrike">
              <a:solidFill>
                <a:srgbClr val="000000"/>
              </a:solidFill>
              <a:effectLst/>
              <a:uFillTx/>
              <a:latin typeface="Arial"/>
            </a:endParaRPr>
          </a:p>
        </p:txBody>
      </p:sp>
      <p:sp>
        <p:nvSpPr>
          <p:cNvPr id="162" name="TextBox 21"/>
          <p:cNvSpPr/>
          <p:nvPr/>
        </p:nvSpPr>
        <p:spPr>
          <a:xfrm>
            <a:off x="8750880" y="3063240"/>
            <a:ext cx="2466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a:t>
            </a:r>
            <a:endParaRPr lang="pt-PT" sz="2400" b="0" u="none" strike="noStrike">
              <a:solidFill>
                <a:srgbClr val="000000"/>
              </a:solidFill>
              <a:effectLst/>
              <a:uFillTx/>
              <a:latin typeface="Arial"/>
            </a:endParaRPr>
          </a:p>
        </p:txBody>
      </p:sp>
      <p:sp>
        <p:nvSpPr>
          <p:cNvPr id="163" name="Rectangle 22"/>
          <p:cNvSpPr/>
          <p:nvPr/>
        </p:nvSpPr>
        <p:spPr>
          <a:xfrm>
            <a:off x="9006840" y="2432160"/>
            <a:ext cx="2514240" cy="18100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4" name="TextBox 23"/>
          <p:cNvSpPr/>
          <p:nvPr/>
        </p:nvSpPr>
        <p:spPr>
          <a:xfrm>
            <a:off x="9162360" y="2578680"/>
            <a:ext cx="2194200" cy="2923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500" b="1" u="none" strike="noStrike">
                <a:solidFill>
                  <a:srgbClr val="007C78"/>
                </a:solidFill>
                <a:effectLst/>
                <a:uFillTx/>
                <a:latin typeface="Arial"/>
              </a:rPr>
              <a:t>04</a:t>
            </a:r>
            <a:endParaRPr lang="pt-PT" sz="1500" b="0" u="none" strike="noStrike">
              <a:solidFill>
                <a:srgbClr val="000000"/>
              </a:solidFill>
              <a:effectLst/>
              <a:uFillTx/>
              <a:latin typeface="Arial"/>
            </a:endParaRPr>
          </a:p>
        </p:txBody>
      </p:sp>
      <p:sp>
        <p:nvSpPr>
          <p:cNvPr id="165" name="TextBox 24"/>
          <p:cNvSpPr/>
          <p:nvPr/>
        </p:nvSpPr>
        <p:spPr>
          <a:xfrm>
            <a:off x="9162360" y="2953440"/>
            <a:ext cx="21942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Entregar</a:t>
            </a:r>
            <a:endParaRPr lang="pt-PT" sz="2300" b="0" u="none" strike="noStrike">
              <a:solidFill>
                <a:srgbClr val="000000"/>
              </a:solidFill>
              <a:effectLst/>
              <a:uFillTx/>
              <a:latin typeface="Arial"/>
            </a:endParaRPr>
          </a:p>
        </p:txBody>
      </p:sp>
      <p:sp>
        <p:nvSpPr>
          <p:cNvPr id="166" name="TextBox 25"/>
          <p:cNvSpPr/>
          <p:nvPr/>
        </p:nvSpPr>
        <p:spPr>
          <a:xfrm>
            <a:off x="9162360" y="3456360"/>
            <a:ext cx="2194200" cy="7311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566B6A"/>
                </a:solidFill>
                <a:effectLst/>
                <a:uFillTx/>
                <a:latin typeface="Arial"/>
              </a:rPr>
              <a:t>Protótipos</a:t>
            </a:r>
            <a:endParaRPr lang="pt-PT" sz="1700" b="0" u="none" strike="noStrike">
              <a:solidFill>
                <a:srgbClr val="000000"/>
              </a:solidFill>
              <a:effectLst/>
              <a:uFillTx/>
              <a:latin typeface="Arial"/>
            </a:endParaRPr>
          </a:p>
          <a:p>
            <a:pPr defTabSz="457200">
              <a:lnSpc>
                <a:spcPct val="110000"/>
              </a:lnSpc>
              <a:spcAft>
                <a:spcPts val="700"/>
              </a:spcAft>
            </a:pPr>
            <a:r>
              <a:rPr lang="en-US" sz="1700" b="0" u="none" strike="noStrike">
                <a:solidFill>
                  <a:srgbClr val="566B6A"/>
                </a:solidFill>
                <a:effectLst/>
                <a:uFillTx/>
                <a:latin typeface="Arial"/>
              </a:rPr>
              <a:t>Verificação técnica</a:t>
            </a:r>
            <a:endParaRPr lang="pt-PT" sz="1700" b="0" u="none" strike="noStrike">
              <a:solidFill>
                <a:srgbClr val="000000"/>
              </a:solidFill>
              <a:effectLst/>
              <a:uFillTx/>
              <a:latin typeface="Arial"/>
            </a:endParaRPr>
          </a:p>
        </p:txBody>
      </p:sp>
      <p:sp>
        <p:nvSpPr>
          <p:cNvPr id="167" name="TextBox 26"/>
          <p:cNvSpPr/>
          <p:nvPr/>
        </p:nvSpPr>
        <p:spPr>
          <a:xfrm>
            <a:off x="822960" y="4425840"/>
            <a:ext cx="1051524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0" u="none" strike="noStrike">
                <a:solidFill>
                  <a:srgbClr val="566B6A"/>
                </a:solidFill>
                <a:effectLst/>
                <a:uFillTx/>
                <a:latin typeface="Arial"/>
              </a:rPr>
              <a:t>Os ensaios podem levar à revisão de decisões anteriores.</a:t>
            </a:r>
            <a:endParaRPr lang="pt-PT" sz="2000" b="0" u="none" strike="noStrike">
              <a:solidFill>
                <a:srgbClr val="000000"/>
              </a:solidFill>
              <a:effectLst/>
              <a:uFillTx/>
              <a:latin typeface="Arial"/>
            </a:endParaRPr>
          </a:p>
        </p:txBody>
      </p:sp>
      <p:sp>
        <p:nvSpPr>
          <p:cNvPr id="168" name="Rectangle 27"/>
          <p:cNvSpPr/>
          <p:nvPr/>
        </p:nvSpPr>
        <p:spPr>
          <a:xfrm>
            <a:off x="640080" y="4974480"/>
            <a:ext cx="10881000" cy="1096920"/>
          </a:xfrm>
          <a:prstGeom prst="rect">
            <a:avLst/>
          </a:prstGeom>
          <a:solidFill>
            <a:srgbClr val="E3EC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9" name="TextBox 28"/>
          <p:cNvSpPr/>
          <p:nvPr/>
        </p:nvSpPr>
        <p:spPr>
          <a:xfrm>
            <a:off x="850320" y="5093280"/>
            <a:ext cx="104238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Research Through Design: produzir conhecimento através do projeto</a:t>
            </a:r>
            <a:endParaRPr lang="pt-PT" sz="2200" b="0" u="none" strike="noStrike">
              <a:solidFill>
                <a:srgbClr val="000000"/>
              </a:solidFill>
              <a:effectLst/>
              <a:uFillTx/>
              <a:latin typeface="Arial"/>
            </a:endParaRPr>
          </a:p>
        </p:txBody>
      </p:sp>
      <p:sp>
        <p:nvSpPr>
          <p:cNvPr id="170" name="TextBox 29"/>
          <p:cNvSpPr/>
          <p:nvPr/>
        </p:nvSpPr>
        <p:spPr>
          <a:xfrm>
            <a:off x="850320" y="5596200"/>
            <a:ext cx="10423800" cy="3013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0" u="none" strike="noStrike">
                <a:solidFill>
                  <a:srgbClr val="193536"/>
                </a:solidFill>
                <a:effectLst/>
                <a:uFillTx/>
                <a:latin typeface="Arial"/>
              </a:rPr>
              <a:t>Problema observado → decisão → protótipo → ensaio → reflexão e alteração</a:t>
            </a:r>
            <a:endParaRPr lang="pt-PT"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71"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FERRAMENTAS DE APOIO E OBJETO DE ESTUDO</a:t>
            </a:r>
            <a:endParaRPr lang="pt-PT" sz="1100" b="0" u="none" strike="noStrike">
              <a:solidFill>
                <a:srgbClr val="000000"/>
              </a:solidFill>
              <a:effectLst/>
              <a:uFillTx/>
              <a:latin typeface="Arial"/>
            </a:endParaRPr>
          </a:p>
        </p:txBody>
      </p:sp>
      <p:sp>
        <p:nvSpPr>
          <p:cNvPr id="173"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Como integrei a IA na investigação</a:t>
            </a:r>
            <a:endParaRPr lang="pt-PT" sz="3200" b="0" u="none" strike="noStrike">
              <a:solidFill>
                <a:srgbClr val="000000"/>
              </a:solidFill>
              <a:effectLst/>
              <a:uFillTx/>
              <a:latin typeface="Arial"/>
            </a:endParaRPr>
          </a:p>
        </p:txBody>
      </p:sp>
      <p:sp>
        <p:nvSpPr>
          <p:cNvPr id="174"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Declaração de utilização de IA e capítulo 6 · Registos locais da pesquisa bibliográfica e do desenvolvimento.</a:t>
            </a:r>
            <a:endParaRPr lang="pt-PT" sz="1000" b="0" u="none" strike="noStrike">
              <a:solidFill>
                <a:srgbClr val="000000"/>
              </a:solidFill>
              <a:effectLst/>
              <a:uFillTx/>
              <a:latin typeface="Arial"/>
            </a:endParaRPr>
          </a:p>
        </p:txBody>
      </p:sp>
      <p:sp>
        <p:nvSpPr>
          <p:cNvPr id="175"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07</a:t>
            </a:r>
            <a:endParaRPr lang="pt-PT" sz="1100" b="0" u="none" strike="noStrike">
              <a:solidFill>
                <a:srgbClr val="000000"/>
              </a:solidFill>
              <a:effectLst/>
              <a:uFillTx/>
              <a:latin typeface="Arial"/>
            </a:endParaRPr>
          </a:p>
        </p:txBody>
      </p:sp>
      <p:sp>
        <p:nvSpPr>
          <p:cNvPr id="176" name="Rectangle 6"/>
          <p:cNvSpPr/>
          <p:nvPr/>
        </p:nvSpPr>
        <p:spPr>
          <a:xfrm>
            <a:off x="640080" y="1847160"/>
            <a:ext cx="5303160" cy="3328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7" name="TextBox 7"/>
          <p:cNvSpPr/>
          <p:nvPr/>
        </p:nvSpPr>
        <p:spPr>
          <a:xfrm>
            <a:off x="868680" y="2030040"/>
            <a:ext cx="484596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No trabalho de investigação</a:t>
            </a:r>
            <a:endParaRPr lang="pt-PT" sz="2400" b="0" u="none" strike="noStrike">
              <a:solidFill>
                <a:srgbClr val="000000"/>
              </a:solidFill>
              <a:effectLst/>
              <a:uFillTx/>
              <a:latin typeface="Arial"/>
            </a:endParaRPr>
          </a:p>
        </p:txBody>
      </p:sp>
      <p:sp>
        <p:nvSpPr>
          <p:cNvPr id="178" name="TextBox 8"/>
          <p:cNvSpPr/>
          <p:nvPr/>
        </p:nvSpPr>
        <p:spPr>
          <a:xfrm>
            <a:off x="868680" y="2688480"/>
            <a:ext cx="484596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Elicit</a:t>
            </a:r>
            <a:endParaRPr lang="pt-PT" sz="2100" b="0" u="none" strike="noStrike">
              <a:solidFill>
                <a:srgbClr val="000000"/>
              </a:solidFill>
              <a:effectLst/>
              <a:uFillTx/>
              <a:latin typeface="Arial"/>
            </a:endParaRPr>
          </a:p>
          <a:p>
            <a:pPr defTabSz="457200">
              <a:lnSpc>
                <a:spcPct val="110000"/>
              </a:lnSpc>
              <a:spcAft>
                <a:spcPts val="700"/>
              </a:spcAft>
            </a:pPr>
            <a:r>
              <a:rPr lang="en-US" sz="2100" b="1" u="none" strike="noStrike">
                <a:solidFill>
                  <a:srgbClr val="193536"/>
                </a:solidFill>
                <a:effectLst/>
                <a:uFillTx/>
                <a:latin typeface="Arial"/>
              </a:rPr>
              <a:t>Pesquisa e agregação de bibliografia</a:t>
            </a:r>
            <a:endParaRPr lang="pt-PT" sz="2100" b="0" u="none" strike="noStrike">
              <a:solidFill>
                <a:srgbClr val="000000"/>
              </a:solidFill>
              <a:effectLst/>
              <a:uFillTx/>
              <a:latin typeface="Arial"/>
            </a:endParaRPr>
          </a:p>
        </p:txBody>
      </p:sp>
      <p:sp>
        <p:nvSpPr>
          <p:cNvPr id="179" name="TextBox 9"/>
          <p:cNvSpPr/>
          <p:nvPr/>
        </p:nvSpPr>
        <p:spPr>
          <a:xfrm>
            <a:off x="868680" y="3785760"/>
            <a:ext cx="4845960" cy="1051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0" u="none" strike="noStrike">
                <a:solidFill>
                  <a:srgbClr val="566B6A"/>
                </a:solidFill>
                <a:effectLst/>
                <a:uFillTx/>
                <a:latin typeface="Arial"/>
              </a:rPr>
              <a:t>ChatGPT, Codex e Claude</a:t>
            </a:r>
            <a:endParaRPr lang="pt-PT" sz="2000" b="0" u="none" strike="noStrike">
              <a:solidFill>
                <a:srgbClr val="000000"/>
              </a:solidFill>
              <a:effectLst/>
              <a:uFillTx/>
              <a:latin typeface="Arial"/>
            </a:endParaRPr>
          </a:p>
          <a:p>
            <a:pPr defTabSz="457200">
              <a:lnSpc>
                <a:spcPct val="110000"/>
              </a:lnSpc>
              <a:spcAft>
                <a:spcPts val="700"/>
              </a:spcAft>
            </a:pPr>
            <a:r>
              <a:rPr lang="en-US" sz="2000" b="0" u="none" strike="noStrike">
                <a:solidFill>
                  <a:srgbClr val="566B6A"/>
                </a:solidFill>
                <a:effectLst/>
                <a:uFillTx/>
                <a:latin typeface="Arial"/>
              </a:rPr>
              <a:t>Apoio à organização, redação, revisão</a:t>
            </a:r>
            <a:endParaRPr lang="pt-PT" sz="2000" b="0" u="none" strike="noStrike">
              <a:solidFill>
                <a:srgbClr val="000000"/>
              </a:solidFill>
              <a:effectLst/>
              <a:uFillTx/>
              <a:latin typeface="Arial"/>
            </a:endParaRPr>
          </a:p>
          <a:p>
            <a:pPr defTabSz="457200">
              <a:lnSpc>
                <a:spcPct val="110000"/>
              </a:lnSpc>
              <a:spcAft>
                <a:spcPts val="700"/>
              </a:spcAft>
            </a:pPr>
            <a:r>
              <a:rPr lang="en-US" sz="2000" b="0" u="none" strike="noStrike">
                <a:solidFill>
                  <a:srgbClr val="566B6A"/>
                </a:solidFill>
                <a:effectLst/>
                <a:uFillTx/>
                <a:latin typeface="Arial"/>
              </a:rPr>
              <a:t>e desenvolvimento do código</a:t>
            </a:r>
            <a:endParaRPr lang="pt-PT" sz="2000" b="0" u="none" strike="noStrike">
              <a:solidFill>
                <a:srgbClr val="000000"/>
              </a:solidFill>
              <a:effectLst/>
              <a:uFillTx/>
              <a:latin typeface="Arial"/>
            </a:endParaRPr>
          </a:p>
        </p:txBody>
      </p:sp>
      <p:sp>
        <p:nvSpPr>
          <p:cNvPr id="180" name="Rectangle 10"/>
          <p:cNvSpPr/>
          <p:nvPr/>
        </p:nvSpPr>
        <p:spPr>
          <a:xfrm>
            <a:off x="6217920" y="1847160"/>
            <a:ext cx="5303160" cy="3328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1" name="TextBox 11"/>
          <p:cNvSpPr/>
          <p:nvPr/>
        </p:nvSpPr>
        <p:spPr>
          <a:xfrm>
            <a:off x="6446520" y="2030040"/>
            <a:ext cx="484596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Dentro do HandFab</a:t>
            </a:r>
            <a:endParaRPr lang="pt-PT" sz="2400" b="0" u="none" strike="noStrike">
              <a:solidFill>
                <a:srgbClr val="000000"/>
              </a:solidFill>
              <a:effectLst/>
              <a:uFillTx/>
              <a:latin typeface="Arial"/>
            </a:endParaRPr>
          </a:p>
        </p:txBody>
      </p:sp>
      <p:sp>
        <p:nvSpPr>
          <p:cNvPr id="182" name="TextBox 12"/>
          <p:cNvSpPr/>
          <p:nvPr/>
        </p:nvSpPr>
        <p:spPr>
          <a:xfrm>
            <a:off x="6446520" y="2688480"/>
            <a:ext cx="484596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Sugestões iniciais</a:t>
            </a:r>
            <a:endParaRPr lang="pt-PT" sz="2100" b="0" u="none" strike="noStrike">
              <a:solidFill>
                <a:srgbClr val="000000"/>
              </a:solidFill>
              <a:effectLst/>
              <a:uFillTx/>
              <a:latin typeface="Arial"/>
            </a:endParaRPr>
          </a:p>
          <a:p>
            <a:pPr defTabSz="457200">
              <a:lnSpc>
                <a:spcPct val="110000"/>
              </a:lnSpc>
              <a:spcAft>
                <a:spcPts val="700"/>
              </a:spcAft>
            </a:pPr>
            <a:r>
              <a:rPr lang="en-US" sz="2100" b="1" u="none" strike="noStrike">
                <a:solidFill>
                  <a:srgbClr val="193536"/>
                </a:solidFill>
                <a:effectLst/>
                <a:uFillTx/>
                <a:latin typeface="Arial"/>
              </a:rPr>
              <a:t>Valores para parâmetros existentes</a:t>
            </a:r>
            <a:endParaRPr lang="pt-PT" sz="2100" b="0" u="none" strike="noStrike">
              <a:solidFill>
                <a:srgbClr val="000000"/>
              </a:solidFill>
              <a:effectLst/>
              <a:uFillTx/>
              <a:latin typeface="Arial"/>
            </a:endParaRPr>
          </a:p>
        </p:txBody>
      </p:sp>
      <p:sp>
        <p:nvSpPr>
          <p:cNvPr id="183" name="TextBox 13"/>
          <p:cNvSpPr/>
          <p:nvPr/>
        </p:nvSpPr>
        <p:spPr>
          <a:xfrm>
            <a:off x="6446520" y="3785760"/>
            <a:ext cx="4845960" cy="1051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0" u="none" strike="noStrike">
                <a:solidFill>
                  <a:srgbClr val="566B6A"/>
                </a:solidFill>
                <a:effectLst/>
                <a:uFillTx/>
                <a:latin typeface="Arial"/>
              </a:rPr>
              <a:t>Revisão das propostas</a:t>
            </a:r>
            <a:endParaRPr lang="pt-PT" sz="2000" b="0" u="none" strike="noStrike">
              <a:solidFill>
                <a:srgbClr val="000000"/>
              </a:solidFill>
              <a:effectLst/>
              <a:uFillTx/>
              <a:latin typeface="Arial"/>
            </a:endParaRPr>
          </a:p>
          <a:p>
            <a:pPr defTabSz="457200">
              <a:lnSpc>
                <a:spcPct val="110000"/>
              </a:lnSpc>
              <a:spcAft>
                <a:spcPts val="700"/>
              </a:spcAft>
            </a:pPr>
            <a:r>
              <a:rPr lang="en-US" sz="2000" b="0" u="none" strike="noStrike">
                <a:solidFill>
                  <a:srgbClr val="566B6A"/>
                </a:solidFill>
                <a:effectLst/>
                <a:uFillTx/>
                <a:latin typeface="Arial"/>
              </a:rPr>
              <a:t>Aplicação de regras geométricas</a:t>
            </a:r>
            <a:endParaRPr lang="pt-PT" sz="2000" b="0" u="none" strike="noStrike">
              <a:solidFill>
                <a:srgbClr val="000000"/>
              </a:solidFill>
              <a:effectLst/>
              <a:uFillTx/>
              <a:latin typeface="Arial"/>
            </a:endParaRPr>
          </a:p>
          <a:p>
            <a:pPr defTabSz="457200">
              <a:lnSpc>
                <a:spcPct val="110000"/>
              </a:lnSpc>
              <a:spcAft>
                <a:spcPts val="700"/>
              </a:spcAft>
            </a:pPr>
            <a:r>
              <a:rPr lang="en-US" sz="2000" b="0" u="none" strike="noStrike">
                <a:solidFill>
                  <a:srgbClr val="566B6A"/>
                </a:solidFill>
                <a:effectLst/>
                <a:uFillTx/>
                <a:latin typeface="Arial"/>
              </a:rPr>
              <a:t>Verificação dos efeitos na peça</a:t>
            </a:r>
            <a:endParaRPr lang="pt-PT" sz="2000" b="0" u="none" strike="noStrike">
              <a:solidFill>
                <a:srgbClr val="000000"/>
              </a:solidFill>
              <a:effectLst/>
              <a:uFillTx/>
              <a:latin typeface="Arial"/>
            </a:endParaRPr>
          </a:p>
        </p:txBody>
      </p:sp>
      <p:sp>
        <p:nvSpPr>
          <p:cNvPr id="184" name="TextBox 14"/>
          <p:cNvSpPr/>
          <p:nvPr/>
        </p:nvSpPr>
        <p:spPr>
          <a:xfrm>
            <a:off x="859680" y="5349240"/>
            <a:ext cx="1042380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O investigador seleciona as fontes, verifica os resultados</a:t>
            </a:r>
            <a:endParaRPr lang="pt-PT" sz="2200" b="0" u="none" strike="noStrike">
              <a:solidFill>
                <a:srgbClr val="000000"/>
              </a:solidFill>
              <a:effectLst/>
              <a:uFillTx/>
              <a:latin typeface="Arial"/>
            </a:endParaRPr>
          </a:p>
          <a:p>
            <a:pPr defTabSz="457200">
              <a:lnSpc>
                <a:spcPct val="110000"/>
              </a:lnSpc>
              <a:spcAft>
                <a:spcPts val="700"/>
              </a:spcAft>
            </a:pPr>
            <a:r>
              <a:rPr lang="en-US" sz="2200" b="1" u="none" strike="noStrike">
                <a:solidFill>
                  <a:srgbClr val="007C78"/>
                </a:solidFill>
                <a:effectLst/>
                <a:uFillTx/>
                <a:latin typeface="Arial"/>
              </a:rPr>
              <a:t>e assume a responsabilidade pelas decisões.</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85"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6"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PESQUISA E REVISÃO DA LITERATURA</a:t>
            </a:r>
            <a:endParaRPr lang="pt-PT" sz="1100" b="0" u="none" strike="noStrike">
              <a:solidFill>
                <a:srgbClr val="000000"/>
              </a:solidFill>
              <a:effectLst/>
              <a:uFillTx/>
              <a:latin typeface="Arial"/>
            </a:endParaRPr>
          </a:p>
        </p:txBody>
      </p:sp>
      <p:sp>
        <p:nvSpPr>
          <p:cNvPr id="187"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Elicit: da pergunta à bibliografia organizada</a:t>
            </a:r>
            <a:endParaRPr lang="pt-PT" sz="3200" b="0" u="none" strike="noStrike">
              <a:solidFill>
                <a:srgbClr val="000000"/>
              </a:solidFill>
              <a:effectLst/>
              <a:uFillTx/>
              <a:latin typeface="Arial"/>
            </a:endParaRPr>
          </a:p>
        </p:txBody>
      </p:sp>
      <p:sp>
        <p:nvSpPr>
          <p:cNvPr id="188"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Registos Elicit: pesquisas, relatórios e sessões por secção · Exemplo documentado no pacote da secção 6.1.</a:t>
            </a:r>
            <a:endParaRPr lang="pt-PT" sz="1000" b="0" u="none" strike="noStrike">
              <a:solidFill>
                <a:srgbClr val="000000"/>
              </a:solidFill>
              <a:effectLst/>
              <a:uFillTx/>
              <a:latin typeface="Arial"/>
            </a:endParaRPr>
          </a:p>
        </p:txBody>
      </p:sp>
      <p:sp>
        <p:nvSpPr>
          <p:cNvPr id="189"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08</a:t>
            </a:r>
            <a:endParaRPr lang="pt-PT" sz="1100" b="0" u="none" strike="noStrike">
              <a:solidFill>
                <a:srgbClr val="000000"/>
              </a:solidFill>
              <a:effectLst/>
              <a:uFillTx/>
              <a:latin typeface="Arial"/>
            </a:endParaRPr>
          </a:p>
        </p:txBody>
      </p:sp>
      <p:sp>
        <p:nvSpPr>
          <p:cNvPr id="190" name="Rectangle 6"/>
          <p:cNvSpPr/>
          <p:nvPr/>
        </p:nvSpPr>
        <p:spPr>
          <a:xfrm>
            <a:off x="640080" y="1929240"/>
            <a:ext cx="1992960" cy="19472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1" name="TextBox 7"/>
          <p:cNvSpPr/>
          <p:nvPr/>
        </p:nvSpPr>
        <p:spPr>
          <a:xfrm>
            <a:off x="786240" y="2075760"/>
            <a:ext cx="170028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1" u="none" strike="noStrike">
                <a:solidFill>
                  <a:srgbClr val="007C78"/>
                </a:solidFill>
                <a:effectLst/>
                <a:uFillTx/>
                <a:latin typeface="Arial"/>
              </a:rPr>
              <a:t>01</a:t>
            </a:r>
            <a:endParaRPr lang="pt-PT" sz="1700" b="0" u="none" strike="noStrike">
              <a:solidFill>
                <a:srgbClr val="000000"/>
              </a:solidFill>
              <a:effectLst/>
              <a:uFillTx/>
              <a:latin typeface="Arial"/>
            </a:endParaRPr>
          </a:p>
        </p:txBody>
      </p:sp>
      <p:sp>
        <p:nvSpPr>
          <p:cNvPr id="192" name="TextBox 8"/>
          <p:cNvSpPr/>
          <p:nvPr/>
        </p:nvSpPr>
        <p:spPr>
          <a:xfrm>
            <a:off x="786240" y="2541960"/>
            <a:ext cx="170028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Perguntar</a:t>
            </a:r>
            <a:endParaRPr lang="pt-PT" sz="2100" b="0" u="none" strike="noStrike">
              <a:solidFill>
                <a:srgbClr val="000000"/>
              </a:solidFill>
              <a:effectLst/>
              <a:uFillTx/>
              <a:latin typeface="Arial"/>
            </a:endParaRPr>
          </a:p>
        </p:txBody>
      </p:sp>
      <p:sp>
        <p:nvSpPr>
          <p:cNvPr id="193" name="TextBox 9"/>
          <p:cNvSpPr/>
          <p:nvPr/>
        </p:nvSpPr>
        <p:spPr>
          <a:xfrm>
            <a:off x="786240" y="3081600"/>
            <a:ext cx="1700280" cy="6670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0" u="none" strike="noStrike">
                <a:solidFill>
                  <a:srgbClr val="566B6A"/>
                </a:solidFill>
                <a:effectLst/>
                <a:uFillTx/>
                <a:latin typeface="Arial"/>
              </a:rPr>
              <a:t>Delimitar o tema</a:t>
            </a:r>
            <a:endParaRPr lang="pt-PT" sz="1600" b="0" u="none" strike="noStrike">
              <a:solidFill>
                <a:srgbClr val="000000"/>
              </a:solidFill>
              <a:effectLst/>
              <a:uFillTx/>
              <a:latin typeface="Arial"/>
            </a:endParaRPr>
          </a:p>
          <a:p>
            <a:pPr defTabSz="457200">
              <a:lnSpc>
                <a:spcPct val="110000"/>
              </a:lnSpc>
              <a:spcAft>
                <a:spcPts val="700"/>
              </a:spcAft>
            </a:pPr>
            <a:r>
              <a:rPr lang="en-US" sz="1600" b="0" u="none" strike="noStrike">
                <a:solidFill>
                  <a:srgbClr val="566B6A"/>
                </a:solidFill>
                <a:effectLst/>
                <a:uFillTx/>
                <a:latin typeface="Arial"/>
              </a:rPr>
              <a:t>e a secção</a:t>
            </a:r>
            <a:endParaRPr lang="pt-PT" sz="1600" b="0" u="none" strike="noStrike">
              <a:solidFill>
                <a:srgbClr val="000000"/>
              </a:solidFill>
              <a:effectLst/>
              <a:uFillTx/>
              <a:latin typeface="Arial"/>
            </a:endParaRPr>
          </a:p>
        </p:txBody>
      </p:sp>
      <p:sp>
        <p:nvSpPr>
          <p:cNvPr id="194" name="TextBox 10"/>
          <p:cNvSpPr/>
          <p:nvPr/>
        </p:nvSpPr>
        <p:spPr>
          <a:xfrm>
            <a:off x="2633400" y="2615040"/>
            <a:ext cx="22824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a:t>
            </a:r>
            <a:endParaRPr lang="pt-PT" sz="2300" b="0" u="none" strike="noStrike">
              <a:solidFill>
                <a:srgbClr val="000000"/>
              </a:solidFill>
              <a:effectLst/>
              <a:uFillTx/>
              <a:latin typeface="Arial"/>
            </a:endParaRPr>
          </a:p>
        </p:txBody>
      </p:sp>
      <p:sp>
        <p:nvSpPr>
          <p:cNvPr id="195" name="Rectangle 11"/>
          <p:cNvSpPr/>
          <p:nvPr/>
        </p:nvSpPr>
        <p:spPr>
          <a:xfrm>
            <a:off x="2862000" y="1929240"/>
            <a:ext cx="1992960" cy="19472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TextBox 12"/>
          <p:cNvSpPr/>
          <p:nvPr/>
        </p:nvSpPr>
        <p:spPr>
          <a:xfrm>
            <a:off x="3008520" y="2075760"/>
            <a:ext cx="170028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1" u="none" strike="noStrike">
                <a:solidFill>
                  <a:srgbClr val="007C78"/>
                </a:solidFill>
                <a:effectLst/>
                <a:uFillTx/>
                <a:latin typeface="Arial"/>
              </a:rPr>
              <a:t>02</a:t>
            </a:r>
            <a:endParaRPr lang="pt-PT" sz="1700" b="0" u="none" strike="noStrike">
              <a:solidFill>
                <a:srgbClr val="000000"/>
              </a:solidFill>
              <a:effectLst/>
              <a:uFillTx/>
              <a:latin typeface="Arial"/>
            </a:endParaRPr>
          </a:p>
        </p:txBody>
      </p:sp>
      <p:sp>
        <p:nvSpPr>
          <p:cNvPr id="197" name="TextBox 13"/>
          <p:cNvSpPr/>
          <p:nvPr/>
        </p:nvSpPr>
        <p:spPr>
          <a:xfrm>
            <a:off x="3008520" y="2541960"/>
            <a:ext cx="170028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Pesquisar</a:t>
            </a:r>
            <a:endParaRPr lang="pt-PT" sz="2100" b="0" u="none" strike="noStrike">
              <a:solidFill>
                <a:srgbClr val="000000"/>
              </a:solidFill>
              <a:effectLst/>
              <a:uFillTx/>
              <a:latin typeface="Arial"/>
            </a:endParaRPr>
          </a:p>
        </p:txBody>
      </p:sp>
      <p:sp>
        <p:nvSpPr>
          <p:cNvPr id="198" name="TextBox 14"/>
          <p:cNvSpPr/>
          <p:nvPr/>
        </p:nvSpPr>
        <p:spPr>
          <a:xfrm>
            <a:off x="3008520" y="3081600"/>
            <a:ext cx="1700280" cy="6670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0" u="none" strike="noStrike">
                <a:solidFill>
                  <a:srgbClr val="566B6A"/>
                </a:solidFill>
                <a:effectLst/>
                <a:uFillTx/>
                <a:latin typeface="Arial"/>
              </a:rPr>
              <a:t>Localizar estudos</a:t>
            </a:r>
            <a:endParaRPr lang="pt-PT" sz="1600" b="0" u="none" strike="noStrike">
              <a:solidFill>
                <a:srgbClr val="000000"/>
              </a:solidFill>
              <a:effectLst/>
              <a:uFillTx/>
              <a:latin typeface="Arial"/>
            </a:endParaRPr>
          </a:p>
          <a:p>
            <a:pPr defTabSz="457200">
              <a:lnSpc>
                <a:spcPct val="110000"/>
              </a:lnSpc>
              <a:spcAft>
                <a:spcPts val="700"/>
              </a:spcAft>
            </a:pPr>
            <a:r>
              <a:rPr lang="en-US" sz="1600" b="0" u="none" strike="noStrike">
                <a:solidFill>
                  <a:srgbClr val="566B6A"/>
                </a:solidFill>
                <a:effectLst/>
                <a:uFillTx/>
                <a:latin typeface="Arial"/>
              </a:rPr>
              <a:t>com o Elicit</a:t>
            </a:r>
            <a:endParaRPr lang="pt-PT" sz="1600" b="0" u="none" strike="noStrike">
              <a:solidFill>
                <a:srgbClr val="000000"/>
              </a:solidFill>
              <a:effectLst/>
              <a:uFillTx/>
              <a:latin typeface="Arial"/>
            </a:endParaRPr>
          </a:p>
        </p:txBody>
      </p:sp>
      <p:sp>
        <p:nvSpPr>
          <p:cNvPr id="199" name="TextBox 15"/>
          <p:cNvSpPr/>
          <p:nvPr/>
        </p:nvSpPr>
        <p:spPr>
          <a:xfrm>
            <a:off x="4855320" y="2615040"/>
            <a:ext cx="22824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a:t>
            </a:r>
            <a:endParaRPr lang="pt-PT" sz="2300" b="0" u="none" strike="noStrike">
              <a:solidFill>
                <a:srgbClr val="000000"/>
              </a:solidFill>
              <a:effectLst/>
              <a:uFillTx/>
              <a:latin typeface="Arial"/>
            </a:endParaRPr>
          </a:p>
        </p:txBody>
      </p:sp>
      <p:sp>
        <p:nvSpPr>
          <p:cNvPr id="200" name="Rectangle 16"/>
          <p:cNvSpPr/>
          <p:nvPr/>
        </p:nvSpPr>
        <p:spPr>
          <a:xfrm>
            <a:off x="5083920" y="1929240"/>
            <a:ext cx="1992960" cy="19472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1" name="TextBox 17"/>
          <p:cNvSpPr/>
          <p:nvPr/>
        </p:nvSpPr>
        <p:spPr>
          <a:xfrm>
            <a:off x="5230440" y="2075760"/>
            <a:ext cx="170028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1" u="none" strike="noStrike">
                <a:solidFill>
                  <a:srgbClr val="007C78"/>
                </a:solidFill>
                <a:effectLst/>
                <a:uFillTx/>
                <a:latin typeface="Arial"/>
              </a:rPr>
              <a:t>03</a:t>
            </a:r>
            <a:endParaRPr lang="pt-PT" sz="1700" b="0" u="none" strike="noStrike">
              <a:solidFill>
                <a:srgbClr val="000000"/>
              </a:solidFill>
              <a:effectLst/>
              <a:uFillTx/>
              <a:latin typeface="Arial"/>
            </a:endParaRPr>
          </a:p>
        </p:txBody>
      </p:sp>
      <p:sp>
        <p:nvSpPr>
          <p:cNvPr id="202" name="TextBox 18"/>
          <p:cNvSpPr/>
          <p:nvPr/>
        </p:nvSpPr>
        <p:spPr>
          <a:xfrm>
            <a:off x="5230440" y="2541960"/>
            <a:ext cx="170028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Agregar</a:t>
            </a:r>
            <a:endParaRPr lang="pt-PT" sz="2100" b="0" u="none" strike="noStrike">
              <a:solidFill>
                <a:srgbClr val="000000"/>
              </a:solidFill>
              <a:effectLst/>
              <a:uFillTx/>
              <a:latin typeface="Arial"/>
            </a:endParaRPr>
          </a:p>
        </p:txBody>
      </p:sp>
      <p:sp>
        <p:nvSpPr>
          <p:cNvPr id="203" name="TextBox 19"/>
          <p:cNvSpPr/>
          <p:nvPr/>
        </p:nvSpPr>
        <p:spPr>
          <a:xfrm>
            <a:off x="5230440" y="3081600"/>
            <a:ext cx="1700280" cy="6670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0" u="none" strike="noStrike">
                <a:solidFill>
                  <a:srgbClr val="566B6A"/>
                </a:solidFill>
                <a:effectLst/>
                <a:uFillTx/>
                <a:latin typeface="Arial"/>
              </a:rPr>
              <a:t>Referências e</a:t>
            </a:r>
            <a:endParaRPr lang="pt-PT" sz="1600" b="0" u="none" strike="noStrike">
              <a:solidFill>
                <a:srgbClr val="000000"/>
              </a:solidFill>
              <a:effectLst/>
              <a:uFillTx/>
              <a:latin typeface="Arial"/>
            </a:endParaRPr>
          </a:p>
          <a:p>
            <a:pPr defTabSz="457200">
              <a:lnSpc>
                <a:spcPct val="110000"/>
              </a:lnSpc>
              <a:spcAft>
                <a:spcPts val="700"/>
              </a:spcAft>
            </a:pPr>
            <a:r>
              <a:rPr lang="en-US" sz="1600" b="0" u="none" strike="noStrike">
                <a:solidFill>
                  <a:srgbClr val="566B6A"/>
                </a:solidFill>
                <a:effectLst/>
                <a:uFillTx/>
                <a:latin typeface="Arial"/>
              </a:rPr>
              <a:t>sínteses temáticas</a:t>
            </a:r>
            <a:endParaRPr lang="pt-PT" sz="1600" b="0" u="none" strike="noStrike">
              <a:solidFill>
                <a:srgbClr val="000000"/>
              </a:solidFill>
              <a:effectLst/>
              <a:uFillTx/>
              <a:latin typeface="Arial"/>
            </a:endParaRPr>
          </a:p>
        </p:txBody>
      </p:sp>
      <p:sp>
        <p:nvSpPr>
          <p:cNvPr id="204" name="TextBox 20"/>
          <p:cNvSpPr/>
          <p:nvPr/>
        </p:nvSpPr>
        <p:spPr>
          <a:xfrm>
            <a:off x="7077600" y="2615040"/>
            <a:ext cx="22824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a:t>
            </a:r>
            <a:endParaRPr lang="pt-PT" sz="2300" b="0" u="none" strike="noStrike">
              <a:solidFill>
                <a:srgbClr val="000000"/>
              </a:solidFill>
              <a:effectLst/>
              <a:uFillTx/>
              <a:latin typeface="Arial"/>
            </a:endParaRPr>
          </a:p>
        </p:txBody>
      </p:sp>
      <p:sp>
        <p:nvSpPr>
          <p:cNvPr id="205" name="Rectangle 21"/>
          <p:cNvSpPr/>
          <p:nvPr/>
        </p:nvSpPr>
        <p:spPr>
          <a:xfrm>
            <a:off x="7306200" y="1929240"/>
            <a:ext cx="1992960" cy="1947240"/>
          </a:xfrm>
          <a:prstGeom prst="rect">
            <a:avLst/>
          </a:prstGeom>
          <a:solidFill>
            <a:srgbClr val="E3EC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6" name="TextBox 22"/>
          <p:cNvSpPr/>
          <p:nvPr/>
        </p:nvSpPr>
        <p:spPr>
          <a:xfrm>
            <a:off x="7452360" y="2075760"/>
            <a:ext cx="170028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1" u="none" strike="noStrike">
                <a:solidFill>
                  <a:srgbClr val="007C78"/>
                </a:solidFill>
                <a:effectLst/>
                <a:uFillTx/>
                <a:latin typeface="Arial"/>
              </a:rPr>
              <a:t>04</a:t>
            </a:r>
            <a:endParaRPr lang="pt-PT" sz="1700" b="0" u="none" strike="noStrike">
              <a:solidFill>
                <a:srgbClr val="000000"/>
              </a:solidFill>
              <a:effectLst/>
              <a:uFillTx/>
              <a:latin typeface="Arial"/>
            </a:endParaRPr>
          </a:p>
        </p:txBody>
      </p:sp>
      <p:sp>
        <p:nvSpPr>
          <p:cNvPr id="207" name="TextBox 23"/>
          <p:cNvSpPr/>
          <p:nvPr/>
        </p:nvSpPr>
        <p:spPr>
          <a:xfrm>
            <a:off x="7452360" y="2541960"/>
            <a:ext cx="170028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Verificar</a:t>
            </a:r>
            <a:endParaRPr lang="pt-PT" sz="2100" b="0" u="none" strike="noStrike">
              <a:solidFill>
                <a:srgbClr val="000000"/>
              </a:solidFill>
              <a:effectLst/>
              <a:uFillTx/>
              <a:latin typeface="Arial"/>
            </a:endParaRPr>
          </a:p>
        </p:txBody>
      </p:sp>
      <p:sp>
        <p:nvSpPr>
          <p:cNvPr id="208" name="TextBox 24"/>
          <p:cNvSpPr/>
          <p:nvPr/>
        </p:nvSpPr>
        <p:spPr>
          <a:xfrm>
            <a:off x="7452360" y="3081600"/>
            <a:ext cx="1700280" cy="6670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0" u="none" strike="noStrike">
                <a:solidFill>
                  <a:srgbClr val="566B6A"/>
                </a:solidFill>
                <a:effectLst/>
                <a:uFillTx/>
                <a:latin typeface="Arial"/>
              </a:rPr>
              <a:t>Consultar originais</a:t>
            </a:r>
            <a:endParaRPr lang="pt-PT" sz="1600" b="0" u="none" strike="noStrike">
              <a:solidFill>
                <a:srgbClr val="000000"/>
              </a:solidFill>
              <a:effectLst/>
              <a:uFillTx/>
              <a:latin typeface="Arial"/>
            </a:endParaRPr>
          </a:p>
          <a:p>
            <a:pPr defTabSz="457200">
              <a:lnSpc>
                <a:spcPct val="110000"/>
              </a:lnSpc>
              <a:spcAft>
                <a:spcPts val="700"/>
              </a:spcAft>
            </a:pPr>
            <a:r>
              <a:rPr lang="en-US" sz="1600" b="0" u="none" strike="noStrike">
                <a:solidFill>
                  <a:srgbClr val="566B6A"/>
                </a:solidFill>
                <a:effectLst/>
                <a:uFillTx/>
                <a:latin typeface="Arial"/>
              </a:rPr>
              <a:t>Avaliar pertinência</a:t>
            </a:r>
            <a:endParaRPr lang="pt-PT" sz="1600" b="0" u="none" strike="noStrike">
              <a:solidFill>
                <a:srgbClr val="000000"/>
              </a:solidFill>
              <a:effectLst/>
              <a:uFillTx/>
              <a:latin typeface="Arial"/>
            </a:endParaRPr>
          </a:p>
        </p:txBody>
      </p:sp>
      <p:sp>
        <p:nvSpPr>
          <p:cNvPr id="209" name="TextBox 25"/>
          <p:cNvSpPr/>
          <p:nvPr/>
        </p:nvSpPr>
        <p:spPr>
          <a:xfrm>
            <a:off x="9299520" y="2615040"/>
            <a:ext cx="22824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a:t>
            </a:r>
            <a:endParaRPr lang="pt-PT" sz="2300" b="0" u="none" strike="noStrike">
              <a:solidFill>
                <a:srgbClr val="000000"/>
              </a:solidFill>
              <a:effectLst/>
              <a:uFillTx/>
              <a:latin typeface="Arial"/>
            </a:endParaRPr>
          </a:p>
        </p:txBody>
      </p:sp>
      <p:sp>
        <p:nvSpPr>
          <p:cNvPr id="210" name="Rectangle 26"/>
          <p:cNvSpPr/>
          <p:nvPr/>
        </p:nvSpPr>
        <p:spPr>
          <a:xfrm>
            <a:off x="9528120" y="1929240"/>
            <a:ext cx="1992960" cy="19472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1" name="TextBox 27"/>
          <p:cNvSpPr/>
          <p:nvPr/>
        </p:nvSpPr>
        <p:spPr>
          <a:xfrm>
            <a:off x="9674280" y="2075760"/>
            <a:ext cx="170028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1" u="none" strike="noStrike">
                <a:solidFill>
                  <a:srgbClr val="007C78"/>
                </a:solidFill>
                <a:effectLst/>
                <a:uFillTx/>
                <a:latin typeface="Arial"/>
              </a:rPr>
              <a:t>05</a:t>
            </a:r>
            <a:endParaRPr lang="pt-PT" sz="1700" b="0" u="none" strike="noStrike">
              <a:solidFill>
                <a:srgbClr val="000000"/>
              </a:solidFill>
              <a:effectLst/>
              <a:uFillTx/>
              <a:latin typeface="Arial"/>
            </a:endParaRPr>
          </a:p>
        </p:txBody>
      </p:sp>
      <p:sp>
        <p:nvSpPr>
          <p:cNvPr id="212" name="TextBox 28"/>
          <p:cNvSpPr/>
          <p:nvPr/>
        </p:nvSpPr>
        <p:spPr>
          <a:xfrm>
            <a:off x="9674280" y="2541960"/>
            <a:ext cx="170028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Integrar</a:t>
            </a:r>
            <a:endParaRPr lang="pt-PT" sz="2100" b="0" u="none" strike="noStrike">
              <a:solidFill>
                <a:srgbClr val="000000"/>
              </a:solidFill>
              <a:effectLst/>
              <a:uFillTx/>
              <a:latin typeface="Arial"/>
            </a:endParaRPr>
          </a:p>
        </p:txBody>
      </p:sp>
      <p:sp>
        <p:nvSpPr>
          <p:cNvPr id="213" name="TextBox 29"/>
          <p:cNvSpPr/>
          <p:nvPr/>
        </p:nvSpPr>
        <p:spPr>
          <a:xfrm>
            <a:off x="9674280" y="3081600"/>
            <a:ext cx="1700280" cy="6670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0" u="none" strike="noStrike">
                <a:solidFill>
                  <a:srgbClr val="566B6A"/>
                </a:solidFill>
                <a:effectLst/>
                <a:uFillTx/>
                <a:latin typeface="Arial"/>
              </a:rPr>
              <a:t>Organizar fontes</a:t>
            </a:r>
            <a:endParaRPr lang="pt-PT" sz="1600" b="0" u="none" strike="noStrike">
              <a:solidFill>
                <a:srgbClr val="000000"/>
              </a:solidFill>
              <a:effectLst/>
              <a:uFillTx/>
              <a:latin typeface="Arial"/>
            </a:endParaRPr>
          </a:p>
          <a:p>
            <a:pPr defTabSz="457200">
              <a:lnSpc>
                <a:spcPct val="110000"/>
              </a:lnSpc>
              <a:spcAft>
                <a:spcPts val="700"/>
              </a:spcAft>
            </a:pPr>
            <a:r>
              <a:rPr lang="en-US" sz="1600" b="0" u="none" strike="noStrike">
                <a:solidFill>
                  <a:srgbClr val="566B6A"/>
                </a:solidFill>
                <a:effectLst/>
                <a:uFillTx/>
                <a:latin typeface="Arial"/>
              </a:rPr>
              <a:t>Redigir a síntese</a:t>
            </a:r>
            <a:endParaRPr lang="pt-PT" sz="1600" b="0" u="none" strike="noStrike">
              <a:solidFill>
                <a:srgbClr val="000000"/>
              </a:solidFill>
              <a:effectLst/>
              <a:uFillTx/>
              <a:latin typeface="Arial"/>
            </a:endParaRPr>
          </a:p>
        </p:txBody>
      </p:sp>
      <p:sp>
        <p:nvSpPr>
          <p:cNvPr id="214" name="TextBox 30"/>
          <p:cNvSpPr/>
          <p:nvPr/>
        </p:nvSpPr>
        <p:spPr>
          <a:xfrm>
            <a:off x="859680" y="4142160"/>
            <a:ext cx="1037808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007C78"/>
                </a:solidFill>
                <a:effectLst/>
                <a:uFillTx/>
                <a:latin typeface="Arial"/>
              </a:rPr>
              <a:t>EXEMPLO: PAPEL DA IA NA CONFIGURAÇÃO PROTÉSICA</a:t>
            </a:r>
            <a:endParaRPr lang="pt-PT" sz="1300" b="0" u="none" strike="noStrike">
              <a:solidFill>
                <a:srgbClr val="000000"/>
              </a:solidFill>
              <a:effectLst/>
              <a:uFillTx/>
              <a:latin typeface="Arial"/>
            </a:endParaRPr>
          </a:p>
        </p:txBody>
      </p:sp>
      <p:sp>
        <p:nvSpPr>
          <p:cNvPr id="215" name="TextBox 31"/>
          <p:cNvSpPr/>
          <p:nvPr/>
        </p:nvSpPr>
        <p:spPr>
          <a:xfrm>
            <a:off x="859680" y="4608720"/>
            <a:ext cx="10378080" cy="6944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193536"/>
                </a:solidFill>
                <a:effectLst/>
                <a:uFillTx/>
                <a:latin typeface="Arial"/>
              </a:rPr>
              <a:t>Distinguir estudos sobre controlo da prótese de estudos</a:t>
            </a:r>
            <a:endParaRPr lang="pt-PT" sz="2400" b="0" u="none" strike="noStrike">
              <a:solidFill>
                <a:srgbClr val="000000"/>
              </a:solidFill>
              <a:effectLst/>
              <a:uFillTx/>
              <a:latin typeface="Arial"/>
            </a:endParaRPr>
          </a:p>
          <a:p>
            <a:pPr defTabSz="457200">
              <a:lnSpc>
                <a:spcPct val="110000"/>
              </a:lnSpc>
              <a:spcAft>
                <a:spcPts val="700"/>
              </a:spcAft>
            </a:pPr>
            <a:r>
              <a:rPr lang="en-US" sz="2400" b="1" u="none" strike="noStrike">
                <a:solidFill>
                  <a:srgbClr val="193536"/>
                </a:solidFill>
                <a:effectLst/>
                <a:uFillTx/>
                <a:latin typeface="Arial"/>
              </a:rPr>
              <a:t>sobre apoio à configuração a partir de dados antropométricos.</a:t>
            </a:r>
            <a:endParaRPr lang="pt-PT" sz="2400" b="0" u="none" strike="noStrike">
              <a:solidFill>
                <a:srgbClr val="000000"/>
              </a:solidFill>
              <a:effectLst/>
              <a:uFillTx/>
              <a:latin typeface="Arial"/>
            </a:endParaRPr>
          </a:p>
        </p:txBody>
      </p:sp>
      <p:sp>
        <p:nvSpPr>
          <p:cNvPr id="216" name="TextBox 32"/>
          <p:cNvSpPr/>
          <p:nvPr/>
        </p:nvSpPr>
        <p:spPr>
          <a:xfrm>
            <a:off x="859680" y="5632560"/>
            <a:ext cx="1037808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Registo local: pergunta, resultados, relatório, referências e notas por secção.</a:t>
            </a:r>
            <a:endParaRPr lang="pt-PT"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17"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FUNDAMENTAÇÃO E SELEÇÃO</a:t>
            </a:r>
            <a:endParaRPr lang="pt-PT" sz="1100" b="0" u="none" strike="noStrike">
              <a:solidFill>
                <a:srgbClr val="000000"/>
              </a:solidFill>
              <a:effectLst/>
              <a:uFillTx/>
              <a:latin typeface="Arial"/>
            </a:endParaRPr>
          </a:p>
        </p:txBody>
      </p:sp>
      <p:sp>
        <p:nvSpPr>
          <p:cNvPr id="219"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Como a literatura orienta o projeto</a:t>
            </a:r>
            <a:endParaRPr lang="pt-PT" sz="3200" b="0" u="none" strike="noStrike">
              <a:solidFill>
                <a:srgbClr val="000000"/>
              </a:solidFill>
              <a:effectLst/>
              <a:uFillTx/>
              <a:latin typeface="Arial"/>
            </a:endParaRPr>
          </a:p>
        </p:txBody>
      </p:sp>
      <p:sp>
        <p:nvSpPr>
          <p:cNvPr id="220"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Referências já mobilizadas no manuscrito · Seleção para esta exposição pela função no argumento.</a:t>
            </a:r>
            <a:endParaRPr lang="pt-PT" sz="1000" b="0" u="none" strike="noStrike">
              <a:solidFill>
                <a:srgbClr val="000000"/>
              </a:solidFill>
              <a:effectLst/>
              <a:uFillTx/>
              <a:latin typeface="Arial"/>
            </a:endParaRPr>
          </a:p>
        </p:txBody>
      </p:sp>
      <p:sp>
        <p:nvSpPr>
          <p:cNvPr id="221"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09</a:t>
            </a:r>
            <a:endParaRPr lang="pt-PT" sz="1100" b="0" u="none" strike="noStrike">
              <a:solidFill>
                <a:srgbClr val="000000"/>
              </a:solidFill>
              <a:effectLst/>
              <a:uFillTx/>
              <a:latin typeface="Arial"/>
            </a:endParaRPr>
          </a:p>
        </p:txBody>
      </p:sp>
      <p:sp>
        <p:nvSpPr>
          <p:cNvPr id="222" name="Rectangle 6"/>
          <p:cNvSpPr/>
          <p:nvPr/>
        </p:nvSpPr>
        <p:spPr>
          <a:xfrm>
            <a:off x="640080" y="193860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TextBox 7"/>
          <p:cNvSpPr/>
          <p:nvPr/>
        </p:nvSpPr>
        <p:spPr>
          <a:xfrm>
            <a:off x="831960" y="2048400"/>
            <a:ext cx="347436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Cross (1982)</a:t>
            </a:r>
            <a:endParaRPr lang="pt-PT" sz="1900" b="0" u="none" strike="noStrike">
              <a:solidFill>
                <a:srgbClr val="000000"/>
              </a:solidFill>
              <a:effectLst/>
              <a:uFillTx/>
              <a:latin typeface="Arial"/>
            </a:endParaRPr>
          </a:p>
        </p:txBody>
      </p:sp>
      <p:sp>
        <p:nvSpPr>
          <p:cNvPr id="224" name="TextBox 8"/>
          <p:cNvSpPr/>
          <p:nvPr/>
        </p:nvSpPr>
        <p:spPr>
          <a:xfrm>
            <a:off x="4434840" y="2030040"/>
            <a:ext cx="310860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Conhecimento de design</a:t>
            </a:r>
            <a:endParaRPr lang="pt-PT" sz="1800" b="0" u="none" strike="noStrike">
              <a:solidFill>
                <a:srgbClr val="000000"/>
              </a:solidFill>
              <a:effectLst/>
              <a:uFillTx/>
              <a:latin typeface="Arial"/>
            </a:endParaRPr>
          </a:p>
        </p:txBody>
      </p:sp>
      <p:sp>
        <p:nvSpPr>
          <p:cNvPr id="225" name="TextBox 9"/>
          <p:cNvSpPr/>
          <p:nvPr/>
        </p:nvSpPr>
        <p:spPr>
          <a:xfrm>
            <a:off x="7680960" y="203004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Aprendizagem a partir das decisões de projeto</a:t>
            </a:r>
            <a:endParaRPr lang="pt-PT" sz="1800" b="0" u="none" strike="noStrike">
              <a:solidFill>
                <a:srgbClr val="000000"/>
              </a:solidFill>
              <a:effectLst/>
              <a:uFillTx/>
              <a:latin typeface="Arial"/>
            </a:endParaRPr>
          </a:p>
        </p:txBody>
      </p:sp>
      <p:sp>
        <p:nvSpPr>
          <p:cNvPr id="226" name="Rectangle 10"/>
          <p:cNvSpPr/>
          <p:nvPr/>
        </p:nvSpPr>
        <p:spPr>
          <a:xfrm>
            <a:off x="640080" y="279792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7" name="TextBox 11"/>
          <p:cNvSpPr/>
          <p:nvPr/>
        </p:nvSpPr>
        <p:spPr>
          <a:xfrm>
            <a:off x="831960" y="2907720"/>
            <a:ext cx="347436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Frayling (1994); Zimmerman et al. (2007)</a:t>
            </a:r>
            <a:endParaRPr lang="pt-PT" sz="1900" b="0" u="none" strike="noStrike">
              <a:solidFill>
                <a:srgbClr val="000000"/>
              </a:solidFill>
              <a:effectLst/>
              <a:uFillTx/>
              <a:latin typeface="Arial"/>
            </a:endParaRPr>
          </a:p>
        </p:txBody>
      </p:sp>
      <p:sp>
        <p:nvSpPr>
          <p:cNvPr id="228" name="TextBox 12"/>
          <p:cNvSpPr/>
          <p:nvPr/>
        </p:nvSpPr>
        <p:spPr>
          <a:xfrm>
            <a:off x="4434840" y="2889360"/>
            <a:ext cx="310860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Investigação através do projeto</a:t>
            </a:r>
            <a:endParaRPr lang="pt-PT" sz="1800" b="0" u="none" strike="noStrike">
              <a:solidFill>
                <a:srgbClr val="000000"/>
              </a:solidFill>
              <a:effectLst/>
              <a:uFillTx/>
              <a:latin typeface="Arial"/>
            </a:endParaRPr>
          </a:p>
        </p:txBody>
      </p:sp>
      <p:sp>
        <p:nvSpPr>
          <p:cNvPr id="229" name="TextBox 13"/>
          <p:cNvSpPr/>
          <p:nvPr/>
        </p:nvSpPr>
        <p:spPr>
          <a:xfrm>
            <a:off x="7680960" y="288936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Análise documentada do artefacto</a:t>
            </a:r>
            <a:endParaRPr lang="pt-PT" sz="1800" b="0" u="none" strike="noStrike">
              <a:solidFill>
                <a:srgbClr val="000000"/>
              </a:solidFill>
              <a:effectLst/>
              <a:uFillTx/>
              <a:latin typeface="Arial"/>
            </a:endParaRPr>
          </a:p>
        </p:txBody>
      </p:sp>
      <p:sp>
        <p:nvSpPr>
          <p:cNvPr id="230" name="Rectangle 14"/>
          <p:cNvSpPr/>
          <p:nvPr/>
        </p:nvSpPr>
        <p:spPr>
          <a:xfrm>
            <a:off x="640080" y="365760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TextBox 15"/>
          <p:cNvSpPr/>
          <p:nvPr/>
        </p:nvSpPr>
        <p:spPr>
          <a:xfrm>
            <a:off x="831960" y="3767400"/>
            <a:ext cx="347436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Fischer et al. (2004)</a:t>
            </a:r>
            <a:endParaRPr lang="pt-PT" sz="1900" b="0" u="none" strike="noStrike">
              <a:solidFill>
                <a:srgbClr val="000000"/>
              </a:solidFill>
              <a:effectLst/>
              <a:uFillTx/>
              <a:latin typeface="Arial"/>
            </a:endParaRPr>
          </a:p>
        </p:txBody>
      </p:sp>
      <p:sp>
        <p:nvSpPr>
          <p:cNvPr id="232" name="TextBox 16"/>
          <p:cNvSpPr/>
          <p:nvPr/>
        </p:nvSpPr>
        <p:spPr>
          <a:xfrm>
            <a:off x="4434840" y="3749040"/>
            <a:ext cx="310860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Meta-design e modificação</a:t>
            </a:r>
            <a:endParaRPr lang="pt-PT" sz="1800" b="0" u="none" strike="noStrike">
              <a:solidFill>
                <a:srgbClr val="000000"/>
              </a:solidFill>
              <a:effectLst/>
              <a:uFillTx/>
              <a:latin typeface="Arial"/>
            </a:endParaRPr>
          </a:p>
        </p:txBody>
      </p:sp>
      <p:sp>
        <p:nvSpPr>
          <p:cNvPr id="233" name="TextBox 17"/>
          <p:cNvSpPr/>
          <p:nvPr/>
        </p:nvSpPr>
        <p:spPr>
          <a:xfrm>
            <a:off x="7680960" y="374904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Escolhas disponíveis no HandFab</a:t>
            </a:r>
            <a:endParaRPr lang="pt-PT" sz="1800" b="0" u="none" strike="noStrike">
              <a:solidFill>
                <a:srgbClr val="000000"/>
              </a:solidFill>
              <a:effectLst/>
              <a:uFillTx/>
              <a:latin typeface="Arial"/>
            </a:endParaRPr>
          </a:p>
        </p:txBody>
      </p:sp>
      <p:sp>
        <p:nvSpPr>
          <p:cNvPr id="234" name="Rectangle 18"/>
          <p:cNvSpPr/>
          <p:nvPr/>
        </p:nvSpPr>
        <p:spPr>
          <a:xfrm>
            <a:off x="640080" y="451728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5" name="TextBox 19"/>
          <p:cNvSpPr/>
          <p:nvPr/>
        </p:nvSpPr>
        <p:spPr>
          <a:xfrm>
            <a:off x="831960" y="4626720"/>
            <a:ext cx="347436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Manero et al. (2019); Cabibihan et al. (2021)</a:t>
            </a:r>
            <a:endParaRPr lang="pt-PT" sz="1900" b="0" u="none" strike="noStrike">
              <a:solidFill>
                <a:srgbClr val="000000"/>
              </a:solidFill>
              <a:effectLst/>
              <a:uFillTx/>
              <a:latin typeface="Arial"/>
            </a:endParaRPr>
          </a:p>
        </p:txBody>
      </p:sp>
      <p:sp>
        <p:nvSpPr>
          <p:cNvPr id="236" name="TextBox 20"/>
          <p:cNvSpPr/>
          <p:nvPr/>
        </p:nvSpPr>
        <p:spPr>
          <a:xfrm>
            <a:off x="4434840" y="4608720"/>
            <a:ext cx="310860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Próteses impressas em 3D</a:t>
            </a:r>
            <a:endParaRPr lang="pt-PT" sz="1800" b="0" u="none" strike="noStrike">
              <a:solidFill>
                <a:srgbClr val="000000"/>
              </a:solidFill>
              <a:effectLst/>
              <a:uFillTx/>
              <a:latin typeface="Arial"/>
            </a:endParaRPr>
          </a:p>
        </p:txBody>
      </p:sp>
      <p:sp>
        <p:nvSpPr>
          <p:cNvPr id="237" name="TextBox 21"/>
          <p:cNvSpPr/>
          <p:nvPr/>
        </p:nvSpPr>
        <p:spPr>
          <a:xfrm>
            <a:off x="7680960" y="460872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Contexto e necessidade de avaliação</a:t>
            </a:r>
            <a:endParaRPr lang="pt-PT" sz="1800" b="0" u="none" strike="noStrike">
              <a:solidFill>
                <a:srgbClr val="000000"/>
              </a:solidFill>
              <a:effectLst/>
              <a:uFillTx/>
              <a:latin typeface="Arial"/>
            </a:endParaRPr>
          </a:p>
        </p:txBody>
      </p:sp>
      <p:sp>
        <p:nvSpPr>
          <p:cNvPr id="238" name="TextBox 22"/>
          <p:cNvSpPr/>
          <p:nvPr/>
        </p:nvSpPr>
        <p:spPr>
          <a:xfrm>
            <a:off x="859680" y="5669280"/>
            <a:ext cx="104238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Critério: utilidade para justificar decisões e interpretar os resultados.</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39"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0"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ESCOLHER UM MODELO</a:t>
            </a:r>
            <a:endParaRPr lang="pt-PT" sz="1100" b="0" u="none" strike="noStrike">
              <a:solidFill>
                <a:srgbClr val="000000"/>
              </a:solidFill>
              <a:effectLst/>
              <a:uFillTx/>
              <a:latin typeface="Arial"/>
            </a:endParaRPr>
          </a:p>
        </p:txBody>
      </p:sp>
      <p:sp>
        <p:nvSpPr>
          <p:cNvPr id="241"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HandFab: um percurso com decisões explícitas</a:t>
            </a:r>
            <a:endParaRPr lang="pt-PT" sz="3200" b="0" u="none" strike="noStrike">
              <a:solidFill>
                <a:srgbClr val="000000"/>
              </a:solidFill>
              <a:effectLst/>
              <a:uFillTx/>
              <a:latin typeface="Arial"/>
            </a:endParaRPr>
          </a:p>
        </p:txBody>
      </p:sp>
      <p:sp>
        <p:nvSpPr>
          <p:cNvPr id="242"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HandFab · Catálogo documentado na Figura 22 do manuscrito · Captura do projeto.</a:t>
            </a:r>
            <a:endParaRPr lang="pt-PT" sz="1000" b="0" u="none" strike="noStrike">
              <a:solidFill>
                <a:srgbClr val="000000"/>
              </a:solidFill>
              <a:effectLst/>
              <a:uFillTx/>
              <a:latin typeface="Arial"/>
            </a:endParaRPr>
          </a:p>
        </p:txBody>
      </p:sp>
      <p:sp>
        <p:nvSpPr>
          <p:cNvPr id="243"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10</a:t>
            </a:r>
            <a:endParaRPr lang="pt-PT" sz="1100" b="0" u="none" strike="noStrike">
              <a:solidFill>
                <a:srgbClr val="000000"/>
              </a:solidFill>
              <a:effectLst/>
              <a:uFillTx/>
              <a:latin typeface="Arial"/>
            </a:endParaRPr>
          </a:p>
        </p:txBody>
      </p:sp>
      <p:pic>
        <p:nvPicPr>
          <p:cNvPr id="244" name="Picture 6" descr="figura_22_1.png"/>
          <p:cNvPicPr/>
          <p:nvPr/>
        </p:nvPicPr>
        <p:blipFill>
          <a:blip r:embed="rId1"/>
          <a:srcRect l="10999" t="10997" r="9998" b="22998"/>
          <a:stretch/>
        </p:blipFill>
        <p:spPr>
          <a:xfrm>
            <a:off x="1643040" y="1783080"/>
            <a:ext cx="8874720" cy="4141800"/>
          </a:xfrm>
          <a:prstGeom prst="rect">
            <a:avLst/>
          </a:prstGeom>
          <a:noFill/>
          <a:ln w="0">
            <a:noFill/>
          </a:ln>
        </p:spPr>
      </p:pic>
      <p:sp>
        <p:nvSpPr>
          <p:cNvPr id="245" name="TextBox 7"/>
          <p:cNvSpPr/>
          <p:nvPr/>
        </p:nvSpPr>
        <p:spPr>
          <a:xfrm>
            <a:off x="804600" y="5906880"/>
            <a:ext cx="1078956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Quatro modelos disponíveis para iniciar a configuração.</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46"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7"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ORGANIZAR OS DADOS DE REFERÊNCIA</a:t>
            </a:r>
            <a:endParaRPr lang="pt-PT" sz="1100" b="0" u="none" strike="noStrike">
              <a:solidFill>
                <a:srgbClr val="000000"/>
              </a:solidFill>
              <a:effectLst/>
              <a:uFillTx/>
              <a:latin typeface="Arial"/>
            </a:endParaRPr>
          </a:p>
        </p:txBody>
      </p:sp>
      <p:sp>
        <p:nvSpPr>
          <p:cNvPr id="248"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Fontes antropométricas e critérios de utilização</a:t>
            </a:r>
            <a:endParaRPr lang="pt-PT" sz="3200" b="0" u="none" strike="noStrike">
              <a:solidFill>
                <a:srgbClr val="000000"/>
              </a:solidFill>
              <a:effectLst/>
              <a:uFillTx/>
              <a:latin typeface="Arial"/>
            </a:endParaRPr>
          </a:p>
        </p:txBody>
      </p:sp>
      <p:sp>
        <p:nvSpPr>
          <p:cNvPr id="249"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Gordon et al. (1989; 2014) · TU Delft, DINED (s.d.) · ISO 7250-1:2017 · Figura 24.</a:t>
            </a:r>
            <a:endParaRPr lang="pt-PT" sz="1000" b="0" u="none" strike="noStrike">
              <a:solidFill>
                <a:srgbClr val="000000"/>
              </a:solidFill>
              <a:effectLst/>
              <a:uFillTx/>
              <a:latin typeface="Arial"/>
            </a:endParaRPr>
          </a:p>
        </p:txBody>
      </p:sp>
      <p:sp>
        <p:nvSpPr>
          <p:cNvPr id="250"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11</a:t>
            </a:r>
            <a:endParaRPr lang="pt-PT" sz="1100" b="0" u="none" strike="noStrike">
              <a:solidFill>
                <a:srgbClr val="000000"/>
              </a:solidFill>
              <a:effectLst/>
              <a:uFillTx/>
              <a:latin typeface="Arial"/>
            </a:endParaRPr>
          </a:p>
        </p:txBody>
      </p:sp>
      <p:pic>
        <p:nvPicPr>
          <p:cNvPr id="251" name="Picture 6" descr="figura_24_1.png"/>
          <p:cNvPicPr/>
          <p:nvPr/>
        </p:nvPicPr>
        <p:blipFill>
          <a:blip r:embed="rId1"/>
          <a:srcRect l="12999" t="3499" r="9999" b="3999"/>
          <a:stretch/>
        </p:blipFill>
        <p:spPr>
          <a:xfrm>
            <a:off x="1711440" y="1801440"/>
            <a:ext cx="4852080" cy="4361400"/>
          </a:xfrm>
          <a:prstGeom prst="rect">
            <a:avLst/>
          </a:prstGeom>
          <a:noFill/>
          <a:ln w="0">
            <a:noFill/>
          </a:ln>
        </p:spPr>
      </p:pic>
      <p:sp>
        <p:nvSpPr>
          <p:cNvPr id="252" name="TextBox 7"/>
          <p:cNvSpPr/>
          <p:nvPr/>
        </p:nvSpPr>
        <p:spPr>
          <a:xfrm>
            <a:off x="8001000" y="2039040"/>
            <a:ext cx="3291480" cy="7311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600" b="1" u="none" strike="noStrike">
                <a:solidFill>
                  <a:srgbClr val="007C78"/>
                </a:solidFill>
                <a:effectLst/>
                <a:uFillTx/>
                <a:latin typeface="Arial"/>
              </a:rPr>
              <a:t>Guardar a origem de cada valor</a:t>
            </a:r>
            <a:endParaRPr lang="pt-PT" sz="2600" b="0" u="none" strike="noStrike">
              <a:solidFill>
                <a:srgbClr val="000000"/>
              </a:solidFill>
              <a:effectLst/>
              <a:uFillTx/>
              <a:latin typeface="Arial"/>
            </a:endParaRPr>
          </a:p>
        </p:txBody>
      </p:sp>
      <p:sp>
        <p:nvSpPr>
          <p:cNvPr id="253" name="TextBox 8"/>
          <p:cNvSpPr/>
          <p:nvPr/>
        </p:nvSpPr>
        <p:spPr>
          <a:xfrm>
            <a:off x="8001000" y="3200400"/>
            <a:ext cx="3245760" cy="2285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0" u="none" strike="noStrike">
                <a:solidFill>
                  <a:srgbClr val="193536"/>
                </a:solidFill>
                <a:effectLst/>
                <a:uFillTx/>
                <a:latin typeface="Arial"/>
              </a:rPr>
              <a:t>População e idade</a:t>
            </a:r>
            <a:endParaRPr lang="pt-PT" sz="2300" b="0" u="none" strike="noStrike">
              <a:solidFill>
                <a:srgbClr val="000000"/>
              </a:solidFill>
              <a:effectLst/>
              <a:uFillTx/>
              <a:latin typeface="Arial"/>
            </a:endParaRPr>
          </a:p>
          <a:p>
            <a:pPr defTabSz="457200">
              <a:lnSpc>
                <a:spcPct val="110000"/>
              </a:lnSpc>
              <a:spcAft>
                <a:spcPts val="700"/>
              </a:spcAft>
            </a:pPr>
            <a:r>
              <a:rPr lang="en-US" sz="2300" b="0" u="none" strike="noStrike">
                <a:solidFill>
                  <a:srgbClr val="193536"/>
                </a:solidFill>
                <a:effectLst/>
                <a:uFillTx/>
                <a:latin typeface="Arial"/>
              </a:rPr>
              <a:t>Medida e unidade</a:t>
            </a:r>
            <a:endParaRPr lang="pt-PT" sz="2300" b="0" u="none" strike="noStrike">
              <a:solidFill>
                <a:srgbClr val="000000"/>
              </a:solidFill>
              <a:effectLst/>
              <a:uFillTx/>
              <a:latin typeface="Arial"/>
            </a:endParaRPr>
          </a:p>
          <a:p>
            <a:pPr defTabSz="457200">
              <a:lnSpc>
                <a:spcPct val="110000"/>
              </a:lnSpc>
              <a:spcAft>
                <a:spcPts val="700"/>
              </a:spcAft>
            </a:pPr>
            <a:r>
              <a:rPr lang="en-US" sz="2300" b="0" u="none" strike="noStrike">
                <a:solidFill>
                  <a:srgbClr val="193536"/>
                </a:solidFill>
                <a:effectLst/>
                <a:uFillTx/>
                <a:latin typeface="Arial"/>
              </a:rPr>
              <a:t>Estatística utilizada</a:t>
            </a:r>
            <a:endParaRPr lang="pt-PT" sz="2300" b="0" u="none" strike="noStrike">
              <a:solidFill>
                <a:srgbClr val="000000"/>
              </a:solidFill>
              <a:effectLst/>
              <a:uFillTx/>
              <a:latin typeface="Arial"/>
            </a:endParaRPr>
          </a:p>
          <a:p>
            <a:pPr defTabSz="457200">
              <a:lnSpc>
                <a:spcPct val="110000"/>
              </a:lnSpc>
              <a:spcAft>
                <a:spcPts val="700"/>
              </a:spcAft>
            </a:pPr>
            <a:r>
              <a:rPr lang="en-US" sz="2300" b="0" u="none" strike="noStrike">
                <a:solidFill>
                  <a:srgbClr val="193536"/>
                </a:solidFill>
                <a:effectLst/>
                <a:uFillTx/>
                <a:latin typeface="Arial"/>
              </a:rPr>
              <a:t>Fonte e protocolo</a:t>
            </a:r>
            <a:endParaRPr lang="pt-PT"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54"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DADOS NA PLATAFORMA</a:t>
            </a:r>
            <a:endParaRPr lang="pt-PT" sz="1100" b="0" u="none" strike="noStrike">
              <a:solidFill>
                <a:srgbClr val="000000"/>
              </a:solidFill>
              <a:effectLst/>
              <a:uFillTx/>
              <a:latin typeface="Arial"/>
            </a:endParaRPr>
          </a:p>
        </p:txBody>
      </p:sp>
      <p:sp>
        <p:nvSpPr>
          <p:cNvPr id="256"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Da base consolidada aos perfis do HandFab</a:t>
            </a:r>
            <a:endParaRPr lang="pt-PT" sz="3200" b="0" u="none" strike="noStrike">
              <a:solidFill>
                <a:srgbClr val="000000"/>
              </a:solidFill>
              <a:effectLst/>
              <a:uFillTx/>
              <a:latin typeface="Arial"/>
            </a:endParaRPr>
          </a:p>
        </p:txBody>
      </p:sp>
      <p:sp>
        <p:nvSpPr>
          <p:cNvPr id="257"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Manuscrito, 4.2 e Figura 23 · Suplemento 1 · Contagens de perfis da aplicação.</a:t>
            </a:r>
            <a:endParaRPr lang="pt-PT" sz="1000" b="0" u="none" strike="noStrike">
              <a:solidFill>
                <a:srgbClr val="000000"/>
              </a:solidFill>
              <a:effectLst/>
              <a:uFillTx/>
              <a:latin typeface="Arial"/>
            </a:endParaRPr>
          </a:p>
        </p:txBody>
      </p:sp>
      <p:sp>
        <p:nvSpPr>
          <p:cNvPr id="258"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12</a:t>
            </a:r>
            <a:endParaRPr lang="pt-PT" sz="1100" b="0" u="none" strike="noStrike">
              <a:solidFill>
                <a:srgbClr val="000000"/>
              </a:solidFill>
              <a:effectLst/>
              <a:uFillTx/>
              <a:latin typeface="Arial"/>
            </a:endParaRPr>
          </a:p>
        </p:txBody>
      </p:sp>
      <p:pic>
        <p:nvPicPr>
          <p:cNvPr id="259" name="Picture 6" descr="figura_23_1.png"/>
          <p:cNvPicPr/>
          <p:nvPr/>
        </p:nvPicPr>
        <p:blipFill>
          <a:blip r:embed="rId1"/>
          <a:srcRect l="3499" t="10498" r="1500" b="3999"/>
          <a:stretch/>
        </p:blipFill>
        <p:spPr>
          <a:xfrm>
            <a:off x="1413720" y="1792080"/>
            <a:ext cx="6544440" cy="4407120"/>
          </a:xfrm>
          <a:prstGeom prst="rect">
            <a:avLst/>
          </a:prstGeom>
          <a:noFill/>
          <a:ln w="0">
            <a:noFill/>
          </a:ln>
        </p:spPr>
      </p:pic>
      <p:sp>
        <p:nvSpPr>
          <p:cNvPr id="260" name="TextBox 7"/>
          <p:cNvSpPr/>
          <p:nvPr/>
        </p:nvSpPr>
        <p:spPr>
          <a:xfrm>
            <a:off x="9107280" y="2057400"/>
            <a:ext cx="241380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007C78"/>
                </a:solidFill>
                <a:effectLst/>
                <a:uFillTx/>
                <a:latin typeface="Arial"/>
              </a:rPr>
              <a:t>100 perfis</a:t>
            </a:r>
            <a:endParaRPr lang="pt-PT" sz="3200" b="0" u="none" strike="noStrike">
              <a:solidFill>
                <a:srgbClr val="000000"/>
              </a:solidFill>
              <a:effectLst/>
              <a:uFillTx/>
              <a:latin typeface="Arial"/>
            </a:endParaRPr>
          </a:p>
        </p:txBody>
      </p:sp>
      <p:sp>
        <p:nvSpPr>
          <p:cNvPr id="261" name="TextBox 8"/>
          <p:cNvSpPr/>
          <p:nvPr/>
        </p:nvSpPr>
        <p:spPr>
          <a:xfrm>
            <a:off x="9107280" y="3154680"/>
            <a:ext cx="2413800" cy="2102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0" u="none" strike="noStrike">
                <a:solidFill>
                  <a:srgbClr val="193536"/>
                </a:solidFill>
                <a:effectLst/>
                <a:uFillTx/>
                <a:latin typeface="Arial"/>
              </a:rPr>
              <a:t>97 em lote</a:t>
            </a:r>
            <a:endParaRPr lang="pt-PT" sz="2300" b="0" u="none" strike="noStrike">
              <a:solidFill>
                <a:srgbClr val="000000"/>
              </a:solidFill>
              <a:effectLst/>
              <a:uFillTx/>
              <a:latin typeface="Arial"/>
            </a:endParaRPr>
          </a:p>
          <a:p>
            <a:pPr defTabSz="457200">
              <a:lnSpc>
                <a:spcPct val="110000"/>
              </a:lnSpc>
              <a:spcAft>
                <a:spcPts val="700"/>
              </a:spcAft>
            </a:pPr>
            <a:r>
              <a:rPr lang="en-US" sz="2300" b="0" u="none" strike="noStrike">
                <a:solidFill>
                  <a:srgbClr val="193536"/>
                </a:solidFill>
                <a:effectLst/>
                <a:uFillTx/>
                <a:latin typeface="Arial"/>
              </a:rPr>
              <a:t>2 por CSV</a:t>
            </a:r>
            <a:endParaRPr lang="pt-PT" sz="2300" b="0" u="none" strike="noStrike">
              <a:solidFill>
                <a:srgbClr val="000000"/>
              </a:solidFill>
              <a:effectLst/>
              <a:uFillTx/>
              <a:latin typeface="Arial"/>
            </a:endParaRPr>
          </a:p>
          <a:p>
            <a:pPr defTabSz="457200">
              <a:lnSpc>
                <a:spcPct val="110000"/>
              </a:lnSpc>
              <a:spcAft>
                <a:spcPts val="700"/>
              </a:spcAft>
            </a:pPr>
            <a:r>
              <a:rPr lang="en-US" sz="2300" b="0" u="none" strike="noStrike">
                <a:solidFill>
                  <a:srgbClr val="193536"/>
                </a:solidFill>
                <a:effectLst/>
                <a:uFillTx/>
                <a:latin typeface="Arial"/>
              </a:rPr>
              <a:t>1 manual</a:t>
            </a:r>
            <a:endParaRPr lang="pt-PT" sz="2300" b="0" u="none" strike="noStrike">
              <a:solidFill>
                <a:srgbClr val="000000"/>
              </a:solidFill>
              <a:effectLst/>
              <a:uFillTx/>
              <a:latin typeface="Arial"/>
            </a:endParaRPr>
          </a:p>
        </p:txBody>
      </p:sp>
      <p:sp>
        <p:nvSpPr>
          <p:cNvPr id="262" name="TextBox 9"/>
          <p:cNvSpPr/>
          <p:nvPr/>
        </p:nvSpPr>
        <p:spPr>
          <a:xfrm>
            <a:off x="9107280" y="5321880"/>
            <a:ext cx="241380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Referências estatísticas</a:t>
            </a:r>
            <a:endParaRPr lang="pt-P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63"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4"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DECISÕES DE PROJETO</a:t>
            </a:r>
            <a:endParaRPr lang="pt-PT" sz="1100" b="0" u="none" strike="noStrike">
              <a:solidFill>
                <a:srgbClr val="000000"/>
              </a:solidFill>
              <a:effectLst/>
              <a:uFillTx/>
              <a:latin typeface="Arial"/>
            </a:endParaRPr>
          </a:p>
        </p:txBody>
      </p:sp>
      <p:sp>
        <p:nvSpPr>
          <p:cNvPr id="265"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Cada modelo exige regras próprias</a:t>
            </a:r>
            <a:endParaRPr lang="pt-PT" sz="3200" b="0" u="none" strike="noStrike">
              <a:solidFill>
                <a:srgbClr val="000000"/>
              </a:solidFill>
              <a:effectLst/>
              <a:uFillTx/>
              <a:latin typeface="Arial"/>
            </a:endParaRPr>
          </a:p>
        </p:txBody>
      </p:sp>
      <p:sp>
        <p:nvSpPr>
          <p:cNvPr id="266"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Manuscrito, 4.4 e 8.3 · Fotografias ilustrativas dos modelos; não constituem comparação antes/depois.</a:t>
            </a:r>
            <a:endParaRPr lang="pt-PT" sz="1000" b="0" u="none" strike="noStrike">
              <a:solidFill>
                <a:srgbClr val="000000"/>
              </a:solidFill>
              <a:effectLst/>
              <a:uFillTx/>
              <a:latin typeface="Arial"/>
            </a:endParaRPr>
          </a:p>
        </p:txBody>
      </p:sp>
      <p:sp>
        <p:nvSpPr>
          <p:cNvPr id="267"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13</a:t>
            </a:r>
            <a:endParaRPr lang="pt-PT" sz="1100" b="0" u="none" strike="noStrike">
              <a:solidFill>
                <a:srgbClr val="000000"/>
              </a:solidFill>
              <a:effectLst/>
              <a:uFillTx/>
              <a:latin typeface="Arial"/>
            </a:endParaRPr>
          </a:p>
        </p:txBody>
      </p:sp>
      <p:pic>
        <p:nvPicPr>
          <p:cNvPr id="268" name="Picture 6" descr="paraglider_perfis.jpeg"/>
          <p:cNvPicPr/>
          <p:nvPr/>
        </p:nvPicPr>
        <p:blipFill>
          <a:blip r:embed="rId1"/>
          <a:stretch/>
        </p:blipFill>
        <p:spPr>
          <a:xfrm>
            <a:off x="640080" y="1847160"/>
            <a:ext cx="5303160" cy="2980440"/>
          </a:xfrm>
          <a:prstGeom prst="rect">
            <a:avLst/>
          </a:prstGeom>
          <a:noFill/>
          <a:ln w="0">
            <a:noFill/>
          </a:ln>
        </p:spPr>
      </p:pic>
      <p:pic>
        <p:nvPicPr>
          <p:cNvPr id="269" name="Picture 7" descr="phoenix_montagem.jpg"/>
          <p:cNvPicPr/>
          <p:nvPr/>
        </p:nvPicPr>
        <p:blipFill>
          <a:blip r:embed="rId2"/>
          <a:stretch/>
        </p:blipFill>
        <p:spPr>
          <a:xfrm>
            <a:off x="6217920" y="1846440"/>
            <a:ext cx="5303160" cy="2981880"/>
          </a:xfrm>
          <a:prstGeom prst="rect">
            <a:avLst/>
          </a:prstGeom>
          <a:noFill/>
          <a:ln w="0">
            <a:noFill/>
          </a:ln>
        </p:spPr>
      </p:pic>
      <p:sp>
        <p:nvSpPr>
          <p:cNvPr id="270" name="TextBox 8"/>
          <p:cNvSpPr/>
          <p:nvPr/>
        </p:nvSpPr>
        <p:spPr>
          <a:xfrm>
            <a:off x="795600" y="5010840"/>
            <a:ext cx="498312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500" b="1" u="none" strike="noStrike">
                <a:solidFill>
                  <a:srgbClr val="007C78"/>
                </a:solidFill>
                <a:effectLst/>
                <a:uFillTx/>
                <a:latin typeface="Arial"/>
              </a:rPr>
              <a:t>Paraglider Hand</a:t>
            </a:r>
            <a:endParaRPr lang="pt-PT" sz="2500" b="0" u="none" strike="noStrike">
              <a:solidFill>
                <a:srgbClr val="000000"/>
              </a:solidFill>
              <a:effectLst/>
              <a:uFillTx/>
              <a:latin typeface="Arial"/>
            </a:endParaRPr>
          </a:p>
        </p:txBody>
      </p:sp>
      <p:sp>
        <p:nvSpPr>
          <p:cNvPr id="271" name="TextBox 9"/>
          <p:cNvSpPr/>
          <p:nvPr/>
        </p:nvSpPr>
        <p:spPr>
          <a:xfrm>
            <a:off x="795600" y="5523120"/>
            <a:ext cx="498312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0" u="none" strike="noStrike">
                <a:solidFill>
                  <a:srgbClr val="193536"/>
                </a:solidFill>
                <a:effectLst/>
                <a:uFillTx/>
                <a:latin typeface="Arial"/>
              </a:rPr>
              <a:t>Corrigir a aplicação da escala na palma.</a:t>
            </a:r>
            <a:endParaRPr lang="pt-PT" sz="2000" b="0" u="none" strike="noStrike">
              <a:solidFill>
                <a:srgbClr val="000000"/>
              </a:solidFill>
              <a:effectLst/>
              <a:uFillTx/>
              <a:latin typeface="Arial"/>
            </a:endParaRPr>
          </a:p>
        </p:txBody>
      </p:sp>
      <p:sp>
        <p:nvSpPr>
          <p:cNvPr id="272" name="TextBox 10"/>
          <p:cNvSpPr/>
          <p:nvPr/>
        </p:nvSpPr>
        <p:spPr>
          <a:xfrm>
            <a:off x="6373440" y="5010840"/>
            <a:ext cx="498312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500" b="1" u="none" strike="noStrike">
                <a:solidFill>
                  <a:srgbClr val="007C78"/>
                </a:solidFill>
                <a:effectLst/>
                <a:uFillTx/>
                <a:latin typeface="Arial"/>
              </a:rPr>
              <a:t>UnLimbited Phoenix</a:t>
            </a:r>
            <a:endParaRPr lang="pt-PT" sz="2500" b="0" u="none" strike="noStrike">
              <a:solidFill>
                <a:srgbClr val="000000"/>
              </a:solidFill>
              <a:effectLst/>
              <a:uFillTx/>
              <a:latin typeface="Arial"/>
            </a:endParaRPr>
          </a:p>
        </p:txBody>
      </p:sp>
      <p:sp>
        <p:nvSpPr>
          <p:cNvPr id="273" name="TextBox 11"/>
          <p:cNvSpPr/>
          <p:nvPr/>
        </p:nvSpPr>
        <p:spPr>
          <a:xfrm>
            <a:off x="6373440" y="5523120"/>
            <a:ext cx="498312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0" u="none" strike="noStrike">
                <a:solidFill>
                  <a:srgbClr val="193536"/>
                </a:solidFill>
                <a:effectLst/>
                <a:uFillTx/>
                <a:latin typeface="Arial"/>
              </a:rPr>
              <a:t>Largura mínima de cerca de 82 mm no caso estudado.</a:t>
            </a:r>
            <a:endParaRPr lang="pt-PT"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74"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INTRODUZIR UM PEDIDO</a:t>
            </a:r>
            <a:endParaRPr lang="pt-PT" sz="1100" b="0" u="none" strike="noStrike">
              <a:solidFill>
                <a:srgbClr val="000000"/>
              </a:solidFill>
              <a:effectLst/>
              <a:uFillTx/>
              <a:latin typeface="Arial"/>
            </a:endParaRPr>
          </a:p>
        </p:txBody>
      </p:sp>
      <p:sp>
        <p:nvSpPr>
          <p:cNvPr id="276"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A IA propõe um ponto de partida</a:t>
            </a:r>
            <a:endParaRPr lang="pt-PT" sz="3200" b="0" u="none" strike="noStrike">
              <a:solidFill>
                <a:srgbClr val="000000"/>
              </a:solidFill>
              <a:effectLst/>
              <a:uFillTx/>
              <a:latin typeface="Arial"/>
            </a:endParaRPr>
          </a:p>
        </p:txBody>
      </p:sp>
      <p:sp>
        <p:nvSpPr>
          <p:cNvPr id="277"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HandFab · Figura 22 · Captura existente da interface de assistência, sem nova execução de IA.</a:t>
            </a:r>
            <a:endParaRPr lang="pt-PT" sz="1000" b="0" u="none" strike="noStrike">
              <a:solidFill>
                <a:srgbClr val="000000"/>
              </a:solidFill>
              <a:effectLst/>
              <a:uFillTx/>
              <a:latin typeface="Arial"/>
            </a:endParaRPr>
          </a:p>
        </p:txBody>
      </p:sp>
      <p:sp>
        <p:nvSpPr>
          <p:cNvPr id="278"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14</a:t>
            </a:r>
            <a:endParaRPr lang="pt-PT" sz="1100" b="0" u="none" strike="noStrike">
              <a:solidFill>
                <a:srgbClr val="000000"/>
              </a:solidFill>
              <a:effectLst/>
              <a:uFillTx/>
              <a:latin typeface="Arial"/>
            </a:endParaRPr>
          </a:p>
        </p:txBody>
      </p:sp>
      <p:pic>
        <p:nvPicPr>
          <p:cNvPr id="279" name="Picture 6" descr="figura_22_2.png"/>
          <p:cNvPicPr/>
          <p:nvPr/>
        </p:nvPicPr>
        <p:blipFill>
          <a:blip r:embed="rId1"/>
          <a:srcRect l="9998" t="13999" r="5000" b="22998"/>
          <a:stretch/>
        </p:blipFill>
        <p:spPr>
          <a:xfrm>
            <a:off x="1078920" y="1783080"/>
            <a:ext cx="10003680" cy="4141800"/>
          </a:xfrm>
          <a:prstGeom prst="rect">
            <a:avLst/>
          </a:prstGeom>
          <a:noFill/>
          <a:ln w="0">
            <a:noFill/>
          </a:ln>
        </p:spPr>
      </p:pic>
      <p:sp>
        <p:nvSpPr>
          <p:cNvPr id="280" name="TextBox 7"/>
          <p:cNvSpPr/>
          <p:nvPr/>
        </p:nvSpPr>
        <p:spPr>
          <a:xfrm>
            <a:off x="804600" y="5906880"/>
            <a:ext cx="1078956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Rever os valores sugeridos antes de gerar a geometria.</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81"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2"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AJUSTAR OS PARÂMETROS</a:t>
            </a:r>
            <a:endParaRPr lang="pt-PT" sz="1100" b="0" u="none" strike="noStrike">
              <a:solidFill>
                <a:srgbClr val="000000"/>
              </a:solidFill>
              <a:effectLst/>
              <a:uFillTx/>
              <a:latin typeface="Arial"/>
            </a:endParaRPr>
          </a:p>
        </p:txBody>
      </p:sp>
      <p:sp>
        <p:nvSpPr>
          <p:cNvPr id="283"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Configuração e pré-visualização no HandFab</a:t>
            </a:r>
            <a:endParaRPr lang="pt-PT" sz="3200" b="0" u="none" strike="noStrike">
              <a:solidFill>
                <a:srgbClr val="000000"/>
              </a:solidFill>
              <a:effectLst/>
              <a:uFillTx/>
              <a:latin typeface="Arial"/>
            </a:endParaRPr>
          </a:p>
        </p:txBody>
      </p:sp>
      <p:sp>
        <p:nvSpPr>
          <p:cNvPr id="284"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HandFab · Figura 22 · Controlos de configuração e pré-visualização da Phoenix.</a:t>
            </a:r>
            <a:endParaRPr lang="pt-PT" sz="1000" b="0" u="none" strike="noStrike">
              <a:solidFill>
                <a:srgbClr val="000000"/>
              </a:solidFill>
              <a:effectLst/>
              <a:uFillTx/>
              <a:latin typeface="Arial"/>
            </a:endParaRPr>
          </a:p>
        </p:txBody>
      </p:sp>
      <p:sp>
        <p:nvSpPr>
          <p:cNvPr id="285"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15</a:t>
            </a:r>
            <a:endParaRPr lang="pt-PT" sz="1100" b="0" u="none" strike="noStrike">
              <a:solidFill>
                <a:srgbClr val="000000"/>
              </a:solidFill>
              <a:effectLst/>
              <a:uFillTx/>
              <a:latin typeface="Arial"/>
            </a:endParaRPr>
          </a:p>
        </p:txBody>
      </p:sp>
      <p:pic>
        <p:nvPicPr>
          <p:cNvPr id="286" name="Picture 6" descr="figura_22_3.png"/>
          <p:cNvPicPr/>
          <p:nvPr/>
        </p:nvPicPr>
        <p:blipFill>
          <a:blip r:embed="rId1"/>
          <a:srcRect l="9998" t="14498" r="5000" b="1000"/>
          <a:stretch/>
        </p:blipFill>
        <p:spPr>
          <a:xfrm>
            <a:off x="2351520" y="1783080"/>
            <a:ext cx="7458120" cy="4141800"/>
          </a:xfrm>
          <a:prstGeom prst="rect">
            <a:avLst/>
          </a:prstGeom>
          <a:noFill/>
          <a:ln w="0">
            <a:noFill/>
          </a:ln>
        </p:spPr>
      </p:pic>
      <p:sp>
        <p:nvSpPr>
          <p:cNvPr id="287" name="TextBox 7"/>
          <p:cNvSpPr/>
          <p:nvPr/>
        </p:nvSpPr>
        <p:spPr>
          <a:xfrm>
            <a:off x="804600" y="5906880"/>
            <a:ext cx="1078956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Relacionar cada controlo com a alteração da forma.</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8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CONFIGURAÇÃO DO MODELO</a:t>
            </a:r>
            <a:endParaRPr lang="pt-PT" sz="1100" b="0" u="none" strike="noStrike">
              <a:solidFill>
                <a:srgbClr val="000000"/>
              </a:solidFill>
              <a:effectLst/>
              <a:uFillTx/>
              <a:latin typeface="Arial"/>
            </a:endParaRPr>
          </a:p>
        </p:txBody>
      </p:sp>
      <p:sp>
        <p:nvSpPr>
          <p:cNvPr id="29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Escolher cores e materiais no HandFab</a:t>
            </a:r>
            <a:endParaRPr lang="pt-PT" sz="3200" b="0" u="none" strike="noStrike">
              <a:solidFill>
                <a:srgbClr val="000000"/>
              </a:solidFill>
              <a:effectLst/>
              <a:uFillTx/>
              <a:latin typeface="Arial"/>
            </a:endParaRPr>
          </a:p>
        </p:txBody>
      </p:sp>
      <p:sp>
        <p:nvSpPr>
          <p:cNvPr id="29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HandFab · Figura 22 · Opções de cor e material apresentadas na interface.</a:t>
            </a:r>
            <a:endParaRPr lang="pt-PT" sz="1000" b="0" u="none" strike="noStrike">
              <a:solidFill>
                <a:srgbClr val="000000"/>
              </a:solidFill>
              <a:effectLst/>
              <a:uFillTx/>
              <a:latin typeface="Arial"/>
            </a:endParaRPr>
          </a:p>
        </p:txBody>
      </p:sp>
      <p:sp>
        <p:nvSpPr>
          <p:cNvPr id="29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16</a:t>
            </a:r>
            <a:endParaRPr lang="pt-PT" sz="1100" b="0" u="none" strike="noStrike">
              <a:solidFill>
                <a:srgbClr val="000000"/>
              </a:solidFill>
              <a:effectLst/>
              <a:uFillTx/>
              <a:latin typeface="Arial"/>
            </a:endParaRPr>
          </a:p>
        </p:txBody>
      </p:sp>
      <p:pic>
        <p:nvPicPr>
          <p:cNvPr id="293" name="Picture 6" descr="figura_22_4.png"/>
          <p:cNvPicPr/>
          <p:nvPr/>
        </p:nvPicPr>
        <p:blipFill>
          <a:blip r:embed="rId1"/>
          <a:srcRect l="9998" t="14498" r="5000" b="1000"/>
          <a:stretch/>
        </p:blipFill>
        <p:spPr>
          <a:xfrm>
            <a:off x="2351520" y="1783080"/>
            <a:ext cx="7458120" cy="4141800"/>
          </a:xfrm>
          <a:prstGeom prst="rect">
            <a:avLst/>
          </a:prstGeom>
          <a:noFill/>
          <a:ln w="0">
            <a:noFill/>
          </a:ln>
        </p:spPr>
      </p:pic>
      <p:sp>
        <p:nvSpPr>
          <p:cNvPr id="294" name="TextBox 7"/>
          <p:cNvSpPr/>
          <p:nvPr/>
        </p:nvSpPr>
        <p:spPr>
          <a:xfrm>
            <a:off x="804600" y="5906880"/>
            <a:ext cx="1078956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Ver as escolhas de cor em cada componente.</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95"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PREPARAR A PASSAGEM PARA O FABRICO</a:t>
            </a:r>
            <a:endParaRPr lang="pt-PT" sz="1100" b="0" u="none" strike="noStrike">
              <a:solidFill>
                <a:srgbClr val="000000"/>
              </a:solidFill>
              <a:effectLst/>
              <a:uFillTx/>
              <a:latin typeface="Arial"/>
            </a:endParaRPr>
          </a:p>
        </p:txBody>
      </p:sp>
      <p:sp>
        <p:nvSpPr>
          <p:cNvPr id="297"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Da geometria gerada à exportação</a:t>
            </a:r>
            <a:endParaRPr lang="pt-PT" sz="3200" b="0" u="none" strike="noStrike">
              <a:solidFill>
                <a:srgbClr val="000000"/>
              </a:solidFill>
              <a:effectLst/>
              <a:uFillTx/>
              <a:latin typeface="Arial"/>
            </a:endParaRPr>
          </a:p>
        </p:txBody>
      </p:sp>
      <p:sp>
        <p:nvSpPr>
          <p:cNvPr id="298"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HandFab · Figura 20 · Código OpenSCAD, pré-visualização e comando de exportação.</a:t>
            </a:r>
            <a:endParaRPr lang="pt-PT" sz="1000" b="0" u="none" strike="noStrike">
              <a:solidFill>
                <a:srgbClr val="000000"/>
              </a:solidFill>
              <a:effectLst/>
              <a:uFillTx/>
              <a:latin typeface="Arial"/>
            </a:endParaRPr>
          </a:p>
        </p:txBody>
      </p:sp>
      <p:sp>
        <p:nvSpPr>
          <p:cNvPr id="299"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17</a:t>
            </a:r>
            <a:endParaRPr lang="pt-PT" sz="1100" b="0" u="none" strike="noStrike">
              <a:solidFill>
                <a:srgbClr val="000000"/>
              </a:solidFill>
              <a:effectLst/>
              <a:uFillTx/>
              <a:latin typeface="Arial"/>
            </a:endParaRPr>
          </a:p>
        </p:txBody>
      </p:sp>
      <p:pic>
        <p:nvPicPr>
          <p:cNvPr id="300" name="Picture 6" descr="figura_20_1.png"/>
          <p:cNvPicPr/>
          <p:nvPr/>
        </p:nvPicPr>
        <p:blipFill>
          <a:blip r:embed="rId1"/>
          <a:stretch/>
        </p:blipFill>
        <p:spPr>
          <a:xfrm>
            <a:off x="1563120" y="1792080"/>
            <a:ext cx="5652000" cy="4388760"/>
          </a:xfrm>
          <a:prstGeom prst="rect">
            <a:avLst/>
          </a:prstGeom>
          <a:noFill/>
          <a:ln w="0">
            <a:noFill/>
          </a:ln>
        </p:spPr>
      </p:pic>
      <p:sp>
        <p:nvSpPr>
          <p:cNvPr id="301" name="TextBox 7"/>
          <p:cNvSpPr/>
          <p:nvPr/>
        </p:nvSpPr>
        <p:spPr>
          <a:xfrm>
            <a:off x="8412480" y="2194560"/>
            <a:ext cx="3017160" cy="1096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600" b="1" u="none" strike="noStrike">
                <a:solidFill>
                  <a:srgbClr val="007C78"/>
                </a:solidFill>
                <a:effectLst/>
                <a:uFillTx/>
                <a:latin typeface="Arial"/>
              </a:rPr>
              <a:t>Examinar a forma gerada</a:t>
            </a:r>
            <a:endParaRPr lang="pt-PT" sz="2600" b="0" u="none" strike="noStrike">
              <a:solidFill>
                <a:srgbClr val="000000"/>
              </a:solidFill>
              <a:effectLst/>
              <a:uFillTx/>
              <a:latin typeface="Arial"/>
            </a:endParaRPr>
          </a:p>
        </p:txBody>
      </p:sp>
      <p:sp>
        <p:nvSpPr>
          <p:cNvPr id="302" name="TextBox 8"/>
          <p:cNvSpPr/>
          <p:nvPr/>
        </p:nvSpPr>
        <p:spPr>
          <a:xfrm>
            <a:off x="8412480" y="3968640"/>
            <a:ext cx="301716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0" u="none" strike="noStrike">
                <a:solidFill>
                  <a:srgbClr val="193536"/>
                </a:solidFill>
                <a:effectLst/>
                <a:uFillTx/>
                <a:latin typeface="Arial"/>
              </a:rPr>
              <a:t>Exportar a malha para preparar a impressão</a:t>
            </a:r>
            <a:endParaRPr lang="pt-PT"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03"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4"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IMPRESSÃO E OBSERVAÇÃO DAS PEÇAS</a:t>
            </a:r>
            <a:endParaRPr lang="pt-PT" sz="1100" b="0" u="none" strike="noStrike">
              <a:solidFill>
                <a:srgbClr val="000000"/>
              </a:solidFill>
              <a:effectLst/>
              <a:uFillTx/>
              <a:latin typeface="Arial"/>
            </a:endParaRPr>
          </a:p>
        </p:txBody>
      </p:sp>
      <p:sp>
        <p:nvSpPr>
          <p:cNvPr id="305"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A avaliação acompanhou etapas diferentes</a:t>
            </a:r>
            <a:endParaRPr lang="pt-PT" sz="3200" b="0" u="none" strike="noStrike">
              <a:solidFill>
                <a:srgbClr val="000000"/>
              </a:solidFill>
              <a:effectLst/>
              <a:uFillTx/>
              <a:latin typeface="Arial"/>
            </a:endParaRPr>
          </a:p>
        </p:txBody>
      </p:sp>
      <p:sp>
        <p:nvSpPr>
          <p:cNvPr id="306"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Suplemento 4 · Fotografias originais na placa da Bambu Lab A1 e da palma impressa.</a:t>
            </a:r>
            <a:endParaRPr lang="pt-PT" sz="1000" b="0" u="none" strike="noStrike">
              <a:solidFill>
                <a:srgbClr val="000000"/>
              </a:solidFill>
              <a:effectLst/>
              <a:uFillTx/>
              <a:latin typeface="Arial"/>
            </a:endParaRPr>
          </a:p>
        </p:txBody>
      </p:sp>
      <p:sp>
        <p:nvSpPr>
          <p:cNvPr id="307"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18</a:t>
            </a:r>
            <a:endParaRPr lang="pt-PT" sz="1100" b="0" u="none" strike="noStrike">
              <a:solidFill>
                <a:srgbClr val="000000"/>
              </a:solidFill>
              <a:effectLst/>
              <a:uFillTx/>
              <a:latin typeface="Arial"/>
            </a:endParaRPr>
          </a:p>
        </p:txBody>
      </p:sp>
      <p:pic>
        <p:nvPicPr>
          <p:cNvPr id="308" name="Picture 6" descr="flexy_placa.jpg"/>
          <p:cNvPicPr/>
          <p:nvPr/>
        </p:nvPicPr>
        <p:blipFill>
          <a:blip r:embed="rId1"/>
          <a:stretch/>
        </p:blipFill>
        <p:spPr>
          <a:xfrm>
            <a:off x="1181880" y="1810440"/>
            <a:ext cx="2225880" cy="3958920"/>
          </a:xfrm>
          <a:prstGeom prst="rect">
            <a:avLst/>
          </a:prstGeom>
          <a:noFill/>
          <a:ln w="0">
            <a:noFill/>
          </a:ln>
        </p:spPr>
      </p:pic>
      <p:pic>
        <p:nvPicPr>
          <p:cNvPr id="309" name="Picture 7" descr="falanges_placa.jpg"/>
          <p:cNvPicPr/>
          <p:nvPr/>
        </p:nvPicPr>
        <p:blipFill>
          <a:blip r:embed="rId2"/>
          <a:stretch/>
        </p:blipFill>
        <p:spPr>
          <a:xfrm>
            <a:off x="4647600" y="1810440"/>
            <a:ext cx="2225880" cy="3958920"/>
          </a:xfrm>
          <a:prstGeom prst="rect">
            <a:avLst/>
          </a:prstGeom>
          <a:noFill/>
          <a:ln w="0">
            <a:noFill/>
          </a:ln>
        </p:spPr>
      </p:pic>
      <p:pic>
        <p:nvPicPr>
          <p:cNvPr id="310" name="Picture 8" descr="palma_impressa.jpg"/>
          <p:cNvPicPr/>
          <p:nvPr/>
        </p:nvPicPr>
        <p:blipFill>
          <a:blip r:embed="rId3"/>
          <a:stretch/>
        </p:blipFill>
        <p:spPr>
          <a:xfrm>
            <a:off x="8433360" y="1810440"/>
            <a:ext cx="2225880" cy="3958920"/>
          </a:xfrm>
          <a:prstGeom prst="rect">
            <a:avLst/>
          </a:prstGeom>
          <a:noFill/>
          <a:ln w="0">
            <a:noFill/>
          </a:ln>
        </p:spPr>
      </p:pic>
      <p:sp>
        <p:nvSpPr>
          <p:cNvPr id="311" name="TextBox 9"/>
          <p:cNvSpPr/>
          <p:nvPr/>
        </p:nvSpPr>
        <p:spPr>
          <a:xfrm>
            <a:off x="786240" y="5906880"/>
            <a:ext cx="10734840" cy="328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4 projetos na Série A · 12 casos na Série B · 72 medições físicas</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12"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SÉRIES FÍSICAS DE ENSAIO</a:t>
            </a:r>
            <a:endParaRPr lang="pt-PT" sz="1100" b="0" u="none" strike="noStrike">
              <a:solidFill>
                <a:srgbClr val="000000"/>
              </a:solidFill>
              <a:effectLst/>
              <a:uFillTx/>
              <a:latin typeface="Arial"/>
            </a:endParaRPr>
          </a:p>
        </p:txBody>
      </p:sp>
      <p:sp>
        <p:nvSpPr>
          <p:cNvPr id="314"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Comparar peças de diferentes perfis</a:t>
            </a:r>
            <a:endParaRPr lang="pt-PT" sz="3200" b="0" u="none" strike="noStrike">
              <a:solidFill>
                <a:srgbClr val="000000"/>
              </a:solidFill>
              <a:effectLst/>
              <a:uFillTx/>
              <a:latin typeface="Arial"/>
            </a:endParaRPr>
          </a:p>
        </p:txBody>
      </p:sp>
      <p:sp>
        <p:nvSpPr>
          <p:cNvPr id="315"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Fotografias do autor · Suplemento 4 · Idades dos perfis de referência, sem participantes.</a:t>
            </a:r>
            <a:endParaRPr lang="pt-PT" sz="1000" b="0" u="none" strike="noStrike">
              <a:solidFill>
                <a:srgbClr val="000000"/>
              </a:solidFill>
              <a:effectLst/>
              <a:uFillTx/>
              <a:latin typeface="Arial"/>
            </a:endParaRPr>
          </a:p>
        </p:txBody>
      </p:sp>
      <p:sp>
        <p:nvSpPr>
          <p:cNvPr id="316"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19</a:t>
            </a:r>
            <a:endParaRPr lang="pt-PT" sz="1100" b="0" u="none" strike="noStrike">
              <a:solidFill>
                <a:srgbClr val="000000"/>
              </a:solidFill>
              <a:effectLst/>
              <a:uFillTx/>
              <a:latin typeface="Arial"/>
            </a:endParaRPr>
          </a:p>
        </p:txBody>
      </p:sp>
      <p:pic>
        <p:nvPicPr>
          <p:cNvPr id="317" name="Picture 6" descr="flexy_perfis.jpeg"/>
          <p:cNvPicPr/>
          <p:nvPr/>
        </p:nvPicPr>
        <p:blipFill>
          <a:blip r:embed="rId1"/>
          <a:stretch/>
        </p:blipFill>
        <p:spPr>
          <a:xfrm>
            <a:off x="640080" y="2016360"/>
            <a:ext cx="5303160" cy="2980440"/>
          </a:xfrm>
          <a:prstGeom prst="rect">
            <a:avLst/>
          </a:prstGeom>
          <a:noFill/>
          <a:ln w="0">
            <a:noFill/>
          </a:ln>
        </p:spPr>
      </p:pic>
      <p:pic>
        <p:nvPicPr>
          <p:cNvPr id="318" name="Picture 7" descr="paraglider_perfis.jpeg"/>
          <p:cNvPicPr/>
          <p:nvPr/>
        </p:nvPicPr>
        <p:blipFill>
          <a:blip r:embed="rId2"/>
          <a:stretch/>
        </p:blipFill>
        <p:spPr>
          <a:xfrm>
            <a:off x="6217920" y="2016360"/>
            <a:ext cx="5303160" cy="2980440"/>
          </a:xfrm>
          <a:prstGeom prst="rect">
            <a:avLst/>
          </a:prstGeom>
          <a:noFill/>
          <a:ln w="0">
            <a:noFill/>
          </a:ln>
        </p:spPr>
      </p:pic>
      <p:sp>
        <p:nvSpPr>
          <p:cNvPr id="319" name="TextBox 8"/>
          <p:cNvSpPr/>
          <p:nvPr/>
        </p:nvSpPr>
        <p:spPr>
          <a:xfrm>
            <a:off x="795600" y="5303520"/>
            <a:ext cx="498312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500" b="1" u="none" strike="noStrike">
                <a:solidFill>
                  <a:srgbClr val="007C78"/>
                </a:solidFill>
                <a:effectLst/>
                <a:uFillTx/>
                <a:latin typeface="Arial"/>
              </a:rPr>
              <a:t>Flexy Beast</a:t>
            </a:r>
            <a:endParaRPr lang="pt-PT" sz="2500" b="0" u="none" strike="noStrike">
              <a:solidFill>
                <a:srgbClr val="000000"/>
              </a:solidFill>
              <a:effectLst/>
              <a:uFillTx/>
              <a:latin typeface="Arial"/>
            </a:endParaRPr>
          </a:p>
        </p:txBody>
      </p:sp>
      <p:sp>
        <p:nvSpPr>
          <p:cNvPr id="320" name="TextBox 9"/>
          <p:cNvSpPr/>
          <p:nvPr/>
        </p:nvSpPr>
        <p:spPr>
          <a:xfrm>
            <a:off x="6373440" y="5303520"/>
            <a:ext cx="498312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500" b="1" u="none" strike="noStrike">
                <a:solidFill>
                  <a:srgbClr val="007C78"/>
                </a:solidFill>
                <a:effectLst/>
                <a:uFillTx/>
                <a:latin typeface="Arial"/>
              </a:rPr>
              <a:t>Paraglider Hand</a:t>
            </a:r>
            <a:endParaRPr lang="pt-PT" sz="2500" b="0" u="none" strike="noStrike">
              <a:solidFill>
                <a:srgbClr val="000000"/>
              </a:solidFill>
              <a:effectLst/>
              <a:uFillTx/>
              <a:latin typeface="Arial"/>
            </a:endParaRPr>
          </a:p>
        </p:txBody>
      </p:sp>
      <p:sp>
        <p:nvSpPr>
          <p:cNvPr id="321" name="TextBox 10"/>
          <p:cNvSpPr/>
          <p:nvPr/>
        </p:nvSpPr>
        <p:spPr>
          <a:xfrm>
            <a:off x="804600" y="5879520"/>
            <a:ext cx="1051524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0" u="none" strike="noStrike">
                <a:solidFill>
                  <a:srgbClr val="193536"/>
                </a:solidFill>
                <a:effectLst/>
                <a:uFillTx/>
                <a:latin typeface="Arial"/>
              </a:rPr>
              <a:t>Perfis de referência: 8, 15, 28 e 70 anos.</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22"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3"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RESULTADOS DIMENSIONAIS</a:t>
            </a:r>
            <a:endParaRPr lang="pt-PT" sz="1100" b="0" u="none" strike="noStrike">
              <a:solidFill>
                <a:srgbClr val="000000"/>
              </a:solidFill>
              <a:effectLst/>
              <a:uFillTx/>
              <a:latin typeface="Arial"/>
            </a:endParaRPr>
          </a:p>
        </p:txBody>
      </p:sp>
      <p:sp>
        <p:nvSpPr>
          <p:cNvPr id="324"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Peça e malha: diferenças medidas, com limites</a:t>
            </a:r>
            <a:endParaRPr lang="pt-PT" sz="3200" b="0" u="none" strike="noStrike">
              <a:solidFill>
                <a:srgbClr val="000000"/>
              </a:solidFill>
              <a:effectLst/>
              <a:uFillTx/>
              <a:latin typeface="Arial"/>
            </a:endParaRPr>
          </a:p>
        </p:txBody>
      </p:sp>
      <p:sp>
        <p:nvSpPr>
          <p:cNvPr id="325"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Suplemento 4, comparacao_dimensional_72_medicoes.csv · Gráfico calculado a partir dos registos.</a:t>
            </a:r>
            <a:endParaRPr lang="pt-PT" sz="1000" b="0" u="none" strike="noStrike">
              <a:solidFill>
                <a:srgbClr val="000000"/>
              </a:solidFill>
              <a:effectLst/>
              <a:uFillTx/>
              <a:latin typeface="Arial"/>
            </a:endParaRPr>
          </a:p>
        </p:txBody>
      </p:sp>
      <p:sp>
        <p:nvSpPr>
          <p:cNvPr id="326"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20</a:t>
            </a:r>
            <a:endParaRPr lang="pt-PT" sz="1100" b="0" u="none" strike="noStrike">
              <a:solidFill>
                <a:srgbClr val="000000"/>
              </a:solidFill>
              <a:effectLst/>
              <a:uFillTx/>
              <a:latin typeface="Arial"/>
            </a:endParaRPr>
          </a:p>
        </p:txBody>
      </p:sp>
      <p:sp>
        <p:nvSpPr>
          <p:cNvPr id="327" name="Rectangle 6"/>
          <p:cNvSpPr/>
          <p:nvPr/>
        </p:nvSpPr>
        <p:spPr>
          <a:xfrm>
            <a:off x="640080" y="1783080"/>
            <a:ext cx="10881000" cy="3894840"/>
          </a:xfrm>
          <a:prstGeom prst="rect">
            <a:avLst/>
          </a:prstGeom>
          <a:solidFill>
            <a:srgbClr val="F6F5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28" name="Picture 7" descr="desvios_dimensionais.png"/>
          <p:cNvPicPr/>
          <p:nvPr/>
        </p:nvPicPr>
        <p:blipFill>
          <a:blip r:embed="rId1"/>
          <a:stretch/>
        </p:blipFill>
        <p:spPr>
          <a:xfrm>
            <a:off x="1451880" y="1783080"/>
            <a:ext cx="9257400" cy="3894840"/>
          </a:xfrm>
          <a:prstGeom prst="rect">
            <a:avLst/>
          </a:prstGeom>
          <a:noFill/>
          <a:ln w="0">
            <a:noFill/>
          </a:ln>
        </p:spPr>
      </p:pic>
      <p:sp>
        <p:nvSpPr>
          <p:cNvPr id="329" name="TextBox 8"/>
          <p:cNvSpPr/>
          <p:nvPr/>
        </p:nvSpPr>
        <p:spPr>
          <a:xfrm>
            <a:off x="841320" y="5715000"/>
            <a:ext cx="10515240" cy="429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Amplitude por grupo, calculada com uma leitura por combinação.</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30"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1"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MONTAGEM DO PROTÓTIPO</a:t>
            </a:r>
            <a:endParaRPr lang="pt-PT" sz="1100" b="0" u="none" strike="noStrike">
              <a:solidFill>
                <a:srgbClr val="000000"/>
              </a:solidFill>
              <a:effectLst/>
              <a:uFillTx/>
              <a:latin typeface="Arial"/>
            </a:endParaRPr>
          </a:p>
        </p:txBody>
      </p:sp>
      <p:sp>
        <p:nvSpPr>
          <p:cNvPr id="332"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Phoenix: uma montagem observada em bancada</a:t>
            </a:r>
            <a:endParaRPr lang="pt-PT" sz="3200" b="0" u="none" strike="noStrike">
              <a:solidFill>
                <a:srgbClr val="000000"/>
              </a:solidFill>
              <a:effectLst/>
              <a:uFillTx/>
              <a:latin typeface="Arial"/>
            </a:endParaRPr>
          </a:p>
        </p:txBody>
      </p:sp>
      <p:sp>
        <p:nvSpPr>
          <p:cNvPr id="333"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Suplemento 4 · PHX-TEEN15-MONT-001 · Um espécime PLA, perfil de 15 anos; observação em bancada.</a:t>
            </a:r>
            <a:endParaRPr lang="pt-PT" sz="1000" b="0" u="none" strike="noStrike">
              <a:solidFill>
                <a:srgbClr val="000000"/>
              </a:solidFill>
              <a:effectLst/>
              <a:uFillTx/>
              <a:latin typeface="Arial"/>
            </a:endParaRPr>
          </a:p>
        </p:txBody>
      </p:sp>
      <p:sp>
        <p:nvSpPr>
          <p:cNvPr id="334"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21</a:t>
            </a:r>
            <a:endParaRPr lang="pt-PT" sz="1100" b="0" u="none" strike="noStrike">
              <a:solidFill>
                <a:srgbClr val="000000"/>
              </a:solidFill>
              <a:effectLst/>
              <a:uFillTx/>
              <a:latin typeface="Arial"/>
            </a:endParaRPr>
          </a:p>
        </p:txBody>
      </p:sp>
      <p:pic>
        <p:nvPicPr>
          <p:cNvPr id="335" name="Picture 6" descr="phoenix_montagem.jpg"/>
          <p:cNvPicPr/>
          <p:nvPr/>
        </p:nvPicPr>
        <p:blipFill>
          <a:blip r:embed="rId1"/>
          <a:stretch/>
        </p:blipFill>
        <p:spPr>
          <a:xfrm>
            <a:off x="963720" y="1801440"/>
            <a:ext cx="7399080" cy="4160160"/>
          </a:xfrm>
          <a:prstGeom prst="rect">
            <a:avLst/>
          </a:prstGeom>
          <a:noFill/>
          <a:ln w="0">
            <a:noFill/>
          </a:ln>
        </p:spPr>
      </p:pic>
      <p:pic>
        <p:nvPicPr>
          <p:cNvPr id="336" name="Picture 7" descr="phoenix_articulacao.jpeg"/>
          <p:cNvPicPr/>
          <p:nvPr/>
        </p:nvPicPr>
        <p:blipFill>
          <a:blip r:embed="rId2"/>
          <a:stretch/>
        </p:blipFill>
        <p:spPr>
          <a:xfrm>
            <a:off x="9034560" y="1801440"/>
            <a:ext cx="2340000" cy="4160160"/>
          </a:xfrm>
          <a:prstGeom prst="rect">
            <a:avLst/>
          </a:prstGeom>
          <a:noFill/>
          <a:ln w="0">
            <a:noFill/>
          </a:ln>
        </p:spPr>
      </p:pic>
      <p:sp>
        <p:nvSpPr>
          <p:cNvPr id="337" name="TextBox 8"/>
          <p:cNvSpPr/>
          <p:nvPr/>
        </p:nvSpPr>
        <p:spPr>
          <a:xfrm>
            <a:off x="795600" y="5943600"/>
            <a:ext cx="10515240" cy="328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Montagem e movimento manual · Pormenor da articulação</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3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RESPOSTA ÀS PERGUNTAS</a:t>
            </a:r>
            <a:endParaRPr lang="pt-PT" sz="1100" b="0" u="none" strike="noStrike">
              <a:solidFill>
                <a:srgbClr val="000000"/>
              </a:solidFill>
              <a:effectLst/>
              <a:uFillTx/>
              <a:latin typeface="Arial"/>
            </a:endParaRPr>
          </a:p>
        </p:txBody>
      </p:sp>
      <p:sp>
        <p:nvSpPr>
          <p:cNvPr id="34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O contributo para a configuração do produto</a:t>
            </a:r>
            <a:endParaRPr lang="pt-PT" sz="3200" b="0" u="none" strike="noStrike">
              <a:solidFill>
                <a:srgbClr val="000000"/>
              </a:solidFill>
              <a:effectLst/>
              <a:uFillTx/>
              <a:latin typeface="Arial"/>
            </a:endParaRPr>
          </a:p>
        </p:txBody>
      </p:sp>
      <p:sp>
        <p:nvSpPr>
          <p:cNvPr id="34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Síntese da Tabela 31 e de 9.1-9.4 · Cross (1982): enquadramento do conhecimento de design.</a:t>
            </a:r>
            <a:endParaRPr lang="pt-PT" sz="1000" b="0" u="none" strike="noStrike">
              <a:solidFill>
                <a:srgbClr val="000000"/>
              </a:solidFill>
              <a:effectLst/>
              <a:uFillTx/>
              <a:latin typeface="Arial"/>
            </a:endParaRPr>
          </a:p>
        </p:txBody>
      </p:sp>
      <p:sp>
        <p:nvSpPr>
          <p:cNvPr id="34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22</a:t>
            </a:r>
            <a:endParaRPr lang="pt-PT" sz="1100" b="0" u="none" strike="noStrike">
              <a:solidFill>
                <a:srgbClr val="000000"/>
              </a:solidFill>
              <a:effectLst/>
              <a:uFillTx/>
              <a:latin typeface="Arial"/>
            </a:endParaRPr>
          </a:p>
        </p:txBody>
      </p:sp>
      <p:sp>
        <p:nvSpPr>
          <p:cNvPr id="343" name="TextBox 6"/>
          <p:cNvSpPr/>
          <p:nvPr/>
        </p:nvSpPr>
        <p:spPr>
          <a:xfrm>
            <a:off x="859680" y="1828800"/>
            <a:ext cx="233136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EIXO</a:t>
            </a:r>
            <a:endParaRPr lang="pt-PT" sz="1200" b="0" u="none" strike="noStrike">
              <a:solidFill>
                <a:srgbClr val="000000"/>
              </a:solidFill>
              <a:effectLst/>
              <a:uFillTx/>
              <a:latin typeface="Arial"/>
            </a:endParaRPr>
          </a:p>
        </p:txBody>
      </p:sp>
      <p:sp>
        <p:nvSpPr>
          <p:cNvPr id="344" name="TextBox 7"/>
          <p:cNvSpPr/>
          <p:nvPr/>
        </p:nvSpPr>
        <p:spPr>
          <a:xfrm>
            <a:off x="3474720" y="1828800"/>
            <a:ext cx="36572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EVIDÊNCIA OBTIDA</a:t>
            </a:r>
            <a:endParaRPr lang="pt-PT" sz="1200" b="0" u="none" strike="noStrike">
              <a:solidFill>
                <a:srgbClr val="000000"/>
              </a:solidFill>
              <a:effectLst/>
              <a:uFillTx/>
              <a:latin typeface="Arial"/>
            </a:endParaRPr>
          </a:p>
        </p:txBody>
      </p:sp>
      <p:sp>
        <p:nvSpPr>
          <p:cNvPr id="345" name="TextBox 8"/>
          <p:cNvSpPr/>
          <p:nvPr/>
        </p:nvSpPr>
        <p:spPr>
          <a:xfrm>
            <a:off x="7498080" y="1828800"/>
            <a:ext cx="374868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AD542D"/>
                </a:solidFill>
                <a:effectLst/>
                <a:uFillTx/>
                <a:latin typeface="Arial"/>
              </a:rPr>
              <a:t>POR AVALIAR</a:t>
            </a:r>
            <a:endParaRPr lang="pt-PT" sz="1200" b="0" u="none" strike="noStrike">
              <a:solidFill>
                <a:srgbClr val="000000"/>
              </a:solidFill>
              <a:effectLst/>
              <a:uFillTx/>
              <a:latin typeface="Arial"/>
            </a:endParaRPr>
          </a:p>
        </p:txBody>
      </p:sp>
      <p:sp>
        <p:nvSpPr>
          <p:cNvPr id="346" name="Rectangle 9"/>
          <p:cNvSpPr/>
          <p:nvPr/>
        </p:nvSpPr>
        <p:spPr>
          <a:xfrm>
            <a:off x="640080" y="242316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7" name="TextBox 10"/>
          <p:cNvSpPr/>
          <p:nvPr/>
        </p:nvSpPr>
        <p:spPr>
          <a:xfrm>
            <a:off x="868680" y="251460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Configuração</a:t>
            </a:r>
            <a:endParaRPr lang="pt-PT" sz="2000" b="0" u="none" strike="noStrike">
              <a:solidFill>
                <a:srgbClr val="000000"/>
              </a:solidFill>
              <a:effectLst/>
              <a:uFillTx/>
              <a:latin typeface="Arial"/>
            </a:endParaRPr>
          </a:p>
        </p:txBody>
      </p:sp>
      <p:sp>
        <p:nvSpPr>
          <p:cNvPr id="348" name="TextBox 11"/>
          <p:cNvSpPr/>
          <p:nvPr/>
        </p:nvSpPr>
        <p:spPr>
          <a:xfrm>
            <a:off x="3474720" y="251460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Valores editáveis e revisão</a:t>
            </a:r>
            <a:endParaRPr lang="pt-PT" sz="1800" b="0" u="none" strike="noStrike">
              <a:solidFill>
                <a:srgbClr val="000000"/>
              </a:solidFill>
              <a:effectLst/>
              <a:uFillTx/>
              <a:latin typeface="Arial"/>
            </a:endParaRPr>
          </a:p>
        </p:txBody>
      </p:sp>
      <p:sp>
        <p:nvSpPr>
          <p:cNvPr id="349" name="TextBox 12"/>
          <p:cNvSpPr/>
          <p:nvPr/>
        </p:nvSpPr>
        <p:spPr>
          <a:xfrm>
            <a:off x="7498080" y="251460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Conforto e adequação individual</a:t>
            </a:r>
            <a:endParaRPr lang="pt-PT" sz="1800" b="0" u="none" strike="noStrike">
              <a:solidFill>
                <a:srgbClr val="000000"/>
              </a:solidFill>
              <a:effectLst/>
              <a:uFillTx/>
              <a:latin typeface="Arial"/>
            </a:endParaRPr>
          </a:p>
        </p:txBody>
      </p:sp>
      <p:sp>
        <p:nvSpPr>
          <p:cNvPr id="350" name="Rectangle 13"/>
          <p:cNvSpPr/>
          <p:nvPr/>
        </p:nvSpPr>
        <p:spPr>
          <a:xfrm>
            <a:off x="640080" y="338328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4"/>
          <p:cNvSpPr/>
          <p:nvPr/>
        </p:nvSpPr>
        <p:spPr>
          <a:xfrm>
            <a:off x="868680" y="347472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Avaliação</a:t>
            </a:r>
            <a:endParaRPr lang="pt-PT" sz="2000" b="0" u="none" strike="noStrike">
              <a:solidFill>
                <a:srgbClr val="000000"/>
              </a:solidFill>
              <a:effectLst/>
              <a:uFillTx/>
              <a:latin typeface="Arial"/>
            </a:endParaRPr>
          </a:p>
        </p:txBody>
      </p:sp>
      <p:sp>
        <p:nvSpPr>
          <p:cNvPr id="352" name="TextBox 15"/>
          <p:cNvSpPr/>
          <p:nvPr/>
        </p:nvSpPr>
        <p:spPr>
          <a:xfrm>
            <a:off x="3474720" y="347472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Verificação técnica e dimensional</a:t>
            </a:r>
            <a:endParaRPr lang="pt-PT" sz="1800" b="0" u="none" strike="noStrike">
              <a:solidFill>
                <a:srgbClr val="000000"/>
              </a:solidFill>
              <a:effectLst/>
              <a:uFillTx/>
              <a:latin typeface="Arial"/>
            </a:endParaRPr>
          </a:p>
        </p:txBody>
      </p:sp>
      <p:sp>
        <p:nvSpPr>
          <p:cNvPr id="353" name="TextBox 16"/>
          <p:cNvSpPr/>
          <p:nvPr/>
        </p:nvSpPr>
        <p:spPr>
          <a:xfrm>
            <a:off x="7498080" y="347472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Usabilidade e durabilidade</a:t>
            </a:r>
            <a:endParaRPr lang="pt-PT" sz="1800" b="0" u="none" strike="noStrike">
              <a:solidFill>
                <a:srgbClr val="000000"/>
              </a:solidFill>
              <a:effectLst/>
              <a:uFillTx/>
              <a:latin typeface="Arial"/>
            </a:endParaRPr>
          </a:p>
        </p:txBody>
      </p:sp>
      <p:sp>
        <p:nvSpPr>
          <p:cNvPr id="354" name="Rectangle 17"/>
          <p:cNvSpPr/>
          <p:nvPr/>
        </p:nvSpPr>
        <p:spPr>
          <a:xfrm>
            <a:off x="640080" y="434340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5" name="TextBox 18"/>
          <p:cNvSpPr/>
          <p:nvPr/>
        </p:nvSpPr>
        <p:spPr>
          <a:xfrm>
            <a:off x="868680" y="443484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Requisitos</a:t>
            </a:r>
            <a:endParaRPr lang="pt-PT" sz="2000" b="0" u="none" strike="noStrike">
              <a:solidFill>
                <a:srgbClr val="000000"/>
              </a:solidFill>
              <a:effectLst/>
              <a:uFillTx/>
              <a:latin typeface="Arial"/>
            </a:endParaRPr>
          </a:p>
        </p:txBody>
      </p:sp>
      <p:sp>
        <p:nvSpPr>
          <p:cNvPr id="356" name="TextBox 19"/>
          <p:cNvSpPr/>
          <p:nvPr/>
        </p:nvSpPr>
        <p:spPr>
          <a:xfrm>
            <a:off x="3474720" y="443484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Regras e escolhas disponíveis</a:t>
            </a:r>
            <a:endParaRPr lang="pt-PT" sz="1800" b="0" u="none" strike="noStrike">
              <a:solidFill>
                <a:srgbClr val="000000"/>
              </a:solidFill>
              <a:effectLst/>
              <a:uFillTx/>
              <a:latin typeface="Arial"/>
            </a:endParaRPr>
          </a:p>
        </p:txBody>
      </p:sp>
      <p:sp>
        <p:nvSpPr>
          <p:cNvPr id="357" name="TextBox 20"/>
          <p:cNvSpPr/>
          <p:nvPr/>
        </p:nvSpPr>
        <p:spPr>
          <a:xfrm>
            <a:off x="7498080" y="443484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Aceitação e autonomia</a:t>
            </a:r>
            <a:endParaRPr lang="pt-PT" sz="1800" b="0" u="none" strike="noStrike">
              <a:solidFill>
                <a:srgbClr val="000000"/>
              </a:solidFill>
              <a:effectLst/>
              <a:uFillTx/>
              <a:latin typeface="Arial"/>
            </a:endParaRPr>
          </a:p>
        </p:txBody>
      </p:sp>
      <p:sp>
        <p:nvSpPr>
          <p:cNvPr id="358" name="TextBox 21"/>
          <p:cNvSpPr/>
          <p:nvPr/>
        </p:nvSpPr>
        <p:spPr>
          <a:xfrm>
            <a:off x="859680" y="5486400"/>
            <a:ext cx="10240920" cy="5115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600" b="1" u="none" strike="noStrike">
                <a:solidFill>
                  <a:srgbClr val="193536"/>
                </a:solidFill>
                <a:effectLst/>
                <a:uFillTx/>
                <a:latin typeface="Arial"/>
              </a:rPr>
              <a:t>Explicar como cada escolha de configuração afeta a forma.</a:t>
            </a:r>
            <a:endParaRPr lang="pt-PT"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93536"/>
        </a:solidFill>
      </p:bgPr>
    </p:bg>
    <p:spTree>
      <p:nvGrpSpPr>
        <p:cNvPr id="1" name=""/>
        <p:cNvGrpSpPr/>
        <p:nvPr/>
      </p:nvGrpSpPr>
      <p:grpSpPr>
        <a:xfrm>
          <a:off x="0" y="0"/>
          <a:ext cx="0" cy="0"/>
          <a:chOff x="0" y="0"/>
          <a:chExt cx="0" cy="0"/>
        </a:xfrm>
      </p:grpSpPr>
      <p:sp>
        <p:nvSpPr>
          <p:cNvPr id="359"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8DCCC1"/>
                </a:solidFill>
                <a:effectLst/>
                <a:uFillTx/>
                <a:latin typeface="Arial"/>
              </a:rPr>
              <a:t>CONCLUSÃO</a:t>
            </a:r>
            <a:endParaRPr lang="pt-PT" sz="1100" b="0" u="none" strike="noStrike">
              <a:solidFill>
                <a:srgbClr val="FFFFFF"/>
              </a:solidFill>
              <a:effectLst/>
              <a:uFillTx/>
              <a:latin typeface="Arial"/>
            </a:endParaRPr>
          </a:p>
        </p:txBody>
      </p:sp>
      <p:sp>
        <p:nvSpPr>
          <p:cNvPr id="361"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FFFFFF"/>
                </a:solidFill>
                <a:effectLst/>
                <a:uFillTx/>
                <a:latin typeface="Arial"/>
              </a:rPr>
              <a:t>As regras de cada modelo condicionam o resultado</a:t>
            </a:r>
            <a:endParaRPr lang="pt-PT" sz="3200" b="0" u="none" strike="noStrike">
              <a:solidFill>
                <a:srgbClr val="FFFFFF"/>
              </a:solidFill>
              <a:effectLst/>
              <a:uFillTx/>
              <a:latin typeface="Arial"/>
            </a:endParaRPr>
          </a:p>
        </p:txBody>
      </p:sp>
      <p:sp>
        <p:nvSpPr>
          <p:cNvPr id="362"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B5CBC6"/>
                </a:solidFill>
                <a:effectLst/>
                <a:uFillTx/>
                <a:latin typeface="Arial"/>
              </a:rPr>
              <a:t>Projeto HandFab · Pedro Miguel Candeias da Silva · Obrigado.</a:t>
            </a:r>
            <a:endParaRPr lang="pt-PT" sz="1000" b="0" u="none" strike="noStrike">
              <a:solidFill>
                <a:srgbClr val="FFFFFF"/>
              </a:solidFill>
              <a:effectLst/>
              <a:uFillTx/>
              <a:latin typeface="Arial"/>
            </a:endParaRPr>
          </a:p>
        </p:txBody>
      </p:sp>
      <p:sp>
        <p:nvSpPr>
          <p:cNvPr id="363"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FFFFFF"/>
                </a:solidFill>
                <a:effectLst/>
                <a:uFillTx/>
                <a:latin typeface="Arial"/>
              </a:rPr>
              <a:t>23</a:t>
            </a:r>
            <a:endParaRPr lang="pt-PT" sz="1100" b="0" u="none" strike="noStrike">
              <a:solidFill>
                <a:srgbClr val="FFFFFF"/>
              </a:solidFill>
              <a:effectLst/>
              <a:uFillTx/>
              <a:latin typeface="Arial"/>
            </a:endParaRPr>
          </a:p>
        </p:txBody>
      </p:sp>
      <p:pic>
        <p:nvPicPr>
          <p:cNvPr id="364" name="Picture 6" descr="phoenix_montagem.jpg"/>
          <p:cNvPicPr/>
          <p:nvPr/>
        </p:nvPicPr>
        <p:blipFill>
          <a:blip r:embed="rId1"/>
          <a:stretch/>
        </p:blipFill>
        <p:spPr>
          <a:xfrm>
            <a:off x="640080" y="1895760"/>
            <a:ext cx="6949080" cy="3907080"/>
          </a:xfrm>
          <a:prstGeom prst="rect">
            <a:avLst/>
          </a:prstGeom>
          <a:noFill/>
          <a:ln w="0">
            <a:noFill/>
          </a:ln>
        </p:spPr>
      </p:pic>
      <p:sp>
        <p:nvSpPr>
          <p:cNvPr id="365" name="TextBox 7"/>
          <p:cNvSpPr/>
          <p:nvPr/>
        </p:nvSpPr>
        <p:spPr>
          <a:xfrm>
            <a:off x="7955280" y="2286000"/>
            <a:ext cx="351108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600" b="1" u="none" strike="noStrike">
                <a:solidFill>
                  <a:srgbClr val="8DCCC1"/>
                </a:solidFill>
                <a:effectLst/>
                <a:uFillTx/>
                <a:latin typeface="Arial"/>
              </a:rPr>
              <a:t>Próximo passo</a:t>
            </a:r>
            <a:endParaRPr lang="pt-PT" sz="2600" b="0" u="none" strike="noStrike">
              <a:solidFill>
                <a:srgbClr val="FFFFFF"/>
              </a:solidFill>
              <a:effectLst/>
              <a:uFillTx/>
              <a:latin typeface="Arial"/>
            </a:endParaRPr>
          </a:p>
        </p:txBody>
      </p:sp>
      <p:sp>
        <p:nvSpPr>
          <p:cNvPr id="366" name="TextBox 8"/>
          <p:cNvSpPr/>
          <p:nvPr/>
        </p:nvSpPr>
        <p:spPr>
          <a:xfrm>
            <a:off x="7955280" y="3136320"/>
            <a:ext cx="3511080" cy="2194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FFFFFF"/>
                </a:solidFill>
                <a:effectLst/>
                <a:uFillTx/>
                <a:latin typeface="Arial"/>
              </a:rPr>
              <a:t>Avaliar o HandFab com as pessoas que o irão utilizar.</a:t>
            </a:r>
            <a:endParaRPr lang="pt-PT" sz="2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67"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8"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FORMULAÇÕES INTEGRAIS</a:t>
            </a:r>
            <a:endParaRPr lang="pt-PT" sz="1100" b="0" u="none" strike="noStrike">
              <a:solidFill>
                <a:srgbClr val="000000"/>
              </a:solidFill>
              <a:effectLst/>
              <a:uFillTx/>
              <a:latin typeface="Arial"/>
            </a:endParaRPr>
          </a:p>
        </p:txBody>
      </p:sp>
      <p:sp>
        <p:nvSpPr>
          <p:cNvPr id="369"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Perguntas de investigação aprovadas</a:t>
            </a:r>
            <a:endParaRPr lang="pt-PT" sz="3200" b="0" u="none" strike="noStrike">
              <a:solidFill>
                <a:srgbClr val="000000"/>
              </a:solidFill>
              <a:effectLst/>
              <a:uFillTx/>
              <a:latin typeface="Arial"/>
            </a:endParaRPr>
          </a:p>
        </p:txBody>
      </p:sp>
      <p:sp>
        <p:nvSpPr>
          <p:cNvPr id="370"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manuscrito, 9.1. Diapositivo fora do percurso principal de 20 minutos.</a:t>
            </a:r>
            <a:endParaRPr lang="pt-PT" sz="1000" b="0" u="none" strike="noStrike">
              <a:solidFill>
                <a:srgbClr val="000000"/>
              </a:solidFill>
              <a:effectLst/>
              <a:uFillTx/>
              <a:latin typeface="Arial"/>
            </a:endParaRPr>
          </a:p>
        </p:txBody>
      </p:sp>
      <p:sp>
        <p:nvSpPr>
          <p:cNvPr id="371"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24</a:t>
            </a:r>
            <a:endParaRPr lang="pt-PT" sz="1100" b="0" u="none" strike="noStrike">
              <a:solidFill>
                <a:srgbClr val="000000"/>
              </a:solidFill>
              <a:effectLst/>
              <a:uFillTx/>
              <a:latin typeface="Arial"/>
            </a:endParaRPr>
          </a:p>
        </p:txBody>
      </p:sp>
      <p:sp>
        <p:nvSpPr>
          <p:cNvPr id="372" name="TextBox 6"/>
          <p:cNvSpPr/>
          <p:nvPr/>
        </p:nvSpPr>
        <p:spPr>
          <a:xfrm>
            <a:off x="713160" y="1856160"/>
            <a:ext cx="5940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P1</a:t>
            </a:r>
            <a:endParaRPr lang="pt-PT" sz="2300" b="0" u="none" strike="noStrike">
              <a:solidFill>
                <a:srgbClr val="000000"/>
              </a:solidFill>
              <a:effectLst/>
              <a:uFillTx/>
              <a:latin typeface="Arial"/>
            </a:endParaRPr>
          </a:p>
        </p:txBody>
      </p:sp>
      <p:sp>
        <p:nvSpPr>
          <p:cNvPr id="373" name="TextBox 7"/>
          <p:cNvSpPr/>
          <p:nvPr/>
        </p:nvSpPr>
        <p:spPr>
          <a:xfrm>
            <a:off x="1481400" y="1856160"/>
            <a:ext cx="987516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0" u="none" strike="noStrike">
                <a:solidFill>
                  <a:srgbClr val="193536"/>
                </a:solidFill>
                <a:effectLst/>
                <a:uFillTx/>
                <a:latin typeface="Arial"/>
              </a:rPr>
              <a:t>Como o design de produto, métodos paramétricos e inteligência artificial podem melhorar a personalização, o conforto e a adequação funcional de próteses, mantendo a acessibilidade e o controlo sobre as decisões de projeto?</a:t>
            </a:r>
            <a:endParaRPr lang="pt-PT" sz="2200" b="0" u="none" strike="noStrike">
              <a:solidFill>
                <a:srgbClr val="000000"/>
              </a:solidFill>
              <a:effectLst/>
              <a:uFillTx/>
              <a:latin typeface="Arial"/>
            </a:endParaRPr>
          </a:p>
        </p:txBody>
      </p:sp>
      <p:sp>
        <p:nvSpPr>
          <p:cNvPr id="374" name="TextBox 8"/>
          <p:cNvSpPr/>
          <p:nvPr/>
        </p:nvSpPr>
        <p:spPr>
          <a:xfrm>
            <a:off x="713160" y="3200400"/>
            <a:ext cx="5940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P2</a:t>
            </a:r>
            <a:endParaRPr lang="pt-PT" sz="2300" b="0" u="none" strike="noStrike">
              <a:solidFill>
                <a:srgbClr val="000000"/>
              </a:solidFill>
              <a:effectLst/>
              <a:uFillTx/>
              <a:latin typeface="Arial"/>
            </a:endParaRPr>
          </a:p>
        </p:txBody>
      </p:sp>
      <p:sp>
        <p:nvSpPr>
          <p:cNvPr id="375" name="TextBox 9"/>
          <p:cNvSpPr/>
          <p:nvPr/>
        </p:nvSpPr>
        <p:spPr>
          <a:xfrm>
            <a:off x="1481400" y="3200400"/>
            <a:ext cx="987516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0" u="none" strike="noStrike">
                <a:solidFill>
                  <a:srgbClr val="193536"/>
                </a:solidFill>
                <a:effectLst/>
                <a:uFillTx/>
                <a:latin typeface="Arial"/>
              </a:rPr>
              <a:t>Quais metodologias e ferramentas validam a eficácia, a usabilidade, a durabilidade e a possibilidade de reproduzir os resultados de próteses impressas em 3D?</a:t>
            </a:r>
            <a:endParaRPr lang="pt-PT" sz="2200" b="0" u="none" strike="noStrike">
              <a:solidFill>
                <a:srgbClr val="000000"/>
              </a:solidFill>
              <a:effectLst/>
              <a:uFillTx/>
              <a:latin typeface="Arial"/>
            </a:endParaRPr>
          </a:p>
        </p:txBody>
      </p:sp>
      <p:sp>
        <p:nvSpPr>
          <p:cNvPr id="376" name="TextBox 10"/>
          <p:cNvSpPr/>
          <p:nvPr/>
        </p:nvSpPr>
        <p:spPr>
          <a:xfrm>
            <a:off x="713160" y="4544640"/>
            <a:ext cx="5940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P3</a:t>
            </a:r>
            <a:endParaRPr lang="pt-PT" sz="2300" b="0" u="none" strike="noStrike">
              <a:solidFill>
                <a:srgbClr val="000000"/>
              </a:solidFill>
              <a:effectLst/>
              <a:uFillTx/>
              <a:latin typeface="Arial"/>
            </a:endParaRPr>
          </a:p>
        </p:txBody>
      </p:sp>
      <p:sp>
        <p:nvSpPr>
          <p:cNvPr id="377" name="TextBox 11"/>
          <p:cNvSpPr/>
          <p:nvPr/>
        </p:nvSpPr>
        <p:spPr>
          <a:xfrm>
            <a:off x="1481400" y="4544640"/>
            <a:ext cx="987516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0" u="none" strike="noStrike">
                <a:solidFill>
                  <a:srgbClr val="193536"/>
                </a:solidFill>
                <a:effectLst/>
                <a:uFillTx/>
                <a:latin typeface="Arial"/>
              </a:rPr>
              <a:t>Como é que o design industrial concilia requisitos anatómicos, funcionais, ergonómicos, estéticos e simbólicos, promovendo a aceitação, a dignidade e a autonomia?</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7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DESENHO DA AVALIAÇÃO</a:t>
            </a:r>
            <a:endParaRPr lang="pt-PT" sz="1100" b="0" u="none" strike="noStrike">
              <a:solidFill>
                <a:srgbClr val="000000"/>
              </a:solidFill>
              <a:effectLst/>
              <a:uFillTx/>
              <a:latin typeface="Arial"/>
            </a:endParaRPr>
          </a:p>
        </p:txBody>
      </p:sp>
      <p:sp>
        <p:nvSpPr>
          <p:cNvPr id="38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Os números representam conjuntos diferentes</a:t>
            </a:r>
            <a:endParaRPr lang="pt-PT" sz="3200" b="0" u="none" strike="noStrike">
              <a:solidFill>
                <a:srgbClr val="000000"/>
              </a:solidFill>
              <a:effectLst/>
              <a:uFillTx/>
              <a:latin typeface="Arial"/>
            </a:endParaRPr>
          </a:p>
        </p:txBody>
      </p:sp>
      <p:sp>
        <p:nvSpPr>
          <p:cNvPr id="38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capítulo 8, Anexo D e CSV das Séries A/B e medições físicas.</a:t>
            </a:r>
            <a:endParaRPr lang="pt-PT" sz="1000" b="0" u="none" strike="noStrike">
              <a:solidFill>
                <a:srgbClr val="000000"/>
              </a:solidFill>
              <a:effectLst/>
              <a:uFillTx/>
              <a:latin typeface="Arial"/>
            </a:endParaRPr>
          </a:p>
        </p:txBody>
      </p:sp>
      <p:sp>
        <p:nvSpPr>
          <p:cNvPr id="38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25</a:t>
            </a:r>
            <a:endParaRPr lang="pt-PT" sz="1100" b="0" u="none" strike="noStrike">
              <a:solidFill>
                <a:srgbClr val="000000"/>
              </a:solidFill>
              <a:effectLst/>
              <a:uFillTx/>
              <a:latin typeface="Arial"/>
            </a:endParaRPr>
          </a:p>
        </p:txBody>
      </p:sp>
      <p:sp>
        <p:nvSpPr>
          <p:cNvPr id="383" name="Rectangle 6"/>
          <p:cNvSpPr/>
          <p:nvPr/>
        </p:nvSpPr>
        <p:spPr>
          <a:xfrm>
            <a:off x="640080" y="190188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4" name="TextBox 7"/>
          <p:cNvSpPr/>
          <p:nvPr/>
        </p:nvSpPr>
        <p:spPr>
          <a:xfrm>
            <a:off x="84132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4</a:t>
            </a:r>
            <a:endParaRPr lang="pt-PT" sz="2800" b="0" u="none" strike="noStrike">
              <a:solidFill>
                <a:srgbClr val="000000"/>
              </a:solidFill>
              <a:effectLst/>
              <a:uFillTx/>
              <a:latin typeface="Arial"/>
            </a:endParaRPr>
          </a:p>
        </p:txBody>
      </p:sp>
      <p:sp>
        <p:nvSpPr>
          <p:cNvPr id="385" name="TextBox 8"/>
          <p:cNvSpPr/>
          <p:nvPr/>
        </p:nvSpPr>
        <p:spPr>
          <a:xfrm>
            <a:off x="84132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Projetos da Série A</a:t>
            </a:r>
            <a:endParaRPr lang="pt-PT" sz="2300" b="0" u="none" strike="noStrike">
              <a:solidFill>
                <a:srgbClr val="000000"/>
              </a:solidFill>
              <a:effectLst/>
              <a:uFillTx/>
              <a:latin typeface="Arial"/>
            </a:endParaRPr>
          </a:p>
        </p:txBody>
      </p:sp>
      <p:sp>
        <p:nvSpPr>
          <p:cNvPr id="386" name="TextBox 9"/>
          <p:cNvSpPr/>
          <p:nvPr/>
        </p:nvSpPr>
        <p:spPr>
          <a:xfrm>
            <a:off x="841320" y="354780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Condições diferentes. Comparação direta entre equipamentos limitada.</a:t>
            </a:r>
            <a:endParaRPr lang="pt-PT" sz="1900" b="0" u="none" strike="noStrike">
              <a:solidFill>
                <a:srgbClr val="000000"/>
              </a:solidFill>
              <a:effectLst/>
              <a:uFillTx/>
              <a:latin typeface="Arial"/>
            </a:endParaRPr>
          </a:p>
        </p:txBody>
      </p:sp>
      <p:sp>
        <p:nvSpPr>
          <p:cNvPr id="387" name="Rectangle 10"/>
          <p:cNvSpPr/>
          <p:nvPr/>
        </p:nvSpPr>
        <p:spPr>
          <a:xfrm>
            <a:off x="4343400" y="190188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8" name="TextBox 11"/>
          <p:cNvSpPr/>
          <p:nvPr/>
        </p:nvSpPr>
        <p:spPr>
          <a:xfrm>
            <a:off x="454464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12</a:t>
            </a:r>
            <a:endParaRPr lang="pt-PT" sz="2800" b="0" u="none" strike="noStrike">
              <a:solidFill>
                <a:srgbClr val="000000"/>
              </a:solidFill>
              <a:effectLst/>
              <a:uFillTx/>
              <a:latin typeface="Arial"/>
            </a:endParaRPr>
          </a:p>
        </p:txBody>
      </p:sp>
      <p:sp>
        <p:nvSpPr>
          <p:cNvPr id="389" name="TextBox 12"/>
          <p:cNvSpPr/>
          <p:nvPr/>
        </p:nvSpPr>
        <p:spPr>
          <a:xfrm>
            <a:off x="454464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Casos da Série B</a:t>
            </a:r>
            <a:endParaRPr lang="pt-PT" sz="2300" b="0" u="none" strike="noStrike">
              <a:solidFill>
                <a:srgbClr val="000000"/>
              </a:solidFill>
              <a:effectLst/>
              <a:uFillTx/>
              <a:latin typeface="Arial"/>
            </a:endParaRPr>
          </a:p>
        </p:txBody>
      </p:sp>
      <p:sp>
        <p:nvSpPr>
          <p:cNvPr id="390" name="TextBox 13"/>
          <p:cNvSpPr/>
          <p:nvPr/>
        </p:nvSpPr>
        <p:spPr>
          <a:xfrm>
            <a:off x="4544640" y="354780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3 modelos × 4 perfis. Preparação digital concluída, com avisos.</a:t>
            </a:r>
            <a:endParaRPr lang="pt-PT" sz="1900" b="0" u="none" strike="noStrike">
              <a:solidFill>
                <a:srgbClr val="000000"/>
              </a:solidFill>
              <a:effectLst/>
              <a:uFillTx/>
              <a:latin typeface="Arial"/>
            </a:endParaRPr>
          </a:p>
        </p:txBody>
      </p:sp>
      <p:sp>
        <p:nvSpPr>
          <p:cNvPr id="391" name="Rectangle 14"/>
          <p:cNvSpPr/>
          <p:nvPr/>
        </p:nvSpPr>
        <p:spPr>
          <a:xfrm>
            <a:off x="8046720" y="190188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2" name="TextBox 15"/>
          <p:cNvSpPr/>
          <p:nvPr/>
        </p:nvSpPr>
        <p:spPr>
          <a:xfrm>
            <a:off x="824796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72</a:t>
            </a:r>
            <a:endParaRPr lang="pt-PT" sz="2800" b="0" u="none" strike="noStrike">
              <a:solidFill>
                <a:srgbClr val="000000"/>
              </a:solidFill>
              <a:effectLst/>
              <a:uFillTx/>
              <a:latin typeface="Arial"/>
            </a:endParaRPr>
          </a:p>
        </p:txBody>
      </p:sp>
      <p:sp>
        <p:nvSpPr>
          <p:cNvPr id="393" name="TextBox 16"/>
          <p:cNvSpPr/>
          <p:nvPr/>
        </p:nvSpPr>
        <p:spPr>
          <a:xfrm>
            <a:off x="824796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Medições físicas</a:t>
            </a:r>
            <a:endParaRPr lang="pt-PT" sz="2300" b="0" u="none" strike="noStrike">
              <a:solidFill>
                <a:srgbClr val="000000"/>
              </a:solidFill>
              <a:effectLst/>
              <a:uFillTx/>
              <a:latin typeface="Arial"/>
            </a:endParaRPr>
          </a:p>
        </p:txBody>
      </p:sp>
      <p:sp>
        <p:nvSpPr>
          <p:cNvPr id="394" name="TextBox 17"/>
          <p:cNvSpPr/>
          <p:nvPr/>
        </p:nvSpPr>
        <p:spPr>
          <a:xfrm>
            <a:off x="8247960" y="354780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3 modelos × 4 perfis × 3 eixos × 2 materiais. Uma leitura por combinação.</a:t>
            </a:r>
            <a:endParaRPr lang="pt-PT" sz="1900" b="0" u="none" strike="noStrike">
              <a:solidFill>
                <a:srgbClr val="000000"/>
              </a:solidFill>
              <a:effectLst/>
              <a:uFillTx/>
              <a:latin typeface="Arial"/>
            </a:endParaRPr>
          </a:p>
        </p:txBody>
      </p:sp>
      <p:sp>
        <p:nvSpPr>
          <p:cNvPr id="395" name="TextBox 18"/>
          <p:cNvSpPr/>
          <p:nvPr/>
        </p:nvSpPr>
        <p:spPr>
          <a:xfrm>
            <a:off x="877680" y="5559480"/>
            <a:ext cx="1024092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Perfis de ensaio: 8, 15, 28 e 70 anos. Não correspondem a participantes.</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96"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7"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COMPARAÇÃO DIMENSIONAL</a:t>
            </a:r>
            <a:endParaRPr lang="pt-PT" sz="1100" b="0" u="none" strike="noStrike">
              <a:solidFill>
                <a:srgbClr val="000000"/>
              </a:solidFill>
              <a:effectLst/>
              <a:uFillTx/>
              <a:latin typeface="Arial"/>
            </a:endParaRPr>
          </a:p>
        </p:txBody>
      </p:sp>
      <p:sp>
        <p:nvSpPr>
          <p:cNvPr id="398"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Valores registados: amplitude por grupo</a:t>
            </a:r>
            <a:endParaRPr lang="pt-PT" sz="3200" b="0" u="none" strike="noStrike">
              <a:solidFill>
                <a:srgbClr val="000000"/>
              </a:solidFill>
              <a:effectLst/>
              <a:uFillTx/>
              <a:latin typeface="Arial"/>
            </a:endParaRPr>
          </a:p>
        </p:txBody>
      </p:sp>
      <p:sp>
        <p:nvSpPr>
          <p:cNvPr id="399"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comparacao_dimensional_72_medicoes.csv · Diferença = dimensão física − dimensão da malha.</a:t>
            </a:r>
            <a:endParaRPr lang="pt-PT" sz="1000" b="0" u="none" strike="noStrike">
              <a:solidFill>
                <a:srgbClr val="000000"/>
              </a:solidFill>
              <a:effectLst/>
              <a:uFillTx/>
              <a:latin typeface="Arial"/>
            </a:endParaRPr>
          </a:p>
        </p:txBody>
      </p:sp>
      <p:sp>
        <p:nvSpPr>
          <p:cNvPr id="400"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26</a:t>
            </a:r>
            <a:endParaRPr lang="pt-PT" sz="1100" b="0" u="none" strike="noStrike">
              <a:solidFill>
                <a:srgbClr val="000000"/>
              </a:solidFill>
              <a:effectLst/>
              <a:uFillTx/>
              <a:latin typeface="Arial"/>
            </a:endParaRPr>
          </a:p>
        </p:txBody>
      </p:sp>
      <p:sp>
        <p:nvSpPr>
          <p:cNvPr id="401" name="TextBox 6"/>
          <p:cNvSpPr/>
          <p:nvPr/>
        </p:nvSpPr>
        <p:spPr>
          <a:xfrm>
            <a:off x="822960" y="1764720"/>
            <a:ext cx="36572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007C78"/>
                </a:solidFill>
                <a:effectLst/>
                <a:uFillTx/>
                <a:latin typeface="Arial"/>
              </a:rPr>
              <a:t>MODELO / MATERIAL</a:t>
            </a:r>
            <a:endParaRPr lang="pt-PT" sz="1300" b="0" u="none" strike="noStrike">
              <a:solidFill>
                <a:srgbClr val="000000"/>
              </a:solidFill>
              <a:effectLst/>
              <a:uFillTx/>
              <a:latin typeface="Arial"/>
            </a:endParaRPr>
          </a:p>
        </p:txBody>
      </p:sp>
      <p:sp>
        <p:nvSpPr>
          <p:cNvPr id="402" name="TextBox 7"/>
          <p:cNvSpPr/>
          <p:nvPr/>
        </p:nvSpPr>
        <p:spPr>
          <a:xfrm>
            <a:off x="5486400" y="1764720"/>
            <a:ext cx="27428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007C78"/>
                </a:solidFill>
                <a:effectLst/>
                <a:uFillTx/>
                <a:latin typeface="Arial"/>
              </a:rPr>
              <a:t>MÍNIMO (mm)</a:t>
            </a:r>
            <a:endParaRPr lang="pt-PT" sz="1300" b="0" u="none" strike="noStrike">
              <a:solidFill>
                <a:srgbClr val="000000"/>
              </a:solidFill>
              <a:effectLst/>
              <a:uFillTx/>
              <a:latin typeface="Arial"/>
            </a:endParaRPr>
          </a:p>
        </p:txBody>
      </p:sp>
      <p:sp>
        <p:nvSpPr>
          <p:cNvPr id="403" name="TextBox 8"/>
          <p:cNvSpPr/>
          <p:nvPr/>
        </p:nvSpPr>
        <p:spPr>
          <a:xfrm>
            <a:off x="8229600" y="1764720"/>
            <a:ext cx="27428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007C78"/>
                </a:solidFill>
                <a:effectLst/>
                <a:uFillTx/>
                <a:latin typeface="Arial"/>
              </a:rPr>
              <a:t>MÁXIMO (mm)</a:t>
            </a:r>
            <a:endParaRPr lang="pt-PT" sz="1300" b="0" u="none" strike="noStrike">
              <a:solidFill>
                <a:srgbClr val="000000"/>
              </a:solidFill>
              <a:effectLst/>
              <a:uFillTx/>
              <a:latin typeface="Arial"/>
            </a:endParaRPr>
          </a:p>
        </p:txBody>
      </p:sp>
      <p:sp>
        <p:nvSpPr>
          <p:cNvPr id="404" name="Rectangle 9"/>
          <p:cNvSpPr/>
          <p:nvPr/>
        </p:nvSpPr>
        <p:spPr>
          <a:xfrm>
            <a:off x="640080" y="228600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5" name="TextBox 10"/>
          <p:cNvSpPr/>
          <p:nvPr/>
        </p:nvSpPr>
        <p:spPr>
          <a:xfrm>
            <a:off x="868680" y="232272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Flexy Beast · PLA</a:t>
            </a:r>
            <a:endParaRPr lang="pt-PT" sz="1800" b="0" u="none" strike="noStrike">
              <a:solidFill>
                <a:srgbClr val="000000"/>
              </a:solidFill>
              <a:effectLst/>
              <a:uFillTx/>
              <a:latin typeface="Arial"/>
            </a:endParaRPr>
          </a:p>
        </p:txBody>
      </p:sp>
      <p:sp>
        <p:nvSpPr>
          <p:cNvPr id="406" name="TextBox 11"/>
          <p:cNvSpPr/>
          <p:nvPr/>
        </p:nvSpPr>
        <p:spPr>
          <a:xfrm>
            <a:off x="5486400" y="232272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-0,398</a:t>
            </a:r>
            <a:endParaRPr lang="pt-PT" sz="1900" b="0" u="none" strike="noStrike">
              <a:solidFill>
                <a:srgbClr val="000000"/>
              </a:solidFill>
              <a:effectLst/>
              <a:uFillTx/>
              <a:latin typeface="Arial"/>
            </a:endParaRPr>
          </a:p>
        </p:txBody>
      </p:sp>
      <p:sp>
        <p:nvSpPr>
          <p:cNvPr id="407" name="TextBox 12"/>
          <p:cNvSpPr/>
          <p:nvPr/>
        </p:nvSpPr>
        <p:spPr>
          <a:xfrm>
            <a:off x="8229600" y="232272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-0,108</a:t>
            </a:r>
            <a:endParaRPr lang="pt-PT" sz="1900" b="0" u="none" strike="noStrike">
              <a:solidFill>
                <a:srgbClr val="000000"/>
              </a:solidFill>
              <a:effectLst/>
              <a:uFillTx/>
              <a:latin typeface="Arial"/>
            </a:endParaRPr>
          </a:p>
        </p:txBody>
      </p:sp>
      <p:sp>
        <p:nvSpPr>
          <p:cNvPr id="408" name="Rectangle 13"/>
          <p:cNvSpPr/>
          <p:nvPr/>
        </p:nvSpPr>
        <p:spPr>
          <a:xfrm>
            <a:off x="640080" y="284364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9" name="TextBox 14"/>
          <p:cNvSpPr/>
          <p:nvPr/>
        </p:nvSpPr>
        <p:spPr>
          <a:xfrm>
            <a:off x="868680" y="288036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Flexy Beast · PETG</a:t>
            </a:r>
            <a:endParaRPr lang="pt-PT" sz="1800" b="0" u="none" strike="noStrike">
              <a:solidFill>
                <a:srgbClr val="000000"/>
              </a:solidFill>
              <a:effectLst/>
              <a:uFillTx/>
              <a:latin typeface="Arial"/>
            </a:endParaRPr>
          </a:p>
        </p:txBody>
      </p:sp>
      <p:sp>
        <p:nvSpPr>
          <p:cNvPr id="410" name="TextBox 15"/>
          <p:cNvSpPr/>
          <p:nvPr/>
        </p:nvSpPr>
        <p:spPr>
          <a:xfrm>
            <a:off x="5486400" y="288036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-0,527</a:t>
            </a:r>
            <a:endParaRPr lang="pt-PT" sz="1900" b="0" u="none" strike="noStrike">
              <a:solidFill>
                <a:srgbClr val="000000"/>
              </a:solidFill>
              <a:effectLst/>
              <a:uFillTx/>
              <a:latin typeface="Arial"/>
            </a:endParaRPr>
          </a:p>
        </p:txBody>
      </p:sp>
      <p:sp>
        <p:nvSpPr>
          <p:cNvPr id="411" name="TextBox 16"/>
          <p:cNvSpPr/>
          <p:nvPr/>
        </p:nvSpPr>
        <p:spPr>
          <a:xfrm>
            <a:off x="8229600" y="288036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-0,137</a:t>
            </a:r>
            <a:endParaRPr lang="pt-PT" sz="1900" b="0" u="none" strike="noStrike">
              <a:solidFill>
                <a:srgbClr val="000000"/>
              </a:solidFill>
              <a:effectLst/>
              <a:uFillTx/>
              <a:latin typeface="Arial"/>
            </a:endParaRPr>
          </a:p>
        </p:txBody>
      </p:sp>
      <p:sp>
        <p:nvSpPr>
          <p:cNvPr id="412" name="Rectangle 17"/>
          <p:cNvSpPr/>
          <p:nvPr/>
        </p:nvSpPr>
        <p:spPr>
          <a:xfrm>
            <a:off x="640080" y="340164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18"/>
          <p:cNvSpPr/>
          <p:nvPr/>
        </p:nvSpPr>
        <p:spPr>
          <a:xfrm>
            <a:off x="868680" y="343800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Paraglider Hand · PLA</a:t>
            </a:r>
            <a:endParaRPr lang="pt-PT" sz="1800" b="0" u="none" strike="noStrike">
              <a:solidFill>
                <a:srgbClr val="000000"/>
              </a:solidFill>
              <a:effectLst/>
              <a:uFillTx/>
              <a:latin typeface="Arial"/>
            </a:endParaRPr>
          </a:p>
        </p:txBody>
      </p:sp>
      <p:sp>
        <p:nvSpPr>
          <p:cNvPr id="414" name="TextBox 19"/>
          <p:cNvSpPr/>
          <p:nvPr/>
        </p:nvSpPr>
        <p:spPr>
          <a:xfrm>
            <a:off x="5486400" y="3438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-0,375</a:t>
            </a:r>
            <a:endParaRPr lang="pt-PT" sz="1900" b="0" u="none" strike="noStrike">
              <a:solidFill>
                <a:srgbClr val="000000"/>
              </a:solidFill>
              <a:effectLst/>
              <a:uFillTx/>
              <a:latin typeface="Arial"/>
            </a:endParaRPr>
          </a:p>
        </p:txBody>
      </p:sp>
      <p:sp>
        <p:nvSpPr>
          <p:cNvPr id="415" name="TextBox 20"/>
          <p:cNvSpPr/>
          <p:nvPr/>
        </p:nvSpPr>
        <p:spPr>
          <a:xfrm>
            <a:off x="8229600" y="3438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-0,089</a:t>
            </a:r>
            <a:endParaRPr lang="pt-PT" sz="1900" b="0" u="none" strike="noStrike">
              <a:solidFill>
                <a:srgbClr val="000000"/>
              </a:solidFill>
              <a:effectLst/>
              <a:uFillTx/>
              <a:latin typeface="Arial"/>
            </a:endParaRPr>
          </a:p>
        </p:txBody>
      </p:sp>
      <p:sp>
        <p:nvSpPr>
          <p:cNvPr id="416" name="Rectangle 21"/>
          <p:cNvSpPr/>
          <p:nvPr/>
        </p:nvSpPr>
        <p:spPr>
          <a:xfrm>
            <a:off x="640080" y="395928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7" name="TextBox 22"/>
          <p:cNvSpPr/>
          <p:nvPr/>
        </p:nvSpPr>
        <p:spPr>
          <a:xfrm>
            <a:off x="868680" y="399600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Paraglider Hand · PETG</a:t>
            </a:r>
            <a:endParaRPr lang="pt-PT" sz="1800" b="0" u="none" strike="noStrike">
              <a:solidFill>
                <a:srgbClr val="000000"/>
              </a:solidFill>
              <a:effectLst/>
              <a:uFillTx/>
              <a:latin typeface="Arial"/>
            </a:endParaRPr>
          </a:p>
        </p:txBody>
      </p:sp>
      <p:sp>
        <p:nvSpPr>
          <p:cNvPr id="418" name="TextBox 23"/>
          <p:cNvSpPr/>
          <p:nvPr/>
        </p:nvSpPr>
        <p:spPr>
          <a:xfrm>
            <a:off x="5486400" y="3996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-0,523</a:t>
            </a:r>
            <a:endParaRPr lang="pt-PT" sz="1900" b="0" u="none" strike="noStrike">
              <a:solidFill>
                <a:srgbClr val="000000"/>
              </a:solidFill>
              <a:effectLst/>
              <a:uFillTx/>
              <a:latin typeface="Arial"/>
            </a:endParaRPr>
          </a:p>
        </p:txBody>
      </p:sp>
      <p:sp>
        <p:nvSpPr>
          <p:cNvPr id="419" name="TextBox 24"/>
          <p:cNvSpPr/>
          <p:nvPr/>
        </p:nvSpPr>
        <p:spPr>
          <a:xfrm>
            <a:off x="8229600" y="3996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-0,117</a:t>
            </a:r>
            <a:endParaRPr lang="pt-PT" sz="1900" b="0" u="none" strike="noStrike">
              <a:solidFill>
                <a:srgbClr val="000000"/>
              </a:solidFill>
              <a:effectLst/>
              <a:uFillTx/>
              <a:latin typeface="Arial"/>
            </a:endParaRPr>
          </a:p>
        </p:txBody>
      </p:sp>
      <p:sp>
        <p:nvSpPr>
          <p:cNvPr id="420" name="Rectangle 25"/>
          <p:cNvSpPr/>
          <p:nvPr/>
        </p:nvSpPr>
        <p:spPr>
          <a:xfrm>
            <a:off x="640080" y="451728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1" name="TextBox 26"/>
          <p:cNvSpPr/>
          <p:nvPr/>
        </p:nvSpPr>
        <p:spPr>
          <a:xfrm>
            <a:off x="868680" y="455364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UnLimbited Phoenix · PLA</a:t>
            </a:r>
            <a:endParaRPr lang="pt-PT" sz="1800" b="0" u="none" strike="noStrike">
              <a:solidFill>
                <a:srgbClr val="000000"/>
              </a:solidFill>
              <a:effectLst/>
              <a:uFillTx/>
              <a:latin typeface="Arial"/>
            </a:endParaRPr>
          </a:p>
        </p:txBody>
      </p:sp>
      <p:sp>
        <p:nvSpPr>
          <p:cNvPr id="422" name="TextBox 27"/>
          <p:cNvSpPr/>
          <p:nvPr/>
        </p:nvSpPr>
        <p:spPr>
          <a:xfrm>
            <a:off x="5486400" y="4553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-0,302</a:t>
            </a:r>
            <a:endParaRPr lang="pt-PT" sz="1900" b="0" u="none" strike="noStrike">
              <a:solidFill>
                <a:srgbClr val="000000"/>
              </a:solidFill>
              <a:effectLst/>
              <a:uFillTx/>
              <a:latin typeface="Arial"/>
            </a:endParaRPr>
          </a:p>
        </p:txBody>
      </p:sp>
      <p:sp>
        <p:nvSpPr>
          <p:cNvPr id="423" name="TextBox 28"/>
          <p:cNvSpPr/>
          <p:nvPr/>
        </p:nvSpPr>
        <p:spPr>
          <a:xfrm>
            <a:off x="8229600" y="4553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-0,084</a:t>
            </a:r>
            <a:endParaRPr lang="pt-PT" sz="1900" b="0" u="none" strike="noStrike">
              <a:solidFill>
                <a:srgbClr val="000000"/>
              </a:solidFill>
              <a:effectLst/>
              <a:uFillTx/>
              <a:latin typeface="Arial"/>
            </a:endParaRPr>
          </a:p>
        </p:txBody>
      </p:sp>
      <p:sp>
        <p:nvSpPr>
          <p:cNvPr id="424" name="Rectangle 29"/>
          <p:cNvSpPr/>
          <p:nvPr/>
        </p:nvSpPr>
        <p:spPr>
          <a:xfrm>
            <a:off x="640080" y="507492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5" name="TextBox 30"/>
          <p:cNvSpPr/>
          <p:nvPr/>
        </p:nvSpPr>
        <p:spPr>
          <a:xfrm>
            <a:off x="868680" y="511164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UnLimbited Phoenix · PETG</a:t>
            </a:r>
            <a:endParaRPr lang="pt-PT" sz="1800" b="0" u="none" strike="noStrike">
              <a:solidFill>
                <a:srgbClr val="000000"/>
              </a:solidFill>
              <a:effectLst/>
              <a:uFillTx/>
              <a:latin typeface="Arial"/>
            </a:endParaRPr>
          </a:p>
        </p:txBody>
      </p:sp>
      <p:sp>
        <p:nvSpPr>
          <p:cNvPr id="426" name="TextBox 31"/>
          <p:cNvSpPr/>
          <p:nvPr/>
        </p:nvSpPr>
        <p:spPr>
          <a:xfrm>
            <a:off x="5486400" y="5111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-0,414</a:t>
            </a:r>
            <a:endParaRPr lang="pt-PT" sz="1900" b="0" u="none" strike="noStrike">
              <a:solidFill>
                <a:srgbClr val="000000"/>
              </a:solidFill>
              <a:effectLst/>
              <a:uFillTx/>
              <a:latin typeface="Arial"/>
            </a:endParaRPr>
          </a:p>
        </p:txBody>
      </p:sp>
      <p:sp>
        <p:nvSpPr>
          <p:cNvPr id="427" name="TextBox 32"/>
          <p:cNvSpPr/>
          <p:nvPr/>
        </p:nvSpPr>
        <p:spPr>
          <a:xfrm>
            <a:off x="8229600" y="5111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-0,121</a:t>
            </a:r>
            <a:endParaRPr lang="pt-PT"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2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LIMITES ENCONTRADOS</a:t>
            </a:r>
            <a:endParaRPr lang="pt-PT" sz="1100" b="0" u="none" strike="noStrike">
              <a:solidFill>
                <a:srgbClr val="000000"/>
              </a:solidFill>
              <a:effectLst/>
              <a:uFillTx/>
              <a:latin typeface="Arial"/>
            </a:endParaRPr>
          </a:p>
        </p:txBody>
      </p:sp>
      <p:sp>
        <p:nvSpPr>
          <p:cNvPr id="43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As falhas também </a:t>
            </a:r>
            <a:r>
              <a:rPr lang="en-US" sz="3200" b="1" u="none" strike="noStrike">
                <a:solidFill>
                  <a:srgbClr val="193536"/>
                </a:solidFill>
                <a:effectLst/>
                <a:uFillTx/>
                <a:latin typeface="Arial"/>
              </a:rPr>
              <a:t>definem o </a:t>
            </a:r>
            <a:r>
              <a:rPr lang="en-US" sz="3200" b="1" u="none" strike="noStrike">
                <a:solidFill>
                  <a:srgbClr val="193536"/>
                </a:solidFill>
                <a:effectLst/>
                <a:uFillTx/>
                <a:latin typeface="Arial"/>
              </a:rPr>
              <a:t>próximo passo</a:t>
            </a:r>
            <a:endParaRPr lang="pt-PT" sz="3200" b="0" u="none" strike="noStrike">
              <a:solidFill>
                <a:srgbClr val="000000"/>
              </a:solidFill>
              <a:effectLst/>
              <a:uFillTx/>
              <a:latin typeface="Arial"/>
            </a:endParaRPr>
          </a:p>
        </p:txBody>
      </p:sp>
      <p:sp>
        <p:nvSpPr>
          <p:cNvPr id="43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8.1.2 e Anexo B · Ensaios de recuperação e auditoria de acessibilidade.</a:t>
            </a:r>
            <a:endParaRPr lang="pt-PT" sz="1000" b="0" u="none" strike="noStrike">
              <a:solidFill>
                <a:srgbClr val="000000"/>
              </a:solidFill>
              <a:effectLst/>
              <a:uFillTx/>
              <a:latin typeface="Arial"/>
            </a:endParaRPr>
          </a:p>
        </p:txBody>
      </p:sp>
      <p:sp>
        <p:nvSpPr>
          <p:cNvPr id="43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27</a:t>
            </a:r>
            <a:endParaRPr lang="pt-PT" sz="1100" b="0" u="none" strike="noStrike">
              <a:solidFill>
                <a:srgbClr val="000000"/>
              </a:solidFill>
              <a:effectLst/>
              <a:uFillTx/>
              <a:latin typeface="Arial"/>
            </a:endParaRPr>
          </a:p>
        </p:txBody>
      </p:sp>
      <p:sp>
        <p:nvSpPr>
          <p:cNvPr id="433" name="Rectangle 6"/>
          <p:cNvSpPr/>
          <p:nvPr/>
        </p:nvSpPr>
        <p:spPr>
          <a:xfrm>
            <a:off x="640080" y="1901880"/>
            <a:ext cx="5303160" cy="3382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4" name="TextBox 7"/>
          <p:cNvSpPr/>
          <p:nvPr/>
        </p:nvSpPr>
        <p:spPr>
          <a:xfrm>
            <a:off x="841320" y="206640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Controlo</a:t>
            </a:r>
            <a:endParaRPr lang="pt-PT" sz="2800" b="0" u="none" strike="noStrike">
              <a:solidFill>
                <a:srgbClr val="000000"/>
              </a:solidFill>
              <a:effectLst/>
              <a:uFillTx/>
              <a:latin typeface="Arial"/>
            </a:endParaRPr>
          </a:p>
        </p:txBody>
      </p:sp>
      <p:sp>
        <p:nvSpPr>
          <p:cNvPr id="435" name="TextBox 8"/>
          <p:cNvSpPr/>
          <p:nvPr/>
        </p:nvSpPr>
        <p:spPr>
          <a:xfrm>
            <a:off x="841320" y="269748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Valores fora do limite</a:t>
            </a:r>
            <a:endParaRPr lang="pt-PT" sz="2300" b="0" u="none" strike="noStrike">
              <a:solidFill>
                <a:srgbClr val="000000"/>
              </a:solidFill>
              <a:effectLst/>
              <a:uFillTx/>
              <a:latin typeface="Arial"/>
            </a:endParaRPr>
          </a:p>
        </p:txBody>
      </p:sp>
      <p:sp>
        <p:nvSpPr>
          <p:cNvPr id="436" name="TextBox 9"/>
          <p:cNvSpPr/>
          <p:nvPr/>
        </p:nvSpPr>
        <p:spPr>
          <a:xfrm>
            <a:off x="841320" y="3547800"/>
            <a:ext cx="4900680" cy="1599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Um valor simulado acima do limite chegou ao estado interno.</a:t>
            </a:r>
            <a:endParaRPr lang="pt-PT" sz="1900" b="0" u="none" strike="noStrike">
              <a:solidFill>
                <a:srgbClr val="000000"/>
              </a:solidFill>
              <a:effectLst/>
              <a:uFillTx/>
              <a:latin typeface="Arial"/>
            </a:endParaRPr>
          </a:p>
        </p:txBody>
      </p:sp>
      <p:sp>
        <p:nvSpPr>
          <p:cNvPr id="437" name="Rectangle 10"/>
          <p:cNvSpPr/>
          <p:nvPr/>
        </p:nvSpPr>
        <p:spPr>
          <a:xfrm>
            <a:off x="6217920" y="1901880"/>
            <a:ext cx="5303160" cy="3382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8" name="TextBox 11"/>
          <p:cNvSpPr/>
          <p:nvPr/>
        </p:nvSpPr>
        <p:spPr>
          <a:xfrm>
            <a:off x="6419160" y="206640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Acessibilidade</a:t>
            </a:r>
            <a:endParaRPr lang="pt-PT" sz="2800" b="0" u="none" strike="noStrike">
              <a:solidFill>
                <a:srgbClr val="000000"/>
              </a:solidFill>
              <a:effectLst/>
              <a:uFillTx/>
              <a:latin typeface="Arial"/>
            </a:endParaRPr>
          </a:p>
        </p:txBody>
      </p:sp>
      <p:sp>
        <p:nvSpPr>
          <p:cNvPr id="439" name="TextBox 12"/>
          <p:cNvSpPr/>
          <p:nvPr/>
        </p:nvSpPr>
        <p:spPr>
          <a:xfrm>
            <a:off x="6419160" y="269748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Barreiras no percurso</a:t>
            </a:r>
            <a:endParaRPr lang="pt-PT" sz="2300" b="0" u="none" strike="noStrike">
              <a:solidFill>
                <a:srgbClr val="000000"/>
              </a:solidFill>
              <a:effectLst/>
              <a:uFillTx/>
              <a:latin typeface="Arial"/>
            </a:endParaRPr>
          </a:p>
        </p:txBody>
      </p:sp>
      <p:sp>
        <p:nvSpPr>
          <p:cNvPr id="440" name="TextBox 13"/>
          <p:cNvSpPr/>
          <p:nvPr/>
        </p:nvSpPr>
        <p:spPr>
          <a:xfrm>
            <a:off x="6419160" y="3547800"/>
            <a:ext cx="4900680" cy="1599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5 de 12 itens falharam na verificação manual.</a:t>
            </a:r>
            <a:endParaRPr lang="pt-PT" sz="1900" b="0" u="none" strike="noStrike">
              <a:solidFill>
                <a:srgbClr val="000000"/>
              </a:solidFill>
              <a:effectLst/>
              <a:uFillTx/>
              <a:latin typeface="Arial"/>
            </a:endParaRPr>
          </a:p>
        </p:txBody>
      </p:sp>
      <p:sp>
        <p:nvSpPr>
          <p:cNvPr id="441" name="TextBox 14"/>
          <p:cNvSpPr/>
          <p:nvPr/>
        </p:nvSpPr>
        <p:spPr>
          <a:xfrm>
            <a:off x="868680" y="5605200"/>
            <a:ext cx="10332360" cy="392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Problemas identificados orientam revisões concretas do sistema.</a:t>
            </a:r>
            <a:endParaRPr lang="pt-PT"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42"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3"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VERIFICAÇÕES DA PLATAFORMA</a:t>
            </a:r>
            <a:endParaRPr lang="pt-PT" sz="1100" b="0" u="none" strike="noStrike">
              <a:solidFill>
                <a:srgbClr val="000000"/>
              </a:solidFill>
              <a:effectLst/>
              <a:uFillTx/>
              <a:latin typeface="Arial"/>
            </a:endParaRPr>
          </a:p>
        </p:txBody>
      </p:sp>
      <p:sp>
        <p:nvSpPr>
          <p:cNvPr id="444"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Repetição e acessibilidade: resultados delimitados</a:t>
            </a:r>
            <a:endParaRPr lang="pt-PT" sz="3200" b="0" u="none" strike="noStrike">
              <a:solidFill>
                <a:srgbClr val="000000"/>
              </a:solidFill>
              <a:effectLst/>
              <a:uFillTx/>
              <a:latin typeface="Arial"/>
            </a:endParaRPr>
          </a:p>
        </p:txBody>
      </p:sp>
      <p:sp>
        <p:nvSpPr>
          <p:cNvPr id="445"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8.1.2 e Anexo B. Repetições idênticas dentro da configuração examinada.</a:t>
            </a:r>
            <a:endParaRPr lang="pt-PT" sz="1000" b="0" u="none" strike="noStrike">
              <a:solidFill>
                <a:srgbClr val="000000"/>
              </a:solidFill>
              <a:effectLst/>
              <a:uFillTx/>
              <a:latin typeface="Arial"/>
            </a:endParaRPr>
          </a:p>
        </p:txBody>
      </p:sp>
      <p:sp>
        <p:nvSpPr>
          <p:cNvPr id="446"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28</a:t>
            </a:r>
            <a:endParaRPr lang="pt-PT" sz="1100" b="0" u="none" strike="noStrike">
              <a:solidFill>
                <a:srgbClr val="000000"/>
              </a:solidFill>
              <a:effectLst/>
              <a:uFillTx/>
              <a:latin typeface="Arial"/>
            </a:endParaRPr>
          </a:p>
        </p:txBody>
      </p:sp>
      <p:sp>
        <p:nvSpPr>
          <p:cNvPr id="447" name="Rectangle 6"/>
          <p:cNvSpPr/>
          <p:nvPr/>
        </p:nvSpPr>
        <p:spPr>
          <a:xfrm>
            <a:off x="640080" y="1956960"/>
            <a:ext cx="5303160" cy="32914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8" name="TextBox 7"/>
          <p:cNvSpPr/>
          <p:nvPr/>
        </p:nvSpPr>
        <p:spPr>
          <a:xfrm>
            <a:off x="841320" y="21214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7 / 5 / 5</a:t>
            </a:r>
            <a:endParaRPr lang="pt-PT" sz="2800" b="0" u="none" strike="noStrike">
              <a:solidFill>
                <a:srgbClr val="000000"/>
              </a:solidFill>
              <a:effectLst/>
              <a:uFillTx/>
              <a:latin typeface="Arial"/>
            </a:endParaRPr>
          </a:p>
        </p:txBody>
      </p:sp>
      <p:sp>
        <p:nvSpPr>
          <p:cNvPr id="449" name="TextBox 8"/>
          <p:cNvSpPr/>
          <p:nvPr/>
        </p:nvSpPr>
        <p:spPr>
          <a:xfrm>
            <a:off x="841320" y="275220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Exportações concluídas</a:t>
            </a:r>
            <a:endParaRPr lang="pt-PT" sz="2300" b="0" u="none" strike="noStrike">
              <a:solidFill>
                <a:srgbClr val="000000"/>
              </a:solidFill>
              <a:effectLst/>
              <a:uFillTx/>
              <a:latin typeface="Arial"/>
            </a:endParaRPr>
          </a:p>
        </p:txBody>
      </p:sp>
      <p:sp>
        <p:nvSpPr>
          <p:cNvPr id="450" name="TextBox 9"/>
          <p:cNvSpPr/>
          <p:nvPr/>
        </p:nvSpPr>
        <p:spPr>
          <a:xfrm>
            <a:off x="841320" y="3602880"/>
            <a:ext cx="4900680" cy="1508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Flexy Beast / Paraglider / Phoenix. Objetivo inicial: 10 por modelo.</a:t>
            </a:r>
            <a:endParaRPr lang="pt-PT" sz="1900" b="0" u="none" strike="noStrike">
              <a:solidFill>
                <a:srgbClr val="000000"/>
              </a:solidFill>
              <a:effectLst/>
              <a:uFillTx/>
              <a:latin typeface="Arial"/>
            </a:endParaRPr>
          </a:p>
        </p:txBody>
      </p:sp>
      <p:sp>
        <p:nvSpPr>
          <p:cNvPr id="451" name="Rectangle 10"/>
          <p:cNvSpPr/>
          <p:nvPr/>
        </p:nvSpPr>
        <p:spPr>
          <a:xfrm>
            <a:off x="6217920" y="1956960"/>
            <a:ext cx="5303160" cy="32914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2" name="TextBox 11"/>
          <p:cNvSpPr/>
          <p:nvPr/>
        </p:nvSpPr>
        <p:spPr>
          <a:xfrm>
            <a:off x="6419160" y="21214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7 conformes · 5 falhas</a:t>
            </a:r>
            <a:endParaRPr lang="pt-PT" sz="2800" b="0" u="none" strike="noStrike">
              <a:solidFill>
                <a:srgbClr val="000000"/>
              </a:solidFill>
              <a:effectLst/>
              <a:uFillTx/>
              <a:latin typeface="Arial"/>
            </a:endParaRPr>
          </a:p>
        </p:txBody>
      </p:sp>
      <p:sp>
        <p:nvSpPr>
          <p:cNvPr id="453" name="TextBox 12"/>
          <p:cNvSpPr/>
          <p:nvPr/>
        </p:nvSpPr>
        <p:spPr>
          <a:xfrm>
            <a:off x="6419160" y="275220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Verificação manual</a:t>
            </a:r>
            <a:endParaRPr lang="pt-PT" sz="2300" b="0" u="none" strike="noStrike">
              <a:solidFill>
                <a:srgbClr val="000000"/>
              </a:solidFill>
              <a:effectLst/>
              <a:uFillTx/>
              <a:latin typeface="Arial"/>
            </a:endParaRPr>
          </a:p>
        </p:txBody>
      </p:sp>
      <p:sp>
        <p:nvSpPr>
          <p:cNvPr id="454" name="TextBox 13"/>
          <p:cNvSpPr/>
          <p:nvPr/>
        </p:nvSpPr>
        <p:spPr>
          <a:xfrm>
            <a:off x="6419160" y="3602880"/>
            <a:ext cx="4900680" cy="1508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12 itens. A auditoria identificou barreiras a corrigir.</a:t>
            </a:r>
            <a:endParaRPr lang="pt-PT"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55"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6"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REFERÊNCIAS</a:t>
            </a:r>
            <a:endParaRPr lang="pt-PT" sz="1100" b="0" u="none" strike="noStrike">
              <a:solidFill>
                <a:srgbClr val="000000"/>
              </a:solidFill>
              <a:effectLst/>
              <a:uFillTx/>
              <a:latin typeface="Arial"/>
            </a:endParaRPr>
          </a:p>
        </p:txBody>
      </p:sp>
      <p:sp>
        <p:nvSpPr>
          <p:cNvPr id="457"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Referências: design e investigação</a:t>
            </a:r>
            <a:endParaRPr lang="pt-PT" sz="3200" b="0" u="none" strike="noStrike">
              <a:solidFill>
                <a:srgbClr val="000000"/>
              </a:solidFill>
              <a:effectLst/>
              <a:uFillTx/>
              <a:latin typeface="Arial"/>
            </a:endParaRPr>
          </a:p>
        </p:txBody>
      </p:sp>
      <p:sp>
        <p:nvSpPr>
          <p:cNvPr id="458"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Seleção da bibliografia do manuscrito · A ligação ao HandFab é uma interpretação aplicada ao projeto.</a:t>
            </a:r>
            <a:endParaRPr lang="pt-PT" sz="1000" b="0" u="none" strike="noStrike">
              <a:solidFill>
                <a:srgbClr val="000000"/>
              </a:solidFill>
              <a:effectLst/>
              <a:uFillTx/>
              <a:latin typeface="Arial"/>
            </a:endParaRPr>
          </a:p>
        </p:txBody>
      </p:sp>
      <p:sp>
        <p:nvSpPr>
          <p:cNvPr id="459"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29</a:t>
            </a:r>
            <a:endParaRPr lang="pt-PT" sz="1100" b="0" u="none" strike="noStrike">
              <a:solidFill>
                <a:srgbClr val="000000"/>
              </a:solidFill>
              <a:effectLst/>
              <a:uFillTx/>
              <a:latin typeface="Arial"/>
            </a:endParaRPr>
          </a:p>
        </p:txBody>
      </p:sp>
      <p:sp>
        <p:nvSpPr>
          <p:cNvPr id="460" name="TextBox 6"/>
          <p:cNvSpPr/>
          <p:nvPr/>
        </p:nvSpPr>
        <p:spPr>
          <a:xfrm>
            <a:off x="731520" y="18471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Cross (1982)</a:t>
            </a:r>
            <a:endParaRPr lang="pt-PT" sz="1800" b="0" u="none" strike="noStrike">
              <a:solidFill>
                <a:srgbClr val="000000"/>
              </a:solidFill>
              <a:effectLst/>
              <a:uFillTx/>
              <a:latin typeface="Arial"/>
            </a:endParaRPr>
          </a:p>
        </p:txBody>
      </p:sp>
      <p:sp>
        <p:nvSpPr>
          <p:cNvPr id="461" name="TextBox 7"/>
          <p:cNvSpPr/>
          <p:nvPr/>
        </p:nvSpPr>
        <p:spPr>
          <a:xfrm>
            <a:off x="3684960" y="18471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Designerly ways of knowing. Design Studies, 3(4), 221-227. DOI: 10.1016/0142-694X(82)90040-0</a:t>
            </a:r>
            <a:endParaRPr lang="pt-PT" sz="1700" b="0" u="none" strike="noStrike">
              <a:solidFill>
                <a:srgbClr val="000000"/>
              </a:solidFill>
              <a:effectLst/>
              <a:uFillTx/>
              <a:latin typeface="Arial"/>
            </a:endParaRPr>
          </a:p>
        </p:txBody>
      </p:sp>
      <p:sp>
        <p:nvSpPr>
          <p:cNvPr id="462" name="TextBox 8"/>
          <p:cNvSpPr/>
          <p:nvPr/>
        </p:nvSpPr>
        <p:spPr>
          <a:xfrm>
            <a:off x="731520" y="26607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Fischer et al. (2004)</a:t>
            </a:r>
            <a:endParaRPr lang="pt-PT" sz="1800" b="0" u="none" strike="noStrike">
              <a:solidFill>
                <a:srgbClr val="000000"/>
              </a:solidFill>
              <a:effectLst/>
              <a:uFillTx/>
              <a:latin typeface="Arial"/>
            </a:endParaRPr>
          </a:p>
        </p:txBody>
      </p:sp>
      <p:sp>
        <p:nvSpPr>
          <p:cNvPr id="463" name="TextBox 9"/>
          <p:cNvSpPr/>
          <p:nvPr/>
        </p:nvSpPr>
        <p:spPr>
          <a:xfrm>
            <a:off x="3684960" y="26607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Meta-design: A manifesto for end-user development. Communications of the ACM, 47(9), 33-37. DOI: 10.1145/1015864.1015884</a:t>
            </a:r>
            <a:endParaRPr lang="pt-PT" sz="1700" b="0" u="none" strike="noStrike">
              <a:solidFill>
                <a:srgbClr val="000000"/>
              </a:solidFill>
              <a:effectLst/>
              <a:uFillTx/>
              <a:latin typeface="Arial"/>
            </a:endParaRPr>
          </a:p>
        </p:txBody>
      </p:sp>
      <p:sp>
        <p:nvSpPr>
          <p:cNvPr id="464" name="TextBox 10"/>
          <p:cNvSpPr/>
          <p:nvPr/>
        </p:nvSpPr>
        <p:spPr>
          <a:xfrm>
            <a:off x="731520" y="347472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Frayling (1994)</a:t>
            </a:r>
            <a:endParaRPr lang="pt-PT" sz="1800" b="0" u="none" strike="noStrike">
              <a:solidFill>
                <a:srgbClr val="000000"/>
              </a:solidFill>
              <a:effectLst/>
              <a:uFillTx/>
              <a:latin typeface="Arial"/>
            </a:endParaRPr>
          </a:p>
        </p:txBody>
      </p:sp>
      <p:sp>
        <p:nvSpPr>
          <p:cNvPr id="465" name="TextBox 11"/>
          <p:cNvSpPr/>
          <p:nvPr/>
        </p:nvSpPr>
        <p:spPr>
          <a:xfrm>
            <a:off x="3684960" y="347472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Research in art and design. Royal College of Art Research Papers, 1(1).</a:t>
            </a:r>
            <a:endParaRPr lang="pt-PT" sz="1700" b="0" u="none" strike="noStrike">
              <a:solidFill>
                <a:srgbClr val="000000"/>
              </a:solidFill>
              <a:effectLst/>
              <a:uFillTx/>
              <a:latin typeface="Arial"/>
            </a:endParaRPr>
          </a:p>
        </p:txBody>
      </p:sp>
      <p:sp>
        <p:nvSpPr>
          <p:cNvPr id="466" name="TextBox 12"/>
          <p:cNvSpPr/>
          <p:nvPr/>
        </p:nvSpPr>
        <p:spPr>
          <a:xfrm>
            <a:off x="731520" y="42886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Zimmerman et al. (2007)</a:t>
            </a:r>
            <a:endParaRPr lang="pt-PT" sz="1800" b="0" u="none" strike="noStrike">
              <a:solidFill>
                <a:srgbClr val="000000"/>
              </a:solidFill>
              <a:effectLst/>
              <a:uFillTx/>
              <a:latin typeface="Arial"/>
            </a:endParaRPr>
          </a:p>
        </p:txBody>
      </p:sp>
      <p:sp>
        <p:nvSpPr>
          <p:cNvPr id="467" name="TextBox 13"/>
          <p:cNvSpPr/>
          <p:nvPr/>
        </p:nvSpPr>
        <p:spPr>
          <a:xfrm>
            <a:off x="3684960" y="42886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Research through design as a method for interaction design research in HCI. CHI, 493-502. DOI: 10.1145/1240624.1240704</a:t>
            </a:r>
            <a:endParaRPr lang="pt-PT" sz="1700" b="0" u="none" strike="noStrike">
              <a:solidFill>
                <a:srgbClr val="000000"/>
              </a:solidFill>
              <a:effectLst/>
              <a:uFillTx/>
              <a:latin typeface="Arial"/>
            </a:endParaRPr>
          </a:p>
        </p:txBody>
      </p:sp>
      <p:sp>
        <p:nvSpPr>
          <p:cNvPr id="468" name="TextBox 14"/>
          <p:cNvSpPr/>
          <p:nvPr/>
        </p:nvSpPr>
        <p:spPr>
          <a:xfrm>
            <a:off x="731520" y="51022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Design Council (2007)</a:t>
            </a:r>
            <a:endParaRPr lang="pt-PT" sz="1800" b="0" u="none" strike="noStrike">
              <a:solidFill>
                <a:srgbClr val="000000"/>
              </a:solidFill>
              <a:effectLst/>
              <a:uFillTx/>
              <a:latin typeface="Arial"/>
            </a:endParaRPr>
          </a:p>
        </p:txBody>
      </p:sp>
      <p:sp>
        <p:nvSpPr>
          <p:cNvPr id="469" name="TextBox 15"/>
          <p:cNvSpPr/>
          <p:nvPr/>
        </p:nvSpPr>
        <p:spPr>
          <a:xfrm>
            <a:off x="3684960" y="51022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Eleven lessons: Managing design in eleven global brands: A study of the design process.</a:t>
            </a:r>
            <a:endParaRPr lang="pt-PT"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70"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1"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REFERÊNCIAS</a:t>
            </a:r>
            <a:endParaRPr lang="pt-PT" sz="1100" b="0" u="none" strike="noStrike">
              <a:solidFill>
                <a:srgbClr val="000000"/>
              </a:solidFill>
              <a:effectLst/>
              <a:uFillTx/>
              <a:latin typeface="Arial"/>
            </a:endParaRPr>
          </a:p>
        </p:txBody>
      </p:sp>
      <p:sp>
        <p:nvSpPr>
          <p:cNvPr id="472"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Referências: próteses e antropometria</a:t>
            </a:r>
            <a:endParaRPr lang="pt-PT" sz="3200" b="0" u="none" strike="noStrike">
              <a:solidFill>
                <a:srgbClr val="000000"/>
              </a:solidFill>
              <a:effectLst/>
              <a:uFillTx/>
              <a:latin typeface="Arial"/>
            </a:endParaRPr>
          </a:p>
        </p:txBody>
      </p:sp>
      <p:sp>
        <p:nvSpPr>
          <p:cNvPr id="473"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Dados e atribuições: Suplemento 1 · Ensaios do projeto: Suplementos 2-4 · Obras distintas com funções próprias.</a:t>
            </a:r>
            <a:endParaRPr lang="pt-PT" sz="1000" b="0" u="none" strike="noStrike">
              <a:solidFill>
                <a:srgbClr val="000000"/>
              </a:solidFill>
              <a:effectLst/>
              <a:uFillTx/>
              <a:latin typeface="Arial"/>
            </a:endParaRPr>
          </a:p>
        </p:txBody>
      </p:sp>
      <p:sp>
        <p:nvSpPr>
          <p:cNvPr id="474"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30</a:t>
            </a:r>
            <a:endParaRPr lang="pt-PT" sz="1100" b="0" u="none" strike="noStrike">
              <a:solidFill>
                <a:srgbClr val="000000"/>
              </a:solidFill>
              <a:effectLst/>
              <a:uFillTx/>
              <a:latin typeface="Arial"/>
            </a:endParaRPr>
          </a:p>
        </p:txBody>
      </p:sp>
      <p:sp>
        <p:nvSpPr>
          <p:cNvPr id="475" name="TextBox 6"/>
          <p:cNvSpPr/>
          <p:nvPr/>
        </p:nvSpPr>
        <p:spPr>
          <a:xfrm>
            <a:off x="731520" y="18471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Manero et al. (2019)</a:t>
            </a:r>
            <a:endParaRPr lang="pt-PT" sz="1800" b="0" u="none" strike="noStrike">
              <a:solidFill>
                <a:srgbClr val="000000"/>
              </a:solidFill>
              <a:effectLst/>
              <a:uFillTx/>
              <a:latin typeface="Arial"/>
            </a:endParaRPr>
          </a:p>
        </p:txBody>
      </p:sp>
      <p:sp>
        <p:nvSpPr>
          <p:cNvPr id="476" name="TextBox 7"/>
          <p:cNvSpPr/>
          <p:nvPr/>
        </p:nvSpPr>
        <p:spPr>
          <a:xfrm>
            <a:off x="3684960" y="18471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Implementation of 3D printing technology in the field of prosthetics: Past, present, and future. DOI: 10.3390/ijerph16091641</a:t>
            </a:r>
            <a:endParaRPr lang="pt-PT" sz="1700" b="0" u="none" strike="noStrike">
              <a:solidFill>
                <a:srgbClr val="000000"/>
              </a:solidFill>
              <a:effectLst/>
              <a:uFillTx/>
              <a:latin typeface="Arial"/>
            </a:endParaRPr>
          </a:p>
        </p:txBody>
      </p:sp>
      <p:sp>
        <p:nvSpPr>
          <p:cNvPr id="477" name="TextBox 8"/>
          <p:cNvSpPr/>
          <p:nvPr/>
        </p:nvSpPr>
        <p:spPr>
          <a:xfrm>
            <a:off x="731520" y="26607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Cabibihan et al. (2021)</a:t>
            </a:r>
            <a:endParaRPr lang="pt-PT" sz="1800" b="0" u="none" strike="noStrike">
              <a:solidFill>
                <a:srgbClr val="000000"/>
              </a:solidFill>
              <a:effectLst/>
              <a:uFillTx/>
              <a:latin typeface="Arial"/>
            </a:endParaRPr>
          </a:p>
        </p:txBody>
      </p:sp>
      <p:sp>
        <p:nvSpPr>
          <p:cNvPr id="478" name="TextBox 9"/>
          <p:cNvSpPr/>
          <p:nvPr/>
        </p:nvSpPr>
        <p:spPr>
          <a:xfrm>
            <a:off x="3684960" y="26607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Suitability of the openly accessible 3D printed prosthetic hands for war-wounded children. DOI: 10.3389/frobt.2020.594196</a:t>
            </a:r>
            <a:endParaRPr lang="pt-PT" sz="1700" b="0" u="none" strike="noStrike">
              <a:solidFill>
                <a:srgbClr val="000000"/>
              </a:solidFill>
              <a:effectLst/>
              <a:uFillTx/>
              <a:latin typeface="Arial"/>
            </a:endParaRPr>
          </a:p>
        </p:txBody>
      </p:sp>
      <p:sp>
        <p:nvSpPr>
          <p:cNvPr id="479" name="TextBox 10"/>
          <p:cNvSpPr/>
          <p:nvPr/>
        </p:nvSpPr>
        <p:spPr>
          <a:xfrm>
            <a:off x="731520" y="347472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Gordon et al. (1989; 2014)</a:t>
            </a:r>
            <a:endParaRPr lang="pt-PT" sz="1800" b="0" u="none" strike="noStrike">
              <a:solidFill>
                <a:srgbClr val="000000"/>
              </a:solidFill>
              <a:effectLst/>
              <a:uFillTx/>
              <a:latin typeface="Arial"/>
            </a:endParaRPr>
          </a:p>
        </p:txBody>
      </p:sp>
      <p:sp>
        <p:nvSpPr>
          <p:cNvPr id="480" name="TextBox 11"/>
          <p:cNvSpPr/>
          <p:nvPr/>
        </p:nvSpPr>
        <p:spPr>
          <a:xfrm>
            <a:off x="3684960" y="347472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1988 / 2012 anthropometric survey of U.S. Army personnel: Methods and summary statistics. Relatórios distintos: ANSUR 1988 / ANSUR II.</a:t>
            </a:r>
            <a:endParaRPr lang="pt-PT" sz="1700" b="0" u="none" strike="noStrike">
              <a:solidFill>
                <a:srgbClr val="000000"/>
              </a:solidFill>
              <a:effectLst/>
              <a:uFillTx/>
              <a:latin typeface="Arial"/>
            </a:endParaRPr>
          </a:p>
        </p:txBody>
      </p:sp>
      <p:sp>
        <p:nvSpPr>
          <p:cNvPr id="481" name="TextBox 12"/>
          <p:cNvSpPr/>
          <p:nvPr/>
        </p:nvSpPr>
        <p:spPr>
          <a:xfrm>
            <a:off x="731520" y="42886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TU Delft · DINED (s.d.)</a:t>
            </a:r>
            <a:endParaRPr lang="pt-PT" sz="1800" b="0" u="none" strike="noStrike">
              <a:solidFill>
                <a:srgbClr val="000000"/>
              </a:solidFill>
              <a:effectLst/>
              <a:uFillTx/>
              <a:latin typeface="Arial"/>
            </a:endParaRPr>
          </a:p>
        </p:txBody>
      </p:sp>
      <p:sp>
        <p:nvSpPr>
          <p:cNvPr id="482" name="TextBox 13"/>
          <p:cNvSpPr/>
          <p:nvPr/>
        </p:nvSpPr>
        <p:spPr>
          <a:xfrm>
            <a:off x="3684960" y="42886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DINED: 1D anthropometric database [Base de dados]. Consulta: 02/05/2026. https://dined.io.tudelft.nl/en/database/tool</a:t>
            </a:r>
            <a:endParaRPr lang="pt-PT" sz="1700" b="0" u="none" strike="noStrike">
              <a:solidFill>
                <a:srgbClr val="000000"/>
              </a:solidFill>
              <a:effectLst/>
              <a:uFillTx/>
              <a:latin typeface="Arial"/>
            </a:endParaRPr>
          </a:p>
        </p:txBody>
      </p:sp>
      <p:sp>
        <p:nvSpPr>
          <p:cNvPr id="483" name="TextBox 14"/>
          <p:cNvSpPr/>
          <p:nvPr/>
        </p:nvSpPr>
        <p:spPr>
          <a:xfrm>
            <a:off x="731520" y="51022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ISO (2017)</a:t>
            </a:r>
            <a:endParaRPr lang="pt-PT" sz="1800" b="0" u="none" strike="noStrike">
              <a:solidFill>
                <a:srgbClr val="000000"/>
              </a:solidFill>
              <a:effectLst/>
              <a:uFillTx/>
              <a:latin typeface="Arial"/>
            </a:endParaRPr>
          </a:p>
        </p:txBody>
      </p:sp>
      <p:sp>
        <p:nvSpPr>
          <p:cNvPr id="484" name="TextBox 15"/>
          <p:cNvSpPr/>
          <p:nvPr/>
        </p:nvSpPr>
        <p:spPr>
          <a:xfrm>
            <a:off x="3684960" y="51022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ISO 7250-1:2017. Basic human body measurements for technological design: Part 1: Body measurement definitions and landmarks (2.ª ed.).</a:t>
            </a:r>
            <a:endParaRPr lang="pt-PT"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TotalTime>
  <Application>LibreOffice/26.2.6.3$Linux_X86_64 LibreOffice_project/6673c99d96549ce65101be79fa29dd8a8e58eb52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Pedro Miguel Candeias da Silva</dc:creator>
  <dc:description>generated using python-pptx</dc:description>
  <dc:language>pt-PT</dc:language>
  <cp:lastModifiedBy/>
  <dcterms:modified xsi:type="dcterms:W3CDTF">2026-10-25T20:49:45Z</dcterms:modified>
  <cp:revision>7</cp:revision>
  <dc:subject>Design e Desenvolvimento de Produto · UPCA</dc:subject>
  <dc:title>HandFab: Defesa do projeto de mestrado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