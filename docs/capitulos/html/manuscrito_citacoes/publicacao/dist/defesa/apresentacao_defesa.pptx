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0:30 no percurso principal; 0:45 no treino desenvolvido. Confirmar no ensaio.</a:t>
            </a:r>
          </a:p>
          <a:p/>
          <a:p>
            <a:r>
              <a:t>O QUE QUERO DIZER</a:t>
            </a:r>
          </a:p>
          <a:p>
            <a:r>
              <a:t>Bom dia. Sou o Pedro Candeias e este é o projeto que desenvolvi com a orientação do Doutor Demétrio Matos.</a:t>
            </a:r>
          </a:p>
          <a:p/>
          <a:p>
            <a:r>
              <a:t>Quis perceber como podemos configurar uma mão protésica para impressão 3D e verificar se as escolhas feitas no ecrã chegam à peça como esperamos. Para estudar isso, desenvolvi o HandFab, com modelos paramétricos e apoio de inteligência artificial. Vou mostrar algumas decisões que tomei e o que aprendi ao testar o resultado.</a:t>
            </a:r>
          </a:p>
          <a:p/>
          <a:p>
            <a:r>
              <a:t>SE PRECISAR DE DESENVOLVER</a:t>
            </a:r>
          </a:p>
          <a:p>
            <a:r>
              <a:t>Posso começar pela fotografia. É uma montagem feita durante o projeto e ajuda-me a mostrar logo a ligação entre a configuração no ecrã e a peça física.</a:t>
            </a:r>
          </a:p>
          <a:p/>
          <a:p>
            <a:r>
              <a:t>LEMBRAR-ME (não ler ao júri)</a:t>
            </a:r>
          </a:p>
          <a:p>
            <a:r>
              <a:t>Começar com calma e olhar para o júri. O título já está no ecrã; posso passar diretamente ao que quis estudar. Ajustar a saudação à hora da prova.</a:t>
            </a:r>
          </a:p>
          <a:p/>
          <a:p>
            <a:r>
              <a:t>FONTES PARA CONSULTA</a:t>
            </a:r>
          </a:p>
          <a:p>
            <a:r>
              <a:t>Imagem: produção do autor · Suplemento 4 · Phoenix, observação de montagem em bancada.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1:30 no treino desenvolvido. Confirmar no ensaio.</a:t>
            </a:r>
          </a:p>
          <a:p/>
          <a:p>
            <a:r>
              <a:t>O QUE QUERO DIZER</a:t>
            </a:r>
          </a:p>
          <a:p>
            <a:r>
              <a:t>O ponto de partida é simples: introduzo uma largura e espero obter uma peça com uma dimensão correspondente. O problema está no que acontece entre esses dois momentos.</a:t>
            </a:r>
          </a:p>
          <a:p/>
          <a:p>
            <a:r>
              <a:t>O valor entra num parâmetro e passa pelas regras do modelo. Uma regra pode aumentar a mão inteira. Outra pode alterar só uma parte. Preciso de perceber qual destas situações estou a controlar.</a:t>
            </a:r>
          </a:p>
          <a:p/>
          <a:p>
            <a:r>
              <a:t>Há ainda uma diferença importante entre medir uma mão e medir a dimensão exterior de uma peça. Mesmo que ambos os valores estejam em milímetros, podem representar coisas diferentes.</a:t>
            </a:r>
          </a:p>
          <a:p/>
          <a:p>
            <a:r>
              <a:t>Foi aqui que situei o problema de design: definir o que pode ser alterado e verificar o efeito dessa escolha. Quem usa a configuração precisa de perceber até onde o modelo consegue responder ao pedido.</a:t>
            </a:r>
          </a:p>
          <a:p/>
          <a:p>
            <a:r>
              <a:t>SE PRECISAR DE DESENVOLVER</a:t>
            </a:r>
          </a:p>
          <a:p>
            <a:r>
              <a:t>Se precisar de um exemplo, usar a largura e o comprimento:</a:t>
            </a:r>
          </a:p>
          <a:p/>
          <a:p>
            <a:r>
              <a:t>→ Posso querer aumentar só a largura, mas a regra do modelo também aumentar o comprimento. Tenho de decidir se essa ligação faz sentido e explicar o efeito a quem configura.</a:t>
            </a:r>
          </a:p>
          <a:p/>
          <a:p>
            <a:r>
              <a:t>LEMBRAR-ME (não ler ao júri)</a:t>
            </a:r>
          </a:p>
          <a:p>
            <a:r>
              <a:t>Apontar primeiro para os controlos do HandFab e depois para os dedos impressos. Este exemplo prepara o caso do Paraglider, mais à frente.</a:t>
            </a:r>
          </a:p>
          <a:p/>
          <a:p>
            <a:r>
              <a:t>FONTES PARA CONSULTA</a:t>
            </a:r>
          </a:p>
          <a:p>
            <a:r>
              <a:t>Captura do HandFab e fotografias do autor · Configuração e peças ilustram etapas do projeto.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0:45 no percurso principal; 1:15 no treino desenvolvido. Confirmar no ensaio.</a:t>
            </a:r>
          </a:p>
          <a:p/>
          <a:p>
            <a:r>
              <a:t>O QUE QUERO DIZER</a:t>
            </a:r>
          </a:p>
          <a:p>
            <a:r>
              <a:t>Estas são as perguntas que orientaram o trabalho, numa versão resumida. As formulações completas estão nos diapositivos de apoio.</a:t>
            </a:r>
          </a:p>
          <a:p/>
          <a:p>
            <a:r>
              <a:t>Na primeira, quis perceber como o design pode apoiar a personalização, com métodos paramétricos e IA, mantendo o controlo sobre as decisões. A pergunta inclui o conforto e a função da prótese.</a:t>
            </a:r>
          </a:p>
          <a:p/>
          <a:p>
            <a:r>
              <a:t>A segunda diz respeito à avaliação: como verificar a eficácia, a usabilidade, a durabilidade e a possibilidade de reproduzir os resultados.</a:t>
            </a:r>
          </a:p>
          <a:p/>
          <a:p>
            <a:r>
              <a:t>A terceira liga os requisitos do produto à experiência das pessoas. Inclui a aceitação da prótese e o respeito pela dignidade e autonomia de quem a utiliza.</a:t>
            </a:r>
          </a:p>
          <a:p/>
          <a:p>
            <a:r>
              <a:t>A minha resposta ficou na parte técnica e dimensional. Verifiquei o funcionamento da configuração e acompanhei o resultado até às peças. Não trabalhei com participantes, por isso a experiência de utilização continua por avaliar.</a:t>
            </a:r>
          </a:p>
          <a:p/>
          <a:p>
            <a:r>
              <a:t>SE PRECISAR DE DESENVOLVER</a:t>
            </a:r>
          </a:p>
          <a:p>
            <a:r>
              <a:t>Se me perguntarem qual é a diferença entre verificar o funcionamento técnico e avaliar a experiência de utilização, posso explicar com um exemplo: medir uma peça permite comparar as suas dimensões com as da malha digital. Para perceber se é confortável, preciso de observar a sua utilização e ouvir a pessoa que a usa. Na interface, os testes verificam se a tarefa é executada. Para perceber se os controlos são fáceis de compreender, preciso de observar pessoas a realizar essa tarefa.</a:t>
            </a:r>
          </a:p>
          <a:p/>
          <a:p>
            <a:r>
              <a:t>LEMBRAR-ME (não ler ao júri)</a:t>
            </a:r>
          </a:p>
          <a:p>
            <a:r>
              <a:t>Dizer claramente onde ficou o estudo e seguir em frente. Não preciso de repetir a lista de limitações em todos os diapositivos. Se pedirem a formulação exata de uma pergunta, ir ao diapositivo 21.</a:t>
            </a:r>
          </a:p>
          <a:p/>
          <a:p>
            <a:r>
              <a:t>FONTES PARA CONSULTA</a:t>
            </a:r>
          </a:p>
          <a:p>
            <a:r>
              <a:t>Síntese das perguntas aprovadas · Formulações integrais no diapositivo 21 · Tabela 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1:30 no percurso principal; 2:00 no treino desenvolvido. Confirmar no ensaio.</a:t>
            </a:r>
          </a:p>
          <a:p/>
          <a:p>
            <a:r>
              <a:t>O QUE QUERO DIZER</a:t>
            </a:r>
          </a:p>
          <a:p>
            <a:r>
              <a:t>O objetivo geral foi aprender através do desenvolvimento do projeto. Para isso, construí e avaliei tecnicamente um sistema paramétrico, com apoio de IA, para a configuração preliminar de modelos de mão protésica destinados à impressão 3D.</a:t>
            </a:r>
          </a:p>
          <a:p/>
          <a:p>
            <a:r>
              <a:t>Organizei o trabalho em sete objetivos específicos.</a:t>
            </a:r>
          </a:p>
          <a:p/>
          <a:p>
            <a:r>
              <a:t>O primeiro foi perceber como o design traduz necessidades humanas em decisões de projeto e de fabrico.</a:t>
            </a:r>
          </a:p>
          <a:p/>
          <a:p>
            <a:r>
              <a:t>O segundo foi organizar os dados antropométricos sem perder a informação sobre a sua origem. Isso inclui a população estudada, o protocolo de medição, as unidades e as estatísticas utilizadas, com as respetivas limitações.</a:t>
            </a:r>
          </a:p>
          <a:p/>
          <a:p>
            <a:r>
              <a:t>O terceiro foi adaptar modelos abertos a uma estrutura paramétrica explícita em OpenSCAD. O quarto foi integrar esse percurso numa plataforma web, com visualização, versões, exportação e preparação para impressão.</a:t>
            </a:r>
          </a:p>
          <a:p/>
          <a:p>
            <a:r>
              <a:t>O quinto foi definir o papel da IA como sugestão inicial, sujeita a revisão.</a:t>
            </a:r>
          </a:p>
          <a:p/>
          <a:p>
            <a:r>
              <a:t>O sexto foi verificar a coerência do percurso até às peças físicas.</a:t>
            </a:r>
          </a:p>
          <a:p/>
          <a:p>
            <a:r>
              <a:t>O sétimo foi identificar o que ficou por avaliar e as condições necessárias para estudos clínicos e de utilização, incluindo a função protésica.</a:t>
            </a:r>
          </a:p>
          <a:p/>
          <a:p>
            <a:r>
              <a:t>SE PRECISAR DE DESENVOLVER</a:t>
            </a:r>
          </a:p>
          <a:p>
            <a:r>
              <a:t>Posso ligar um objetivo a uma decisão concreta. Ao organizar os dados, tive de conservar a origem de cada valor para conseguir interpretá-lo na configuração. Ao adaptar os modelos, precisei de tornar as regras explícitas para verificar o efeito desses valores. É essa ligação que os objetivos me ajudam a acompanhar.</a:t>
            </a:r>
          </a:p>
          <a:p/>
          <a:p>
            <a:r>
              <a:t>LEMBRAR-ME (não ler ao júri)</a:t>
            </a:r>
          </a:p>
          <a:p>
            <a:r>
              <a:t>Apresentar o objetivo geral antes de percorrer a lista. Seguir a numeração da coluna esquerda para a direita. Estes pontos resumem a secção 1.3 do manuscrito; os resultados vêm depois.</a:t>
            </a:r>
          </a:p>
          <a:p/>
          <a:p>
            <a:r>
              <a:t>FONTES PARA CONSULTA</a:t>
            </a:r>
          </a:p>
          <a:p>
            <a:r>
              <a:t>Síntese da secção 1.3 do manuscrito · Sete objetivos específicos, com o âmbito original preservado.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0:45 no percurso principal; 1:15 no treino desenvolvido. Confirmar no ensaio.</a:t>
            </a:r>
          </a:p>
          <a:p/>
          <a:p>
            <a:r>
              <a:t>O QUE QUERO DIZER</a:t>
            </a:r>
          </a:p>
          <a:p>
            <a:r>
              <a:t>Trouxe para aqui algumas referências do manuscrito que ajudam a explicar as opções do projeto.</a:t>
            </a:r>
          </a:p>
          <a:p/>
          <a:p>
            <a:r>
              <a:t>Cross ajuda-me a situar o conhecimento produzido através do design. Com Frayling e Zimmerman, enquadro a investigação feita através do desenvolvimento de um artefacto e da análise das decisões tomadas.</a:t>
            </a:r>
          </a:p>
          <a:p/>
          <a:p>
            <a:r>
              <a:t>Fischer ajuda-me a discutir o que deixo disponível para modificação no HandFab. Ter parâmetros editáveis abre possibilidades de configuração; a participação de utilizadores teria de ser estudada separadamente.</a:t>
            </a:r>
          </a:p>
          <a:p/>
          <a:p>
            <a:r>
              <a:t>Manero enquadra o uso da impressão 3D nas próteses. Cabibihan chama a atenção para a avaliação da funcionalidade e da durabilidade.</a:t>
            </a:r>
          </a:p>
          <a:p/>
          <a:p>
            <a:r>
              <a:t>Usei esta seleção para explicar as decisões e interpretar os resultados. A revisão mais extensa está no manuscrito.</a:t>
            </a:r>
          </a:p>
          <a:p/>
          <a:p>
            <a:r>
              <a:t>SE PRECISAR DE DESENVOLVER</a:t>
            </a:r>
          </a:p>
          <a:p>
            <a:r>
              <a:t>Se me perguntarem por um autor, voltar à função que tem neste argumento. Posso usar Zimmerman para explicar por que preciso de analisar o que aprendi ao construir o protótipo. Com Fischer, posso discutir as condições de modificação do sistema. Evitar atribuir a estas obras uma avaliação do HandFab que elas não fizeram.</a:t>
            </a:r>
          </a:p>
          <a:p/>
          <a:p>
            <a:r>
              <a:t>LEMBRAR-ME (não ler ao júri)</a:t>
            </a:r>
          </a:p>
          <a:p>
            <a:r>
              <a:t>Não ler a tabela como uma lista de nomes. Ligar cada referência à ideia que me ajuda a explicar. A ordem da exposição é uma escolha para esta apresentação; não preciso de inventar uma história sobre quando conheci cada autor.</a:t>
            </a:r>
          </a:p>
          <a:p/>
          <a:p>
            <a:r>
              <a:t>FONTES PARA CONSULTA</a:t>
            </a:r>
          </a:p>
          <a:p>
            <a:r>
              <a:t>Referências já mobilizadas no manuscrito · Seleção para esta exposição pela função no argumento.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1:15 no percurso principal; 1:45 no treino desenvolvido. Confirmar no ensaio.</a:t>
            </a:r>
          </a:p>
          <a:p/>
          <a:p>
            <a:r>
              <a:t>O QUE QUERO DIZER</a:t>
            </a:r>
          </a:p>
          <a:p>
            <a:r>
              <a:t>Usei Research Through Design, ou investigação através do projeto. Neste caso, fui aprendendo ao desenvolver o protótipo e ao examinar o seu comportamento.</a:t>
            </a:r>
          </a:p>
          <a:p/>
          <a:p>
            <a:r>
              <a:t>O Paraglider é um bom exemplo. A palma não acompanhava a escala que eu esperava. Fui procurar a regra responsável, corrigi a aplicação da escala e voltei a verificar o resultado.</a:t>
            </a:r>
          </a:p>
          <a:p/>
          <a:p>
            <a:r>
              <a:t>Para explicar o que aprendi, preciso de mostrar como essa alteração resolveu o problema observado. Os registos permitem acompanhar essa relação.</a:t>
            </a:r>
          </a:p>
          <a:p/>
          <a:p>
            <a:r>
              <a:t>O Double Diamond ajudou-me a organizar os momentos de exploração e de escolha. O enquadramento de Research Through Design permite discutir a aprendizagem obtida ao desenvolver e analisar o protótipo.</a:t>
            </a:r>
          </a:p>
          <a:p/>
          <a:p>
            <a:r>
              <a:t>SE PRECISAR DE DESENVOLVER</a:t>
            </a:r>
          </a:p>
          <a:p>
            <a:r>
              <a:t>Se me perguntarem onde está a investigação, voltar ao requisito que estava em causa: a configuração devia produzir a alteração de forma esperada. A contribuição está na explicação da relação entre a regra e o resultado, com os registos que permitem examiná-la. Preciso de desenvolver esse raciocínio, para além de dizer que corrigi o código.</a:t>
            </a:r>
          </a:p>
          <a:p/>
          <a:p>
            <a:r>
              <a:t>LEMBRAR-ME (não ler ao júri)</a:t>
            </a:r>
          </a:p>
          <a:p>
            <a:r>
              <a:t>Usar as imagens para explicar a passagem das regras para as peças. A captura de código mostra a Phoenix; as peças são do Paraglider. O caso que desenvolvo oralmente é a correção da escala da palma do Paraglider, documentada nos registos.</a:t>
            </a:r>
          </a:p>
          <a:p/>
          <a:p>
            <a:r>
              <a:t>FONTES PARA CONSULTA</a:t>
            </a:r>
          </a:p>
          <a:p>
            <a:r>
              <a:t>Frayling (1994); Zimmerman et al. (2007) · Tabela 4 · Imagens do percurso de desenvolvimento.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0:45 no percurso principal; 1:15 no treino desenvolvido. Confirmar no ensaio.</a:t>
            </a:r>
          </a:p>
          <a:p/>
          <a:p>
            <a:r>
              <a:t>O QUE QUERO DIZER</a:t>
            </a:r>
          </a:p>
          <a:p>
            <a:r>
              <a:t>Aqui está o HandFab que desenvolvi. Começo pela escolha do modelo. Estão disponíveis quatro modelos, cada um com as suas regras de configuração.</a:t>
            </a:r>
          </a:p>
          <a:p/>
          <a:p>
            <a:r>
              <a:t>A partir daqui, posso trabalhar com uma referência antropométrica ou ajustar os valores. A IA pode ajudar a propor um ponto de partida. Continuo a poder rever os parâmetros antes de gerar e exportar a geometria.</a:t>
            </a:r>
          </a:p>
          <a:p/>
          <a:p>
            <a:r>
              <a:t>Pensei no utilizador base como qualquer pessoa. Os cargos técnicos permitem moderar e apoiar as suas escolhas. A forma como esse apoio funciona na prática fica para a avaliação com utilizadores.</a:t>
            </a:r>
          </a:p>
          <a:p/>
          <a:p>
            <a:r>
              <a:t>SE PRECISAR DE DESENVOLVER</a:t>
            </a:r>
          </a:p>
          <a:p>
            <a:r>
              <a:t>Se houver dúvidas sobre a IA, esclarecer que o seu uso é opcional e depende de um serviço externo. O sistema já tem modelos e parâmetros definidos. A IA sugere valores para esses parâmetros. Isso permite-me separar a análise da sugestão da análise da geometria gerada pelo modelo.</a:t>
            </a:r>
          </a:p>
          <a:p/>
          <a:p>
            <a:r>
              <a:t>LEMBRAR-ME (não ler ao júri)</a:t>
            </a:r>
          </a:p>
          <a:p>
            <a:r>
              <a:t>Mostrar os quatro modelos no catálogo. Explicar o percurso enquanto aponto para o modelo escolhido. Reservar os detalhes de configuração para as capturas seguintes.</a:t>
            </a:r>
          </a:p>
          <a:p/>
          <a:p>
            <a:r>
              <a:t>FONTES PARA CONSULTA</a:t>
            </a:r>
          </a:p>
          <a:p>
            <a:r>
              <a:t>HandFab · Catálogo documentado na Figura 22 do manuscrito · Captura do projeto.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1:30 no treino desenvolvido. Confirmar no ensaio.</a:t>
            </a:r>
          </a:p>
          <a:p/>
          <a:p>
            <a:r>
              <a:t>O QUE QUERO DIZER</a:t>
            </a:r>
          </a:p>
          <a:p>
            <a:r>
              <a:t>Usei a antropometria como referência para começar a configuração. Estas são algumas das fontes dos dados e das definições que utilizei.</a:t>
            </a:r>
          </a:p>
          <a:p/>
          <a:p>
            <a:r>
              <a:t>Gordon e colegas documentam o ANSUR de 1988 e o ANSUR II, em publicações de 1989 e 2014. São levantamentos diferentes, e preciso de manter essa distinção ao usar os valores.</a:t>
            </a:r>
          </a:p>
          <a:p/>
          <a:p>
            <a:r>
              <a:t>Na DINED, da Universidade de Delft, utilizei os conjuntos kima1993, geron1998 e dined2004.</a:t>
            </a:r>
          </a:p>
          <a:p/>
          <a:p>
            <a:r>
              <a:t>A ISO 7250-1 ajuda a definir as medidas e os pontos anatómicos de referência. Para usar um valor, preciso de saber exatamente o que foi medido.</a:t>
            </a:r>
          </a:p>
          <a:p/>
          <a:p>
            <a:r>
              <a:t>Também preciso de conservar a informação sobre a população, a idade, o sexo, a unidade e a estatística. É isso que me permite interpretar o dado antes de o aplicar.</a:t>
            </a:r>
          </a:p>
          <a:p/>
          <a:p>
            <a:r>
              <a:t>SE PRECISAR DE DESENVOLVER</a:t>
            </a:r>
          </a:p>
          <a:p>
            <a:r>
              <a:t>Se surgir uma dúvida sobre percentis, explicar com o percentil cinquenta: metade dos valores fica de cada lado. As medidas de uma pessoa não têm de corresponder todas ao mesmo percentil. Posso também comparar uma população militar adulta com uma população infantil para mostrar por que a origem dos dados importa. A citação da norma não garante que todos os estudos tenham usado o mesmo protocolo.</a:t>
            </a:r>
          </a:p>
          <a:p/>
          <a:p>
            <a:r>
              <a:t>LEMBRAR-ME (não ler ao júri)</a:t>
            </a:r>
          </a:p>
          <a:p>
            <a:r>
              <a:t>Apontar para os campos do formulário, sobretudo a origem e a unidade. Relacionar cada valor com a população e a medida de onde veio. As referências completas estão no diapositivo 28.</a:t>
            </a:r>
          </a:p>
          <a:p/>
          <a:p>
            <a:r>
              <a:t>FONTES PARA CONSULTA</a:t>
            </a:r>
          </a:p>
          <a:p>
            <a:r>
              <a:t>Gordon et al. (1989; 2014) · TU Delft, DINED (s.d.) · ISO 7250-1:2017 · Figura 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1:30 no treino desenvolvido. Confirmar no ensaio.</a:t>
            </a:r>
          </a:p>
          <a:p/>
          <a:p>
            <a:r>
              <a:t>O QUE QUERO DIZER</a:t>
            </a:r>
          </a:p>
          <a:p>
            <a:r>
              <a:t>Aqui quero mostrar qual foi o meu trabalho sobre os dados.</a:t>
            </a:r>
          </a:p>
          <a:p/>
          <a:p>
            <a:r>
              <a:t>As medições foram recolhidas e publicadas pelos autores dos estudos. Eu trabalhei com esses dados publicados; não fiz recolha de medidas em participantes.</a:t>
            </a:r>
          </a:p>
          <a:p/>
          <a:p>
            <a:r>
              <a:t>Selecionei e organizei os resultados numa base local, mantendo a origem de cada valor e a informação necessária para o interpretar. Cada indicador ocupa uma linha. Por exemplo, a média e o desvio-padrão de uma medida dão origem a dois registos estatísticos.</a:t>
            </a:r>
          </a:p>
          <a:p/>
          <a:p>
            <a:r>
              <a:t>No fecho do estudo, a aplicação tinha cem perfis: noventa e sete importados em lote, dois por CSV e um criado manualmente. Uma linha dos ficheiros não corresponde automaticamente a um perfil.</a:t>
            </a:r>
          </a:p>
          <a:p/>
          <a:p>
            <a:r>
              <a:t>O meu contributo foi preparar estes dados e integrá-los na configuração. Um perfil de uma população pode dar uma referência de partida. A adequação a uma pessoa concreta continua a precisar de avaliação.</a:t>
            </a:r>
          </a:p>
          <a:p/>
          <a:p>
            <a:r>
              <a:t>SE PRECISAR DE DESENVOLVER</a:t>
            </a:r>
          </a:p>
          <a:p>
            <a:r>
              <a:t>Se me perguntarem pelos ficheiros, lembrar que o subconjunto ANSUR repete parte da extração completa. Somar as linhas dos dois daria uma contagem enganadora. A compilação multipopulacional tem 1790 linhas, das quais 852 são DINED. Estes números contam registos estatísticos. Os cem perfis referem-se ao estado documentado da aplicação.</a:t>
            </a:r>
          </a:p>
          <a:p/>
          <a:p>
            <a:r>
              <a:t>LEMBRAR-ME (não ler ao júri)</a:t>
            </a:r>
          </a:p>
          <a:p>
            <a:r>
              <a:t>Apontar para a tabela de perfis e explicar a contagem ao lado. Os 100 perfis são o estado documentado da aplicação; as linhas das bases estatísticas representam outra coisa.</a:t>
            </a:r>
          </a:p>
          <a:p/>
          <a:p>
            <a:r>
              <a:t>FONTES PARA CONSULTA</a:t>
            </a:r>
          </a:p>
          <a:p>
            <a:r>
              <a:t>Manuscrito, 4.2 e Figura 23 · Suplemento 1 · Contagens de perfis da aplicação.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1:15 no percurso principal; 2:00 no treino desenvolvido. Confirmar no ensaio.</a:t>
            </a:r>
          </a:p>
          <a:p/>
          <a:p>
            <a:r>
              <a:t>O QUE QUERO DIZER</a:t>
            </a:r>
          </a:p>
          <a:p>
            <a:r>
              <a:t>Estes casos mostram por que tive de olhar para as regras de cada modelo.</a:t>
            </a:r>
          </a:p>
          <a:p/>
          <a:p>
            <a:r>
              <a:t>No Paraglider, a palma mantinha a escala interna da biblioteca, enquanto outras partes respondiam à configuração. O controlo existia, mas o seu efeito não chegava a todas as partes como eu esperava.</a:t>
            </a:r>
          </a:p>
          <a:p/>
          <a:p>
            <a:r>
              <a:t>Localizei o ponto onde a escala era aplicada e corrigi essa relação. Isto mostrou-me que preciso de verificar a resposta dos componentes, mesmo quando o nome do parâmetro parece claro.</a:t>
            </a:r>
          </a:p>
          <a:p/>
          <a:p>
            <a:r>
              <a:t>No Phoenix, a situação era diferente. Na configuração examinada, a largura da palma fica limitada a cerca de oitenta e dois milímetros. Se pedir menos, o modelo mantém esse tamanho mínimo.</a:t>
            </a:r>
          </a:p>
          <a:p/>
          <a:p>
            <a:r>
              <a:t>Esse resultado tem de ser apresentado como um limite do modelo. O pedido ficou por satisfazer.</a:t>
            </a:r>
          </a:p>
          <a:p/>
          <a:p>
            <a:r>
              <a:t>No Paraglider consegui corrigir a relação de escala. No Phoenix encontrei uma condição que restringe as dimensões possíveis. São decisões diferentes, e ambas dependem de perceber como o modelo foi construído.</a:t>
            </a:r>
          </a:p>
          <a:p/>
          <a:p>
            <a:r>
              <a:t>SE PRECISAR DE DESENVOLVER</a:t>
            </a:r>
          </a:p>
          <a:p>
            <a:r>
              <a:t>Lembrar que os modelos já existiam e mantêm a autoria dos seus criadores. O meu trabalho foi integrá-los e verificar as relações usadas no HandFab. Os oitenta e dois milímetros dizem respeito ao Phoenix que examinei. Numa revisão futura, posso estudar como assinalar esse limite e orientar a escolha de outro modelo quando o pedido fica fora da cobertura.</a:t>
            </a:r>
          </a:p>
          <a:p/>
          <a:p>
            <a:r>
              <a:t>LEMBRAR-ME (não ler ao júri)</a:t>
            </a:r>
          </a:p>
          <a:p>
            <a:r>
              <a:t>Usar as fotografias para identificar os modelos. Explicar a correção da palma e o limite de largura a partir dos registos, sem apresentar estas imagens como uma comparação histórica antes e depois.</a:t>
            </a:r>
          </a:p>
          <a:p/>
          <a:p>
            <a:r>
              <a:t>FONTES PARA CONSULTA</a:t>
            </a:r>
          </a:p>
          <a:p>
            <a:r>
              <a:t>Manuscrito, 4.4 e 8.3 · Fotografias ilustrativas dos modelos; não constituem comparação antes/depois.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1:15 no percurso principal; 1:45 no treino desenvolvido. Confirmar no ensaio.</a:t>
            </a:r>
          </a:p>
          <a:p/>
          <a:p>
            <a:r>
              <a:t>O QUE QUERO DIZER</a:t>
            </a:r>
          </a:p>
          <a:p>
            <a:r>
              <a:t>Aqui está o papel que dei à IA: receber uma descrição e sugerir valores para parâmetros que o sistema já conhece. Quem configura pode rever a proposta antes de a aplicar.</a:t>
            </a:r>
          </a:p>
          <a:p/>
          <a:p>
            <a:r>
              <a:t>No primeiro conjunto de ensaios reais, as cinco respostas cumpriram o formato esperado. O percurso funcionou nessas condições. Para saber se os valores são adequados a uma pessoa, seria necessária outra avaliação.</a:t>
            </a:r>
          </a:p>
          <a:p/>
          <a:p>
            <a:r>
              <a:t>Uma decisão concreta foi retirar a lateralidade da inferência. A escolha entre mão esquerda e direita passou a seguir uma regra explícita e ficou fora do pedido de sugestões.</a:t>
            </a:r>
          </a:p>
          <a:p/>
          <a:p>
            <a:r>
              <a:t>O que estudei foi a integração desta proposta editável no percurso. Não fiz uma comparação experimental com a configuração manual que permitisse afirmar uma vantagem de tempo ou de qualidade.</a:t>
            </a:r>
          </a:p>
          <a:p/>
          <a:p>
            <a:r>
              <a:t>SE PRECISAR DE DESENVOLVER</a:t>
            </a:r>
          </a:p>
          <a:p>
            <a:r>
              <a:t>Se me perguntarem pela qualidade da resposta, separar o formato dos valores. Conseguir ler a resposta é uma verificação. Saber que efeito os valores têm no modelo exige examinar a geometria. A adequação à utilização terá de ser estudada depois.</a:t>
            </a:r>
          </a:p>
          <a:p/>
          <a:p>
            <a:r>
              <a:t>LEMBRAR-ME (não ler ao júri)</a:t>
            </a:r>
          </a:p>
          <a:p>
            <a:r>
              <a:t>Apontar para a caixa do pedido e para o botão de sugestão. A imagem mostra a interface documentada. Explicar oralmente a revisão dos valores e a regra da lateralidade.</a:t>
            </a:r>
          </a:p>
          <a:p/>
          <a:p>
            <a:r>
              <a:t>FONTES PARA CONSULTA</a:t>
            </a:r>
          </a:p>
          <a:p>
            <a:r>
              <a:t>HandFab · Figura 22 · Captura existente da interface de assistência, sem nova execução de 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1:45 no treino desenvolvido. Confirmar no ensaio.</a:t>
            </a:r>
          </a:p>
          <a:p/>
          <a:p>
            <a:r>
              <a:t>O QUE QUERO DIZER</a:t>
            </a:r>
          </a:p>
          <a:p>
            <a:r>
              <a:t>Aqui consigo mostrar melhor os controlos da configuração. Tenho os parâmetros do lado esquerdo e a pré-visualização do modelo do lado direito.</a:t>
            </a:r>
          </a:p>
          <a:p/>
          <a:p>
            <a:r>
              <a:t>O que me interessa explicar é a ligação entre um valor e a forma que aparece. Posso rever os valores e gerar novamente a geometria para examinar o resultado. Foi ao comparar estas alterações que encontrei diferenças importantes nas regras dos modelos.</a:t>
            </a:r>
          </a:p>
          <a:p/>
          <a:p>
            <a:r>
              <a:t>Esta sequência usa capturas guardadas durante o projeto. Para a defesa, ajuda-me a mostrar o percurso sem depender de uma ligação ao serviço de IA.</a:t>
            </a:r>
          </a:p>
          <a:p/>
          <a:p>
            <a:r>
              <a:t>SE PRECISAR DE DESENVOLVER</a:t>
            </a:r>
          </a:p>
          <a:p>
            <a:r>
              <a:t>Se tiver tempo, percorrer uma alteração pelas imagens: identificar o controlo disponível e explicar o que se deve observar na geometria. Para avaliar a compreensão, posso futuramente pedir a alguém que faça uma alteração e depois lhe perguntar como interpretou o resultado. Aqui estou a usar capturas existentes, sem relatar uma tarefa realizada com participantes.</a:t>
            </a:r>
          </a:p>
          <a:p/>
          <a:p>
            <a:r>
              <a:t>LEMBRAR-ME (não ler ao júri)</a:t>
            </a:r>
          </a:p>
          <a:p>
            <a:r>
              <a:t>Apontar para um controlo de dimensão e depois para a pré-visualização. Dar tempo ao júri para observar o modelo. Continuar para as cores e para a exportação.</a:t>
            </a:r>
          </a:p>
          <a:p/>
          <a:p>
            <a:r>
              <a:t>FONTES PARA CONSULTA</a:t>
            </a:r>
          </a:p>
          <a:p>
            <a:r>
              <a:t>HandFab · Figura 22 · Controlos de configuração e pré-visualização da Phoenix.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0:30 no percurso principal; 0:45 no treino desenvolvido. Confirmar no ensaio.</a:t>
            </a:r>
          </a:p>
          <a:p/>
          <a:p>
            <a:r>
              <a:t>O QUE QUERO DIZER</a:t>
            </a:r>
          </a:p>
          <a:p>
            <a:r>
              <a:t>Nesta parte posso escolher as cores dos componentes e ver o resultado no modelo. A interface também reúne opções de material.</a:t>
            </a:r>
          </a:p>
          <a:p/>
          <a:p>
            <a:r>
              <a:t>Quis dar espaço a escolhas sobre a aparência da prótese. A forma como cada pessoa valoriza essas opções terá de ser estudada com utilizadores.</a:t>
            </a:r>
          </a:p>
          <a:p/>
          <a:p>
            <a:r>
              <a:t>SE PRECISAR DE DESENVOLVER</a:t>
            </a:r>
          </a:p>
          <a:p>
            <a:r>
              <a:t>Posso usar os dedos com cores diferentes para mostrar que a configuração atua em componentes identificados. A escolha que aparece no ecrã ainda precisa de ser concretizada e verificada na preparação para impressão.</a:t>
            </a:r>
          </a:p>
          <a:p/>
          <a:p>
            <a:r>
              <a:t>LEMBRAR-ME (não ler ao júri)</a:t>
            </a:r>
          </a:p>
          <a:p>
            <a:r>
              <a:t>Apontar para uma cor e para o componente correspondente. Deixar a imagem explicar as opções, sem ler a lista de controlos.</a:t>
            </a:r>
          </a:p>
          <a:p/>
          <a:p>
            <a:r>
              <a:t>FONTES PARA CONSULTA</a:t>
            </a:r>
          </a:p>
          <a:p>
            <a:r>
              <a:t>HandFab · Figura 22 · Opções de cor e material apresentadas na interface.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0:45 no percurso principal; 1:00 no treino desenvolvido. Confirmar no ensaio.</a:t>
            </a:r>
          </a:p>
          <a:p/>
          <a:p>
            <a:r>
              <a:t>O QUE QUERO DIZER</a:t>
            </a:r>
          </a:p>
          <a:p>
            <a:r>
              <a:t>Depois de rever a configuração, consigo examinar a geometria gerada e exportar a malha. Esta imagem mostra também o código OpenSCAD associado ao modelo.</a:t>
            </a:r>
          </a:p>
          <a:p/>
          <a:p>
            <a:r>
              <a:t>A exportação permite continuar o trabalho no programa de preparação para impressão. A partir desse momento, entram as escolhas do equipamento e das condições de fabrico. Foi por isso que acompanhei o processo até às peças físicas.</a:t>
            </a:r>
          </a:p>
          <a:p/>
          <a:p>
            <a:r>
              <a:t>SE PRECISAR DE DESENVOLVER</a:t>
            </a:r>
          </a:p>
          <a:p>
            <a:r>
              <a:t>Se precisar de explicar a diferença, a malha descreve a superfície do objeto. O programa de preparação usa essa geometria para calcular as trajetórias de impressão. As estimativas de tempo ou material pertencem a essa preparação.</a:t>
            </a:r>
          </a:p>
          <a:p/>
          <a:p>
            <a:r>
              <a:t>LEMBRAR-ME (não ler ao júri)</a:t>
            </a:r>
          </a:p>
          <a:p>
            <a:r>
              <a:t>Apontar para a pré-visualização e para Export. Evitar ler código ao júri. A imagem seguinte mostra trabalho de impressão já realizado.</a:t>
            </a:r>
          </a:p>
          <a:p/>
          <a:p>
            <a:r>
              <a:t>FONTES PARA CONSULTA</a:t>
            </a:r>
          </a:p>
          <a:p>
            <a:r>
              <a:t>HandFab · Figura 20 · Código OpenSCAD, pré-visualização e comando de exportação.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1:30 no treino desenvolvido. Confirmar no ensaio.</a:t>
            </a:r>
          </a:p>
          <a:p/>
          <a:p>
            <a:r>
              <a:t>O QUE QUERO DIZER</a:t>
            </a:r>
          </a:p>
          <a:p>
            <a:r>
              <a:t>Fui avaliando o percurso por etapas, porque cada uma precisava de uma verificação diferente.</a:t>
            </a:r>
          </a:p>
          <a:p/>
          <a:p>
            <a:r>
              <a:t>Na plataforma, examinei o funcionamento e as falhas. Nas respostas da IA, verifiquei o formato e os valores sugeridos. Na geometria, observei o efeito dos parâmetros e a exportação. Nas peças, acompanhei a preparação e comparei as dimensões.</a:t>
            </a:r>
          </a:p>
          <a:p/>
          <a:p>
            <a:r>
              <a:t>A Série A reuniu quatro projetos em condições diferentes. Por isso, a comparação direta entre equipamentos é limitada. A Série B reuniu doze casos numa condição digital comum.</a:t>
            </a:r>
          </a:p>
          <a:p/>
          <a:p>
            <a:r>
              <a:t>A comparação dimensional teve setenta e duas medições, combinando três modelos, quatro perfis, três eixos e dois materiais. Registei uma leitura por combinação.</a:t>
            </a:r>
          </a:p>
          <a:p/>
          <a:p>
            <a:r>
              <a:t>Para interpretar os resultados, tenho de regressar à verificação que lhes deu origem. Uma exportação concluída informa sobre essa etapa. A durabilidade da peça exigiria um ensaio próprio.</a:t>
            </a:r>
          </a:p>
          <a:p/>
          <a:p>
            <a:r>
              <a:t>SE PRECISAR DE DESENVOLVER</a:t>
            </a:r>
          </a:p>
          <a:p>
            <a:r>
              <a:t>Se houver dúvidas nas contagens, ir ao diapositivo 22. A plataforma tem quatro modelos disponíveis, mas a comparação física principal abrange três. Preciso de manter esta diferença quando explico o alcance dos resultados.</a:t>
            </a:r>
          </a:p>
          <a:p/>
          <a:p>
            <a:r>
              <a:t>LEMBRAR-ME (não ler ao júri)</a:t>
            </a:r>
          </a:p>
          <a:p>
            <a:r>
              <a:t>Começar pelas peças na placa e pela palma impressa. Explicar os conjuntos sem confundir projetos de preparação, casos digitais e leituras dimensionais. Os detalhes das contagens estão no diapositivo 22.</a:t>
            </a:r>
          </a:p>
          <a:p/>
          <a:p>
            <a:r>
              <a:t>FONTES PARA CONSULTA</a:t>
            </a:r>
          </a:p>
          <a:p>
            <a:r>
              <a:t>Suplemento 4 · Fotografias originais na placa da Bambu Lab A1 e da palma impressa.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1:30 no treino desenvolvido. Confirmar no ensaio.</a:t>
            </a:r>
          </a:p>
          <a:p/>
          <a:p>
            <a:r>
              <a:t>O QUE QUERO DIZER</a:t>
            </a:r>
          </a:p>
          <a:p>
            <a:r>
              <a:t>Aqui vê-se melhor o que imprimi para comparar os perfis. À esquerda estão dedos do Flexy Beast. À direita estão os do Paraglider.</a:t>
            </a:r>
          </a:p>
          <a:p/>
          <a:p>
            <a:r>
              <a:t>As marcações identificam os perfis de referência de 8, 15, 28 e 70 anos. Usei esses perfis para examinar como cada modelo responde a diferentes valores.</a:t>
            </a:r>
          </a:p>
          <a:p/>
          <a:p>
            <a:r>
              <a:t>As fotografias ajudam a observar a variação entre as peças. Para comparar dimensões, usei os registos de medição que resumo no gráfico seguinte.</a:t>
            </a:r>
          </a:p>
          <a:p/>
          <a:p>
            <a:r>
              <a:t>SE PRECISAR DE DESENVOLVER</a:t>
            </a:r>
          </a:p>
          <a:p>
            <a:r>
              <a:t>Posso apontar para duas peças da mesma série e explicar que a diferença depende da regra de parametrização. Os perfis são referências para o ensaio, não pessoas que tenham participado no estudo.</a:t>
            </a:r>
          </a:p>
          <a:p/>
          <a:p>
            <a:r>
              <a:t>LEMBRAR-ME (não ler ao júri)</a:t>
            </a:r>
          </a:p>
          <a:p>
            <a:r>
              <a:t>Dar alguns segundos para observar as duas séries. Dizer o nome de cada modelo e explicar as marcações. Passar depois ao gráfico, que apresenta os valores medidos.</a:t>
            </a:r>
          </a:p>
          <a:p/>
          <a:p>
            <a:r>
              <a:t>FONTES PARA CONSULTA</a:t>
            </a:r>
          </a:p>
          <a:p>
            <a:r>
              <a:t>Fotografias do autor · Suplemento 4 · Idades dos perfis de referência, sem participantes.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1:45 no percurso principal; 2:30 no treino desenvolvido. Confirmar no ensaio.</a:t>
            </a:r>
          </a:p>
          <a:p/>
          <a:p>
            <a:r>
              <a:t>O QUE QUERO DIZER</a:t>
            </a:r>
          </a:p>
          <a:p>
            <a:r>
              <a:t>Neste gráfico comparei as dimensões das peças com as dimensões correspondentes da malha exportada.</a:t>
            </a:r>
          </a:p>
          <a:p/>
          <a:p>
            <a:r>
              <a:t>Cada segmento vai do menor ao maior desvio registado para um modelo e material. Reúne doze valores, relativos a quatro perfis e três eixos. As cores distinguem PLA e PETG.</a:t>
            </a:r>
          </a:p>
          <a:p/>
          <a:p>
            <a:r>
              <a:t>Calculei a diferença subtraindo a dimensão digital à física. Os valores negativos indicam que medi dimensões físicas inferiores às digitais correspondentes. No conjunto, os desvios vão aproximadamente de menos 0,53 a menos 0,08 milímetros.</a:t>
            </a:r>
          </a:p>
          <a:p/>
          <a:p>
            <a:r>
              <a:t>Fiz uma leitura por combinação. Por isso, estes registos não permitem estimar a variação de medições repetidas. O intervalo apresentado também não é uma precisão garantida pelo processo.</a:t>
            </a:r>
          </a:p>
          <a:p/>
          <a:p>
            <a:r>
              <a:t>Como os grupos juntam eixos e dimensões diferentes, o gráfico não permite escolher o melhor material nem identificar uma causa única para as diferenças.</a:t>
            </a:r>
          </a:p>
          <a:p/>
          <a:p>
            <a:r>
              <a:t>O que retiro daqui é a necessidade de medir o que foi produzido. A avaliação funcional exigiria trabalho adicional, como ajuda a enquadrar a referência de Cabibihan.</a:t>
            </a:r>
          </a:p>
          <a:p/>
          <a:p>
            <a:r>
              <a:t>SE PRECISAR DE DESENVOLVER</a:t>
            </a:r>
          </a:p>
          <a:p>
            <a:r>
              <a:t>Posso usar o Flexy Beast em PLA como exemplo: os extremos são menos 0,398 e menos 0,108 milímetros. São doze comparações. Se quiser estudar a consistência de uma condição concreta, preciso de repetir as medições e controlar as condições. Tenho a tabela com os extremos no apoio e os registos individuais no CSV.</a:t>
            </a:r>
          </a:p>
          <a:p/>
          <a:p>
            <a:r>
              <a:t>LEMBRAR-ME (não ler ao júri)</a:t>
            </a:r>
          </a:p>
          <a:p>
            <a:r>
              <a:t>Mostrar primeiro o zero e depois um segmento. Ler os valores decimais devagar. Não preciso de ler todos os grupos. Se houver uma pergunta sobre uma dimensão concreta, consultar o CSV em vez de tirar uma conclusão geral do intervalo.</a:t>
            </a:r>
          </a:p>
          <a:p/>
          <a:p>
            <a:r>
              <a:t>FONTES PARA CONSULTA</a:t>
            </a:r>
          </a:p>
          <a:p>
            <a:r>
              <a:t>Fonte: Suplemento 4, comparacao_dimensional_72_medicoes.csv · Gráfico calculado a partir dos registos.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1:00 no percurso principal; 1:30 no treino desenvolvido. Confirmar no ensaio.</a:t>
            </a:r>
          </a:p>
          <a:p/>
          <a:p>
            <a:r>
              <a:t>O QUE QUERO DIZER</a:t>
            </a:r>
          </a:p>
          <a:p>
            <a:r>
              <a:t>Esta é a Phoenix que montei em PLA, para o perfil de referência de 15 anos. Observei em bancada o movimento manual e o retorno dos dedos. Durante essa montagem, substituí os elásticos.</a:t>
            </a:r>
          </a:p>
          <a:p/>
          <a:p>
            <a:r>
              <a:t>A fotografia da direita deixa ver melhor a articulação. Foi uma forma de observar como as peças funcionavam em conjunto. Ficou por estudar o comportamento ao longo de uma utilização prolongada, com um protocolo próprio.</a:t>
            </a:r>
          </a:p>
          <a:p/>
          <a:p>
            <a:r>
              <a:t>SE PRECISAR DE DESENVOLVER</a:t>
            </a:r>
          </a:p>
          <a:p>
            <a:r>
              <a:t>Tenho o registo de um espécime. O número de ciclos não foi registado e os testes com cilindros não foram realizados. Os 15 anos identificam o perfil de configuração; não houve um participante com essa idade. Se me perguntarem pelo uso protésico, explicar que essa avaliação ficou para trabalho futuro.</a:t>
            </a:r>
          </a:p>
          <a:p/>
          <a:p>
            <a:r>
              <a:t>LEMBRAR-ME (não ler ao júri)</a:t>
            </a:r>
          </a:p>
          <a:p>
            <a:r>
              <a:t>Apontar para a mão montada e depois para o pormenor da articulação. Dizer o que observei em bancada. Não simular uma demonstração de movimento a partir destas imagens estáticas.</a:t>
            </a:r>
          </a:p>
          <a:p/>
          <a:p>
            <a:r>
              <a:t>FONTES PARA CONSULTA</a:t>
            </a:r>
          </a:p>
          <a:p>
            <a:r>
              <a:t>Suplemento 4 · PHX-TEEN15-MONT-001 · Um espécime PLA, perfil de 15 anos; observação em bancada.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1:45 no percurso principal; 2:30 no treino desenvolvido. Confirmar no ensaio.</a:t>
            </a:r>
          </a:p>
          <a:p/>
          <a:p>
            <a:r>
              <a:t>O QUE QUERO DIZER</a:t>
            </a:r>
          </a:p>
          <a:p>
            <a:r>
              <a:t>Voltando às perguntas, consegui responder à parte técnica do problema.</a:t>
            </a:r>
          </a:p>
          <a:p/>
          <a:p>
            <a:r>
              <a:t>Na configuração, construí um percurso em que os valores podem ser revistos e os efeitos examinados. O conforto e a adequação individual continuam por avaliar.</a:t>
            </a:r>
          </a:p>
          <a:p/>
          <a:p>
            <a:r>
              <a:t>Na avaliação, combinei verificações ao longo do percurso até às dimensões físicas. Os registos mostram falhas e as condições em que o sistema funcionou. A durabilidade e a usabilidade com participantes precisam de outros estudos.</a:t>
            </a:r>
          </a:p>
          <a:p/>
          <a:p>
            <a:r>
              <a:t>Quanto aos requisitos do produto, traduzi alguns deles em regras e escolhas disponíveis. Ainda preciso de estudar como isso se relaciona com a aceitação da prótese e com a dignidade e autonomia das pessoas.</a:t>
            </a:r>
          </a:p>
          <a:p/>
          <a:p>
            <a:r>
              <a:t>É aqui que situo o meu contributo de design: definir escolhas e verificar o que fazem à forma. A base de dados mantém a origem dos valores. Os casos do Paraglider e do Phoenix mostram por que cada modelo exige uma análise própria. A decisão sobre a lateralidade ajuda a explicar o limite que atribuí à IA.</a:t>
            </a:r>
          </a:p>
          <a:p/>
          <a:p>
            <a:r>
              <a:t>O protótipo permitiu-me examinar estas decisões. Os registos tornam possível acompanhar o que foi alterado e a aprendizagem que daí resultou.</a:t>
            </a:r>
          </a:p>
          <a:p/>
          <a:p>
            <a:r>
              <a:t>SE PRECISAR DE DESENVOLVER</a:t>
            </a:r>
          </a:p>
          <a:p>
            <a:r>
              <a:t>Se me perguntarem se isto se aplica a qualquer prótese, delimitar a resposta aos modelos e condições documentados. Para alargar o trabalho, preciso de novas verificações. A avaliação com pessoas será necessária para perceber se esta organização ajuda a compreender as escolhas durante uma tarefa.</a:t>
            </a:r>
          </a:p>
          <a:p/>
          <a:p>
            <a:r>
              <a:t>LEMBRAR-ME (não ler ao júri)</a:t>
            </a:r>
          </a:p>
          <a:p>
            <a:r>
              <a:t>Aqui quero tornar o contributo claro, sem voltar a explicar toda a plataforma. Usar o Paraglider se precisar de um exemplo. Cross ajuda-me a enquadrar o conhecimento de design, e a investigação através do projeto enquadra a aprendizagem obtida com o protótipo.</a:t>
            </a:r>
          </a:p>
          <a:p/>
          <a:p>
            <a:r>
              <a:t>FONTES PARA CONSULTA</a:t>
            </a:r>
          </a:p>
          <a:p>
            <a:r>
              <a:t>Síntese da Tabela 31 e de 9.1-9.4 · Cross (1982): enquadramento do conhecimento de design.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0:15 no percurso principal; 0:30 no treino desenvolvido. Confirmar no ensaio.</a:t>
            </a:r>
          </a:p>
          <a:p/>
          <a:p>
            <a:r>
              <a:t>O QUE QUERO DIZER</a:t>
            </a:r>
          </a:p>
          <a:p>
            <a:r>
              <a:t>O que retiro deste trabalho é que configurar exige conhecer as regras de cada modelo e verificar o seu efeito na peça. O próximo passo é avaliar o HandFab com as pessoas que o irão utilizar. Obrigado.</a:t>
            </a:r>
          </a:p>
          <a:p/>
          <a:p>
            <a:r>
              <a:t>SE PRECISAR DE DESENVOLVER</a:t>
            </a:r>
          </a:p>
          <a:p>
            <a:r>
              <a:t>Se precisar de desenvolver a conclusão, voltar à relação entre a escolha e o efeito na forma. Os casos examinados ajudam-me a decidir que verificações acrescentar. A experiência das pessoas terá de ser estudada nas tarefas de configuração e na utilização.</a:t>
            </a:r>
          </a:p>
          <a:p/>
          <a:p>
            <a:r>
              <a:t>LEMBRAR-ME (não ler ao júri)</a:t>
            </a:r>
          </a:p>
          <a:p>
            <a:r>
              <a:t>Terminar com a fotografia do protótipo e olhar para o júri. Deixar este diapositivo no ecrã durante o início da discussão.</a:t>
            </a:r>
          </a:p>
          <a:p/>
          <a:p>
            <a:r>
              <a:t>FONTES PARA CONSULTA</a:t>
            </a:r>
          </a:p>
          <a:p>
            <a:r>
              <a:t>Projeto HandFab · Pedro Miguel Candeias da Silva · Obrigado.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Aqui tenho as perguntas aprovadas na formulação completa. Durante a exposição usei versões mais curtas.</a:t>
            </a:r>
          </a:p>
          <a:p/>
          <a:p>
            <a:r>
              <a:t>A primeira pergunta é: «Como o design de produto, métodos paramétricos e inteligência artificial podem melhorar a personalização, o conforto e a adequação funcional de próteses, mantendo a acessibilidade e o controlo sobre as decisões de projeto?»</a:t>
            </a:r>
          </a:p>
          <a:p/>
          <a:p>
            <a:r>
              <a:t>A segunda é: «Quais metodologias e ferramentas validam a eficácia, a usabilidade, a durabilidade e a possibilidade de reproduzir os resultados de próteses impressas em 3D?»</a:t>
            </a:r>
          </a:p>
          <a:p/>
          <a:p>
            <a:r>
              <a:t>A terceira é: «Como é que o design industrial concilia requisitos anatómicos, funcionais, ergonómicos, estéticos e simbólicos, promovendo a aceitação, a dignidade e a autonomia?»</a:t>
            </a:r>
          </a:p>
          <a:p/>
          <a:p>
            <a:r>
              <a:t>As minhas respostas dizem respeito à parte técnica e dimensional que consegui estudar. As outras dimensões continuam por avaliar.</a:t>
            </a:r>
          </a:p>
          <a:p/>
          <a:p>
            <a:r>
              <a:t>LEMBRAR-ME (não ler ao júri)</a:t>
            </a:r>
          </a:p>
          <a:p>
            <a:r>
              <a:t>Abrir este diapositivo se pedirem a formulação exata de uma pergunta. Ler só a que estiver em discussão e explicar até onde consegui responder. Manter o texto aprovado tal como está.</a:t>
            </a:r>
          </a:p>
          <a:p/>
          <a:p>
            <a:r>
              <a:t>FONTES PARA CONSULTA</a:t>
            </a:r>
          </a:p>
          <a:p>
            <a:r>
              <a:t>Fonte: manuscrito, 9.1. Diapositivo fora do percurso principal de 20 minutos.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Estes números correspondem a conjuntos diferentes.</a:t>
            </a:r>
          </a:p>
          <a:p/>
          <a:p>
            <a:r>
              <a:t>Na Série A, preparei quatro projetos em condições distintas. Isso limita as comparações diretas entre equipamentos.</a:t>
            </a:r>
          </a:p>
          <a:p/>
          <a:p>
            <a:r>
              <a:t>Na Série B, os doze casos resultam de três modelos combinados com quatro perfis, numa condição digital comum. A preparação ficou concluída, com os avisos registados.</a:t>
            </a:r>
          </a:p>
          <a:p/>
          <a:p>
            <a:r>
              <a:t>As setenta e duas medições combinam três modelos, quatro perfis, três eixos e dois materiais. Houve uma leitura por combinação. Não são setenta e duas repetições da mesma medida.</a:t>
            </a:r>
          </a:p>
          <a:p/>
          <a:p>
            <a:r>
              <a:t>As idades de oito, quinze, vinte e oito e setenta anos identificam perfis de ensaio. Não tive participantes com essas idades.</a:t>
            </a:r>
          </a:p>
          <a:p/>
          <a:p>
            <a:r>
              <a:t>LEMBRAR-ME (não ler ao júri)</a:t>
            </a:r>
          </a:p>
          <a:p>
            <a:r>
              <a:t>Começar pelo número sobre o qual me perguntaram. Se a dúvida for o número de modelos, explicar que havia quatro na plataforma e três na comparação física principal.</a:t>
            </a:r>
          </a:p>
          <a:p/>
          <a:p>
            <a:r>
              <a:t>FONTES PARA CONSULTA</a:t>
            </a:r>
          </a:p>
          <a:p>
            <a:r>
              <a:t>Fonte: capítulo 8, Anexo D e CSV das Séries A/B e medições físicas.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Esta tabela contém os valores que usei no gráfico. Para cada modelo e material, apresenta o menor e o maior desvio entre a dimensão física e a digital.</a:t>
            </a:r>
          </a:p>
          <a:p/>
          <a:p>
            <a:r>
              <a:t>No Flexy Beast em PLA, por exemplo, os extremos são menos 0,398 e menos 0,108 milímetros. O grupo reúne doze valores, relativos a quatro perfis e três eixos.</a:t>
            </a:r>
          </a:p>
          <a:p/>
          <a:p>
            <a:r>
              <a:t>A tabela descreve as medições que fiz. Como não repeti as leituras por combinação, não consigo estimar a incerteza a partir destes dados. Também não defini aqui uma tolerância de aceitação.</a:t>
            </a:r>
          </a:p>
          <a:p/>
          <a:p>
            <a:r>
              <a:t>Se a pergunta for sobre uma dimensão específica, posso consultar o registo correspondente no CSV.</a:t>
            </a:r>
          </a:p>
          <a:p/>
          <a:p>
            <a:r>
              <a:t>LEMBRAR-ME (não ler ao júri)</a:t>
            </a:r>
          </a:p>
          <a:p>
            <a:r>
              <a:t>Usar um grupo para explicar a leitura. Os restantes ficam para consulta conforme a pergunta. Lembrar-me de dizer «desvio observado», sem o transformar numa garantia de precisão.</a:t>
            </a:r>
          </a:p>
          <a:p/>
          <a:p>
            <a:r>
              <a:t>FONTES PARA CONSULTA</a:t>
            </a:r>
          </a:p>
          <a:p>
            <a:r>
              <a:t>Fonte: comparacao_dimensional_72_medicoes.csv · Diferença = dimensão física − dimensão da malha.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Os testes também mostraram falhas que preciso de resolver.</a:t>
            </a:r>
          </a:p>
          <a:p/>
          <a:p>
            <a:r>
              <a:t>Num ensaio com uma resposta simulada, um valor acima do limite chegou ao estado interno da aplicação. Esse caso mostrou um ponto em que o controlo não estava a funcionar como devia.</a:t>
            </a:r>
          </a:p>
          <a:p/>
          <a:p>
            <a:r>
              <a:t>Na verificação manual de acessibilidade, cinco dos doze itens falharam. Identifiquei, portanto, barreiras no percurso de interação.</a:t>
            </a:r>
          </a:p>
          <a:p/>
          <a:p>
            <a:r>
              <a:t>Estes resultados ajudam-me a decidir onde rever o sistema e o que voltar a testar. A robustez global e a acessibilidade continuam por demonstrar; o funcionamento nas condições ensaiadas não chega para as garantir.</a:t>
            </a:r>
          </a:p>
          <a:p/>
          <a:p>
            <a:r>
              <a:t>SE PRECISAR DE DESENVOLVER</a:t>
            </a:r>
          </a:p>
          <a:p>
            <a:r>
              <a:t>Se me perguntarem pelo valor fora do limite, esclarecer que foi uma resposta preparada para testar o comportamento do sistema. É diferente de uma chamada real à IA. Na acessibilidade, usei critérios e inspeção. Para compreender as dificuldades das pessoas durante uma tarefa, preciso de complementar isso com observação de utilização.</a:t>
            </a:r>
          </a:p>
          <a:p/>
          <a:p>
            <a:r>
              <a:t>LEMBRAR-ME (não ler ao júri)</a:t>
            </a:r>
          </a:p>
          <a:p>
            <a:r>
              <a:t>Explicar o efeito de cada falha no desenvolvimento. Não ficar só pela lista de problemas: mostrar o que os registos me permitem rever.</a:t>
            </a:r>
          </a:p>
          <a:p/>
          <a:p>
            <a:r>
              <a:t>FONTES PARA CONSULTA</a:t>
            </a:r>
          </a:p>
          <a:p>
            <a:r>
              <a:t>Fonte: 8.1.2 e Anexo B · Ensaios de recuperação e auditoria de acessibilidade.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Nos ensaios de repetição, concluí sete exportações do Flexy Beast, cinco do Paraglider e cinco do Phoenix. Os ficheiros foram idênticos dentro de cada configuração testada. O objetivo de dez exportações por modelo ficou por atingir.</a:t>
            </a:r>
          </a:p>
          <a:p/>
          <a:p>
            <a:r>
              <a:t>Isto documenta consistência nessas execuções. Para generalizar a outras configurações, teria de as testar.</a:t>
            </a:r>
          </a:p>
          <a:p/>
          <a:p>
            <a:r>
              <a:t>Na verificação manual de acessibilidade, sete itens foram considerados conformes e cinco falharam. São os resultados da lista examinada, sem uma certificação global de acessibilidade.</a:t>
            </a:r>
          </a:p>
          <a:p/>
          <a:p>
            <a:r>
              <a:t>No WebKit, o bloqueio de autenticação impediu concluir a avaliação. Esse resultado ficou inconclusivo.</a:t>
            </a:r>
          </a:p>
          <a:p/>
          <a:p>
            <a:r>
              <a:t>LEMBRAR-ME (não ler ao júri)</a:t>
            </a:r>
          </a:p>
          <a:p>
            <a:r>
              <a:t>Usar só a parte relevante para a pergunta. No caso do WebKit, explicar o bloqueio encontrado sem o apresentar como prova de incompatibilidade geral.</a:t>
            </a:r>
          </a:p>
          <a:p/>
          <a:p>
            <a:r>
              <a:t>FONTES PARA CONSULTA</a:t>
            </a:r>
          </a:p>
          <a:p>
            <a:r>
              <a:t>Fonte: 8.1.2 e Anexo B. Repetições idênticas dentro da configuração examinada.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Usei IA de duas formas neste trabalho.</a:t>
            </a:r>
          </a:p>
          <a:p/>
          <a:p>
            <a:r>
              <a:t>Durante a investigação, recorri ao ChatGPT, Codex, Claude e Elicit para apoiar a pesquisa e organização da literatura, a escrita, o código e os ficheiros complementares. Esse uso está declarado no manuscrito. A responsabilidade pelo trabalho e pelas decisões é minha.</a:t>
            </a:r>
          </a:p>
          <a:p/>
          <a:p>
            <a:r>
              <a:t>No HandFab, estudei uma função específica: sugerir valores iniciais para parâmetros conhecidos. Esses valores podem ser revistos antes de serem aplicados aos modelos.</a:t>
            </a:r>
          </a:p>
          <a:p/>
          <a:p>
            <a:r>
              <a:t>Quando explico os resultados, apoio-me nos procedimentos e registos dos ensaios. É isso que permite acompanhar o que foi feito.</a:t>
            </a:r>
          </a:p>
          <a:p/>
          <a:p>
            <a:r>
              <a:t>LEMBRAR-ME (não ler ao júri)</a:t>
            </a:r>
          </a:p>
          <a:p>
            <a:r>
              <a:t>Dar exemplos que correspondam ao trabalho realizado. Separar as ferramentas que usei para desenvolver o projeto da função de IA que avaliei no HandFab.</a:t>
            </a:r>
          </a:p>
          <a:p/>
          <a:p>
            <a:r>
              <a:t>FONTES PARA CONSULTA</a:t>
            </a:r>
          </a:p>
          <a:p>
            <a:r>
              <a:t>Fonte: declaração inicial do manuscrito e capítulo 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Tenho aqui as referências que me ajudam a explicar o enquadramento de design e a metodologia.</a:t>
            </a:r>
          </a:p>
          <a:p/>
          <a:p>
            <a:r>
              <a:t>Cross permite-me discutir o conhecimento produzido através do design. Fischer ajuda-me a pensar nas condições de modificação do sistema. Com Frayling e Zimmerman, enquadro a investigação através do desenvolvimento e análise do artefacto. O Design Council ajuda a explicar a organização do processo.</a:t>
            </a:r>
          </a:p>
          <a:p/>
          <a:p>
            <a:r>
              <a:t>A seleção foi feita para apoiar o argumento desta apresentação. A revisão completa está no manuscrito.</a:t>
            </a:r>
          </a:p>
          <a:p/>
          <a:p>
            <a:r>
              <a:t>LEMBRAR-ME (não ler ao júri)</a:t>
            </a:r>
          </a:p>
          <a:p>
            <a:r>
              <a:t>Ir diretamente ao autor relevante para a pergunta. A entrada completa de Frayling ainda precisa de ser conferida antes da prova. O ano mantém o que está no manuscrito.</a:t>
            </a:r>
          </a:p>
          <a:p/>
          <a:p>
            <a:r>
              <a:t>FONTES PARA CONSULTA</a:t>
            </a:r>
          </a:p>
          <a:p>
            <a:r>
              <a:t>Seleção da bibliografia do manuscrito · A ligação ao HandFab é uma interpretação aplicada ao projeto.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Tempo para me orientar: apoio à discussão. Confirmar no ensaio.</a:t>
            </a:r>
          </a:p>
          <a:p/>
          <a:p>
            <a:r>
              <a:t>O QUE QUERO DIZER</a:t>
            </a:r>
          </a:p>
          <a:p>
            <a:r>
              <a:t>Estas são as referências de apoio ao domínio das próteses e aos dados antropométricos.</a:t>
            </a:r>
          </a:p>
          <a:p/>
          <a:p>
            <a:r>
              <a:t>Manero enquadra a impressão 3D no desenvolvimento de próteses. Cabibihan examina a funcionalidade e a durabilidade de mãos abertas. Gordon documenta os levantamentos antropométricos. Na DINED, identifico os conjuntos consultados, e a ISO 7250-1 ajuda a definir as medidas.</a:t>
            </a:r>
          </a:p>
          <a:p/>
          <a:p>
            <a:r>
              <a:t>Os dados publicados pertencem a essas fontes. O meu trabalho foi prepará-los para o HandFab e avaliar o percurso implementado. Os registos estão no manuscrito e nos suplementos.</a:t>
            </a:r>
          </a:p>
          <a:p/>
          <a:p>
            <a:r>
              <a:t>LEMBRAR-ME (não ler ao júri)</a:t>
            </a:r>
          </a:p>
          <a:p>
            <a:r>
              <a:t>Identificar a fonte que responde à pergunta. A norma ajuda-me a definir as medidas; não garante a conformidade de todos os dados. Para avaliar uma pessoa concreta, os perfis populacionais são apenas uma referência de partida.</a:t>
            </a:r>
          </a:p>
          <a:p/>
          <a:p>
            <a:r>
              <a:t>FONTES PARA CONSULTA</a:t>
            </a:r>
          </a:p>
          <a:p>
            <a:r>
              <a:t>Dados e atribuições: Suplemento 1 · Ensaios do projeto: Suplementos 2-4 · Obras distintas com funções próprias.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6.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7.jp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MESTRADO EM DESIGN E DESENVOLVIMENTO DE PRODUTO · UPCA</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Da medida à peça física</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Imagem: produção do autor · Suplemento 4 · Phoenix, observação de montagem em bancada.</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01</a:t>
            </a:r>
          </a:p>
        </p:txBody>
      </p:sp>
      <p:sp>
        <p:nvSpPr>
          <p:cNvPr id="7" name="TextBox 6"/>
          <p:cNvSpPr txBox="1"/>
          <p:nvPr/>
        </p:nvSpPr>
        <p:spPr>
          <a:xfrm>
            <a:off x="640080" y="1865376"/>
            <a:ext cx="5623560" cy="246888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Integração do design e da inteligência artificial em processos paramétricos para o desenvolvimento de próteses de membros superiores em impressão 3D</a:t>
            </a:r>
          </a:p>
        </p:txBody>
      </p:sp>
      <p:sp>
        <p:nvSpPr>
          <p:cNvPr id="8" name="TextBox 7"/>
          <p:cNvSpPr txBox="1"/>
          <p:nvPr/>
        </p:nvSpPr>
        <p:spPr>
          <a:xfrm>
            <a:off x="640080" y="4526280"/>
            <a:ext cx="5577840" cy="594360"/>
          </a:xfrm>
          <a:prstGeom prst="rect">
            <a:avLst/>
          </a:prstGeom>
          <a:noFill/>
        </p:spPr>
        <p:txBody>
          <a:bodyPr wrap="square" lIns="0" rIns="0" tIns="22860" bIns="22860">
            <a:spAutoFit/>
          </a:bodyPr>
          <a:lstStyle/>
          <a:p>
            <a:pPr>
              <a:lnSpc>
                <a:spcPct val="110000"/>
              </a:lnSpc>
              <a:spcAft>
                <a:spcPts val="700"/>
              </a:spcAft>
              <a:defRPr sz="2100" b="1">
                <a:solidFill>
                  <a:srgbClr val="193536"/>
                </a:solidFill>
                <a:latin typeface="Liberation Sans"/>
              </a:defRPr>
            </a:pPr>
            <a:r>
              <a:t>Pedro Miguel Candeias da Silva</a:t>
            </a:r>
          </a:p>
        </p:txBody>
      </p:sp>
      <p:sp>
        <p:nvSpPr>
          <p:cNvPr id="9" name="TextBox 8"/>
          <p:cNvSpPr txBox="1"/>
          <p:nvPr/>
        </p:nvSpPr>
        <p:spPr>
          <a:xfrm>
            <a:off x="640080" y="5148072"/>
            <a:ext cx="5577840" cy="822960"/>
          </a:xfrm>
          <a:prstGeom prst="rect">
            <a:avLst/>
          </a:prstGeom>
          <a:noFill/>
        </p:spPr>
        <p:txBody>
          <a:bodyPr wrap="square" lIns="0" rIns="0" tIns="22860" bIns="22860">
            <a:spAutoFit/>
          </a:bodyPr>
          <a:lstStyle/>
          <a:p>
            <a:pPr>
              <a:lnSpc>
                <a:spcPct val="110000"/>
              </a:lnSpc>
              <a:spcAft>
                <a:spcPts val="700"/>
              </a:spcAft>
              <a:defRPr sz="1700" b="0">
                <a:solidFill>
                  <a:srgbClr val="566B6A"/>
                </a:solidFill>
                <a:latin typeface="Liberation Sans"/>
              </a:defRPr>
            </a:pPr>
            <a:r>
              <a:t>Orientador: Doutor Demétrio Ferreira Matos</a:t>
            </a:r>
          </a:p>
          <a:p>
            <a:pPr>
              <a:lnSpc>
                <a:spcPct val="110000"/>
              </a:lnSpc>
              <a:spcAft>
                <a:spcPts val="700"/>
              </a:spcAft>
              <a:defRPr sz="1700" b="0">
                <a:solidFill>
                  <a:srgbClr val="566B6A"/>
                </a:solidFill>
                <a:latin typeface="Liberation Sans"/>
              </a:defRPr>
            </a:pPr>
            <a:r>
              <a:t>Projeto de mestrado · 2026</a:t>
            </a:r>
          </a:p>
        </p:txBody>
      </p:sp>
      <p:pic>
        <p:nvPicPr>
          <p:cNvPr id="10" name="Picture 9" descr="upca_logo_oficial.png"/>
          <p:cNvPicPr>
            <a:picLocks noChangeAspect="1"/>
          </p:cNvPicPr>
          <p:nvPr/>
        </p:nvPicPr>
        <p:blipFill>
          <a:blip r:embed="rId2"/>
          <a:stretch>
            <a:fillRect/>
          </a:stretch>
        </p:blipFill>
        <p:spPr>
          <a:xfrm>
            <a:off x="8869680" y="411480"/>
            <a:ext cx="2651760" cy="1082468"/>
          </a:xfrm>
          <a:prstGeom prst="rect">
            <a:avLst/>
          </a:prstGeom>
        </p:spPr>
      </p:pic>
      <p:pic>
        <p:nvPicPr>
          <p:cNvPr id="11" name="Picture 10" descr="phoenix_montagem.jpg"/>
          <p:cNvPicPr>
            <a:picLocks noChangeAspect="1"/>
          </p:cNvPicPr>
          <p:nvPr/>
        </p:nvPicPr>
        <p:blipFill>
          <a:blip r:embed="rId3"/>
          <a:srcRect/>
          <a:stretch>
            <a:fillRect/>
          </a:stretch>
        </p:blipFill>
        <p:spPr>
          <a:xfrm>
            <a:off x="6492240" y="2152241"/>
            <a:ext cx="5029200" cy="2827837"/>
          </a:xfrm>
          <a:prstGeom prst="rect">
            <a:avLst/>
          </a:prstGeom>
        </p:spPr>
      </p:pic>
      <p:sp>
        <p:nvSpPr>
          <p:cNvPr id="12" name="TextBox 11"/>
          <p:cNvSpPr txBox="1"/>
          <p:nvPr/>
        </p:nvSpPr>
        <p:spPr>
          <a:xfrm>
            <a:off x="6510528" y="5431536"/>
            <a:ext cx="4937760" cy="475488"/>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HandFab: da configuração à peça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PROBLEMA DE DESIGN</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Como passar de uma medida a uma peça?</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Captura do HandFab e fotografias do autor · Configuração e peças ilustram etapas do projeto.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02</a:t>
            </a:r>
          </a:p>
        </p:txBody>
      </p:sp>
      <p:pic>
        <p:nvPicPr>
          <p:cNvPr id="7" name="Picture 6" descr="flexy_parametros.png"/>
          <p:cNvPicPr>
            <a:picLocks noChangeAspect="1"/>
          </p:cNvPicPr>
          <p:nvPr/>
        </p:nvPicPr>
        <p:blipFill>
          <a:blip r:embed="rId2"/>
          <a:srcRect/>
          <a:stretch>
            <a:fillRect/>
          </a:stretch>
        </p:blipFill>
        <p:spPr>
          <a:xfrm>
            <a:off x="967078" y="1901952"/>
            <a:ext cx="5838243" cy="3538728"/>
          </a:xfrm>
          <a:prstGeom prst="rect">
            <a:avLst/>
          </a:prstGeom>
        </p:spPr>
      </p:pic>
      <p:pic>
        <p:nvPicPr>
          <p:cNvPr id="8" name="Picture 7" descr="flexy_perfis.jpeg"/>
          <p:cNvPicPr>
            <a:picLocks noChangeAspect="1"/>
          </p:cNvPicPr>
          <p:nvPr/>
        </p:nvPicPr>
        <p:blipFill>
          <a:blip r:embed="rId3"/>
          <a:srcRect/>
          <a:stretch>
            <a:fillRect/>
          </a:stretch>
        </p:blipFill>
        <p:spPr>
          <a:xfrm>
            <a:off x="7333488" y="2494476"/>
            <a:ext cx="4187952" cy="2353678"/>
          </a:xfrm>
          <a:prstGeom prst="rect">
            <a:avLst/>
          </a:prstGeom>
        </p:spPr>
      </p:pic>
      <p:sp>
        <p:nvSpPr>
          <p:cNvPr id="9" name="TextBox 8"/>
          <p:cNvSpPr txBox="1"/>
          <p:nvPr/>
        </p:nvSpPr>
        <p:spPr>
          <a:xfrm>
            <a:off x="731520" y="5632704"/>
            <a:ext cx="6400800" cy="411480"/>
          </a:xfrm>
          <a:prstGeom prst="rect">
            <a:avLst/>
          </a:prstGeom>
          <a:noFill/>
        </p:spPr>
        <p:txBody>
          <a:bodyPr wrap="square" lIns="0" rIns="0" tIns="22860" bIns="22860">
            <a:spAutoFit/>
          </a:bodyPr>
          <a:lstStyle/>
          <a:p>
            <a:pPr>
              <a:lnSpc>
                <a:spcPct val="110000"/>
              </a:lnSpc>
              <a:spcAft>
                <a:spcPts val="700"/>
              </a:spcAft>
              <a:defRPr sz="2400" b="1">
                <a:solidFill>
                  <a:srgbClr val="007C78"/>
                </a:solidFill>
                <a:latin typeface="Liberation Sans"/>
              </a:defRPr>
            </a:pPr>
            <a:r>
              <a:t>Que efeito tem o valor que introduzo?</a:t>
            </a:r>
          </a:p>
        </p:txBody>
      </p:sp>
      <p:sp>
        <p:nvSpPr>
          <p:cNvPr id="10" name="TextBox 9"/>
          <p:cNvSpPr txBox="1"/>
          <p:nvPr/>
        </p:nvSpPr>
        <p:spPr>
          <a:xfrm>
            <a:off x="7406640" y="5632704"/>
            <a:ext cx="4114800" cy="411480"/>
          </a:xfrm>
          <a:prstGeom prst="rect">
            <a:avLst/>
          </a:prstGeom>
          <a:noFill/>
        </p:spPr>
        <p:txBody>
          <a:bodyPr wrap="square" lIns="0" rIns="0" tIns="22860" bIns="22860">
            <a:spAutoFit/>
          </a:bodyPr>
          <a:lstStyle/>
          <a:p>
            <a:pPr>
              <a:lnSpc>
                <a:spcPct val="110000"/>
              </a:lnSpc>
              <a:spcAft>
                <a:spcPts val="700"/>
              </a:spcAft>
              <a:defRPr sz="2400" b="1">
                <a:solidFill>
                  <a:srgbClr val="007C78"/>
                </a:solidFill>
                <a:latin typeface="Liberation Sans"/>
              </a:defRPr>
            </a:pPr>
            <a:r>
              <a:t>O que chega à peça?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PERGUNTAS E ÂMBITO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Perguntas de investigação e âmbito da avaliação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Síntese das perguntas aprovadas · Formulações integrais no diapositivo 21 · Tabela 31.</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03</a:t>
            </a:r>
          </a:p>
        </p:txBody>
      </p:sp>
      <p:sp>
        <p:nvSpPr>
          <p:cNvPr id="7" name="Rectangle 6"/>
          <p:cNvSpPr/>
          <p:nvPr/>
        </p:nvSpPr>
        <p:spPr>
          <a:xfrm>
            <a:off x="640080" y="1874519"/>
            <a:ext cx="347472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39112"/>
            <a:ext cx="3072384"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P1</a:t>
            </a:r>
          </a:p>
        </p:txBody>
      </p:sp>
      <p:sp>
        <p:nvSpPr>
          <p:cNvPr id="9" name="TextBox 8"/>
          <p:cNvSpPr txBox="1"/>
          <p:nvPr/>
        </p:nvSpPr>
        <p:spPr>
          <a:xfrm>
            <a:off x="841247" y="2670048"/>
            <a:ext cx="3072384"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Configuração e controlo</a:t>
            </a:r>
          </a:p>
        </p:txBody>
      </p:sp>
      <p:sp>
        <p:nvSpPr>
          <p:cNvPr id="10" name="TextBox 9"/>
          <p:cNvSpPr txBox="1"/>
          <p:nvPr/>
        </p:nvSpPr>
        <p:spPr>
          <a:xfrm>
            <a:off x="841247" y="3520439"/>
            <a:ext cx="3072384" cy="132588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Como apoiar escolhas sobre o modelo?</a:t>
            </a:r>
          </a:p>
        </p:txBody>
      </p:sp>
      <p:sp>
        <p:nvSpPr>
          <p:cNvPr id="11" name="Rectangle 10"/>
          <p:cNvSpPr/>
          <p:nvPr/>
        </p:nvSpPr>
        <p:spPr>
          <a:xfrm>
            <a:off x="4343400" y="1874519"/>
            <a:ext cx="347472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39112"/>
            <a:ext cx="3072384"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P2</a:t>
            </a:r>
          </a:p>
        </p:txBody>
      </p:sp>
      <p:sp>
        <p:nvSpPr>
          <p:cNvPr id="13" name="TextBox 12"/>
          <p:cNvSpPr txBox="1"/>
          <p:nvPr/>
        </p:nvSpPr>
        <p:spPr>
          <a:xfrm>
            <a:off x="4544568" y="2670048"/>
            <a:ext cx="3072384"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Avaliação e reprodução</a:t>
            </a:r>
          </a:p>
        </p:txBody>
      </p:sp>
      <p:sp>
        <p:nvSpPr>
          <p:cNvPr id="14" name="TextBox 13"/>
          <p:cNvSpPr txBox="1"/>
          <p:nvPr/>
        </p:nvSpPr>
        <p:spPr>
          <a:xfrm>
            <a:off x="4544568" y="3520439"/>
            <a:ext cx="3072384" cy="132588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Como examinar o processo e os resultados?</a:t>
            </a:r>
          </a:p>
        </p:txBody>
      </p:sp>
      <p:sp>
        <p:nvSpPr>
          <p:cNvPr id="15" name="Rectangle 14"/>
          <p:cNvSpPr/>
          <p:nvPr/>
        </p:nvSpPr>
        <p:spPr>
          <a:xfrm>
            <a:off x="8046720" y="1874519"/>
            <a:ext cx="347472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2039112"/>
            <a:ext cx="3072384"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P3</a:t>
            </a:r>
          </a:p>
        </p:txBody>
      </p:sp>
      <p:sp>
        <p:nvSpPr>
          <p:cNvPr id="17" name="TextBox 16"/>
          <p:cNvSpPr txBox="1"/>
          <p:nvPr/>
        </p:nvSpPr>
        <p:spPr>
          <a:xfrm>
            <a:off x="8247888" y="2670048"/>
            <a:ext cx="3072384"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Requisitos e experiência</a:t>
            </a:r>
          </a:p>
        </p:txBody>
      </p:sp>
      <p:sp>
        <p:nvSpPr>
          <p:cNvPr id="18" name="TextBox 17"/>
          <p:cNvSpPr txBox="1"/>
          <p:nvPr/>
        </p:nvSpPr>
        <p:spPr>
          <a:xfrm>
            <a:off x="8247888" y="3520439"/>
            <a:ext cx="3072384" cy="132588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Como responder às necessidades das pessoas?</a:t>
            </a:r>
          </a:p>
        </p:txBody>
      </p:sp>
      <p:sp>
        <p:nvSpPr>
          <p:cNvPr id="19" name="TextBox 18"/>
          <p:cNvSpPr txBox="1"/>
          <p:nvPr/>
        </p:nvSpPr>
        <p:spPr>
          <a:xfrm>
            <a:off x="822960" y="5440680"/>
            <a:ext cx="10515600" cy="475488"/>
          </a:xfrm>
          <a:prstGeom prst="rect">
            <a:avLst/>
          </a:prstGeom>
          <a:noFill/>
        </p:spPr>
        <p:txBody>
          <a:bodyPr wrap="square" lIns="0" rIns="0" tIns="22860" bIns="22860">
            <a:spAutoFit/>
          </a:bodyPr>
          <a:lstStyle/>
          <a:p>
            <a:pPr>
              <a:lnSpc>
                <a:spcPct val="110000"/>
              </a:lnSpc>
              <a:spcAft>
                <a:spcPts val="700"/>
              </a:spcAft>
              <a:defRPr sz="2200" b="1">
                <a:solidFill>
                  <a:srgbClr val="007C78"/>
                </a:solidFill>
                <a:latin typeface="Liberation Sans"/>
              </a:defRPr>
            </a:pPr>
            <a:r>
              <a:t>Âmbito realizado: verificação técnica e dimensional, sem participantes.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OBJETIVOS DA INVESTIGAÇÃO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Objetivo geral e objetivos específicos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Síntese da secção 1.3 do manuscrito · Sete objetivos específicos, com o âmbito original preservado.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04</a:t>
            </a:r>
          </a:p>
        </p:txBody>
      </p:sp>
      <p:sp>
        <p:nvSpPr>
          <p:cNvPr id="7" name="Rectangle 6"/>
          <p:cNvSpPr/>
          <p:nvPr/>
        </p:nvSpPr>
        <p:spPr>
          <a:xfrm>
            <a:off x="640080" y="1755648"/>
            <a:ext cx="10881360" cy="1481328"/>
          </a:xfrm>
          <a:prstGeom prst="rect">
            <a:avLst/>
          </a:prstGeom>
          <a:solidFill>
            <a:srgbClr val="E3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865376"/>
            <a:ext cx="10424160" cy="237744"/>
          </a:xfrm>
          <a:prstGeom prst="rect">
            <a:avLst/>
          </a:prstGeom>
          <a:noFill/>
        </p:spPr>
        <p:txBody>
          <a:bodyPr wrap="square" lIns="0" rIns="0" tIns="22860" bIns="22860">
            <a:spAutoFit/>
          </a:bodyPr>
          <a:lstStyle/>
          <a:p>
            <a:pPr>
              <a:lnSpc>
                <a:spcPct val="110000"/>
              </a:lnSpc>
              <a:spcAft>
                <a:spcPts val="700"/>
              </a:spcAft>
              <a:defRPr sz="1200" b="1">
                <a:solidFill>
                  <a:srgbClr val="007C78"/>
                </a:solidFill>
                <a:latin typeface="Liberation Sans"/>
              </a:defRPr>
            </a:pPr>
            <a:r>
              <a:t>OBJETIVO GERAL</a:t>
            </a:r>
          </a:p>
        </p:txBody>
      </p:sp>
      <p:sp>
        <p:nvSpPr>
          <p:cNvPr id="9" name="TextBox 8"/>
          <p:cNvSpPr txBox="1"/>
          <p:nvPr/>
        </p:nvSpPr>
        <p:spPr>
          <a:xfrm>
            <a:off x="841248" y="2148840"/>
            <a:ext cx="10424160" cy="1024128"/>
          </a:xfrm>
          <a:prstGeom prst="rect">
            <a:avLst/>
          </a:prstGeom>
          <a:noFill/>
        </p:spPr>
        <p:txBody>
          <a:bodyPr wrap="square" lIns="0" rIns="0" tIns="22860" bIns="22860">
            <a:spAutoFit/>
          </a:bodyPr>
          <a:lstStyle/>
          <a:p>
            <a:pPr>
              <a:lnSpc>
                <a:spcPct val="110000"/>
              </a:lnSpc>
              <a:spcAft>
                <a:spcPts val="700"/>
              </a:spcAft>
              <a:defRPr sz="2000" b="1">
                <a:solidFill>
                  <a:srgbClr val="193536"/>
                </a:solidFill>
                <a:latin typeface="Liberation Sans"/>
              </a:defRPr>
            </a:pPr>
            <a:r>
              <a:t>Produzir conhecimento através da prática de design, desenvolvendo e avaliando tecnicamente um sistema paramétrico apoiado por IA para a configuração preliminar de modelos de mão protésica destinados ao fabrico aditivo.</a:t>
            </a:r>
          </a:p>
        </p:txBody>
      </p:sp>
      <p:sp>
        <p:nvSpPr>
          <p:cNvPr id="10" name="TextBox 9"/>
          <p:cNvSpPr txBox="1"/>
          <p:nvPr/>
        </p:nvSpPr>
        <p:spPr>
          <a:xfrm>
            <a:off x="841248" y="3328416"/>
            <a:ext cx="10424160" cy="256032"/>
          </a:xfrm>
          <a:prstGeom prst="rect">
            <a:avLst/>
          </a:prstGeom>
          <a:noFill/>
        </p:spPr>
        <p:txBody>
          <a:bodyPr wrap="square" lIns="0" rIns="0" tIns="22860" bIns="22860">
            <a:spAutoFit/>
          </a:bodyPr>
          <a:lstStyle/>
          <a:p>
            <a:pPr>
              <a:lnSpc>
                <a:spcPct val="110000"/>
              </a:lnSpc>
              <a:spcAft>
                <a:spcPts val="700"/>
              </a:spcAft>
              <a:defRPr sz="1200" b="1">
                <a:solidFill>
                  <a:srgbClr val="007C78"/>
                </a:solidFill>
                <a:latin typeface="Liberation Sans"/>
              </a:defRPr>
            </a:pPr>
            <a:r>
              <a:t>OBJETIVOS ESPECÍFICOS</a:t>
            </a:r>
          </a:p>
        </p:txBody>
      </p:sp>
      <p:sp>
        <p:nvSpPr>
          <p:cNvPr id="11" name="TextBox 10"/>
          <p:cNvSpPr txBox="1"/>
          <p:nvPr/>
        </p:nvSpPr>
        <p:spPr>
          <a:xfrm>
            <a:off x="841248" y="3767328"/>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01</a:t>
            </a:r>
          </a:p>
        </p:txBody>
      </p:sp>
      <p:sp>
        <p:nvSpPr>
          <p:cNvPr id="12" name="TextBox 11"/>
          <p:cNvSpPr txBox="1"/>
          <p:nvPr/>
        </p:nvSpPr>
        <p:spPr>
          <a:xfrm>
            <a:off x="1280160" y="3767328"/>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Analisar como o design traduz requisitos humanos em decisões de projeto e fabrico.</a:t>
            </a:r>
          </a:p>
        </p:txBody>
      </p:sp>
      <p:sp>
        <p:nvSpPr>
          <p:cNvPr id="13" name="TextBox 12"/>
          <p:cNvSpPr txBox="1"/>
          <p:nvPr/>
        </p:nvSpPr>
        <p:spPr>
          <a:xfrm>
            <a:off x="841248" y="4370832"/>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02</a:t>
            </a:r>
          </a:p>
        </p:txBody>
      </p:sp>
      <p:sp>
        <p:nvSpPr>
          <p:cNvPr id="14" name="TextBox 13"/>
          <p:cNvSpPr txBox="1"/>
          <p:nvPr/>
        </p:nvSpPr>
        <p:spPr>
          <a:xfrm>
            <a:off x="1280160" y="4370832"/>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Organizar dados antropométricos, preservando a sua caracterização e limitações.</a:t>
            </a:r>
          </a:p>
        </p:txBody>
      </p:sp>
      <p:sp>
        <p:nvSpPr>
          <p:cNvPr id="15" name="TextBox 14"/>
          <p:cNvSpPr txBox="1"/>
          <p:nvPr/>
        </p:nvSpPr>
        <p:spPr>
          <a:xfrm>
            <a:off x="841248" y="4974336"/>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03</a:t>
            </a:r>
          </a:p>
        </p:txBody>
      </p:sp>
      <p:sp>
        <p:nvSpPr>
          <p:cNvPr id="16" name="TextBox 15"/>
          <p:cNvSpPr txBox="1"/>
          <p:nvPr/>
        </p:nvSpPr>
        <p:spPr>
          <a:xfrm>
            <a:off x="1280160" y="4974336"/>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Adaptar modelos abertos de mão a uma estrutura paramétrica explícita em OpenSCAD.</a:t>
            </a:r>
          </a:p>
        </p:txBody>
      </p:sp>
      <p:sp>
        <p:nvSpPr>
          <p:cNvPr id="17" name="TextBox 16"/>
          <p:cNvSpPr txBox="1"/>
          <p:nvPr/>
        </p:nvSpPr>
        <p:spPr>
          <a:xfrm>
            <a:off x="841248" y="5577840"/>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04</a:t>
            </a:r>
          </a:p>
        </p:txBody>
      </p:sp>
      <p:sp>
        <p:nvSpPr>
          <p:cNvPr id="18" name="TextBox 17"/>
          <p:cNvSpPr txBox="1"/>
          <p:nvPr/>
        </p:nvSpPr>
        <p:spPr>
          <a:xfrm>
            <a:off x="1280160" y="5577840"/>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Integrar o percurso na web, com visualização e gestão de versões, até à impressão.</a:t>
            </a:r>
          </a:p>
        </p:txBody>
      </p:sp>
      <p:sp>
        <p:nvSpPr>
          <p:cNvPr id="19" name="TextBox 18"/>
          <p:cNvSpPr txBox="1"/>
          <p:nvPr/>
        </p:nvSpPr>
        <p:spPr>
          <a:xfrm>
            <a:off x="6419088" y="3767328"/>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05</a:t>
            </a:r>
          </a:p>
        </p:txBody>
      </p:sp>
      <p:sp>
        <p:nvSpPr>
          <p:cNvPr id="20" name="TextBox 19"/>
          <p:cNvSpPr txBox="1"/>
          <p:nvPr/>
        </p:nvSpPr>
        <p:spPr>
          <a:xfrm>
            <a:off x="6858000" y="3767328"/>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Delimitar a IA à sugestão inicial, distinguindo regras geométricas e decisões humanas.</a:t>
            </a:r>
          </a:p>
        </p:txBody>
      </p:sp>
      <p:sp>
        <p:nvSpPr>
          <p:cNvPr id="21" name="TextBox 20"/>
          <p:cNvSpPr txBox="1"/>
          <p:nvPr/>
        </p:nvSpPr>
        <p:spPr>
          <a:xfrm>
            <a:off x="6419088" y="4370832"/>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06</a:t>
            </a:r>
          </a:p>
        </p:txBody>
      </p:sp>
      <p:sp>
        <p:nvSpPr>
          <p:cNvPr id="22" name="TextBox 21"/>
          <p:cNvSpPr txBox="1"/>
          <p:nvPr/>
        </p:nvSpPr>
        <p:spPr>
          <a:xfrm>
            <a:off x="6858000" y="4370832"/>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Avaliar a coerência entre dados, parâmetros, geometria digital e protótipos físicos.</a:t>
            </a:r>
          </a:p>
        </p:txBody>
      </p:sp>
      <p:sp>
        <p:nvSpPr>
          <p:cNvPr id="23" name="TextBox 22"/>
          <p:cNvSpPr txBox="1"/>
          <p:nvPr/>
        </p:nvSpPr>
        <p:spPr>
          <a:xfrm>
            <a:off x="6419088" y="4974336"/>
            <a:ext cx="384048" cy="310896"/>
          </a:xfrm>
          <a:prstGeom prst="rect">
            <a:avLst/>
          </a:prstGeom>
          <a:noFill/>
        </p:spPr>
        <p:txBody>
          <a:bodyPr wrap="square" lIns="0" rIns="0" tIns="22860" bIns="22860">
            <a:spAutoFit/>
          </a:bodyPr>
          <a:lstStyle/>
          <a:p>
            <a:pPr>
              <a:lnSpc>
                <a:spcPct val="110000"/>
              </a:lnSpc>
              <a:spcAft>
                <a:spcPts val="700"/>
              </a:spcAft>
              <a:defRPr sz="1600" b="1">
                <a:solidFill>
                  <a:srgbClr val="007C78"/>
                </a:solidFill>
                <a:latin typeface="Liberation Sans"/>
              </a:defRPr>
            </a:pPr>
            <a:r>
              <a:t>07</a:t>
            </a:r>
          </a:p>
        </p:txBody>
      </p:sp>
      <p:sp>
        <p:nvSpPr>
          <p:cNvPr id="24" name="TextBox 23"/>
          <p:cNvSpPr txBox="1"/>
          <p:nvPr/>
        </p:nvSpPr>
        <p:spPr>
          <a:xfrm>
            <a:off x="6858000" y="4974336"/>
            <a:ext cx="4681728" cy="585216"/>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Definir condições para avaliação clínica posterior, incluindo função e utilização.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FUNDAMENTAÇÃO E SELEÇÃO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Como a literatura orienta o projeto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Referências já mobilizadas no manuscrito · Seleção para esta exposição pela função no argumento.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05</a:t>
            </a:r>
          </a:p>
        </p:txBody>
      </p:sp>
      <p:sp>
        <p:nvSpPr>
          <p:cNvPr id="7" name="Rectangle 6"/>
          <p:cNvSpPr/>
          <p:nvPr/>
        </p:nvSpPr>
        <p:spPr>
          <a:xfrm>
            <a:off x="640080" y="1938528"/>
            <a:ext cx="1088136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2048256"/>
            <a:ext cx="3474720" cy="548640"/>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Cross (1982)</a:t>
            </a:r>
          </a:p>
        </p:txBody>
      </p:sp>
      <p:sp>
        <p:nvSpPr>
          <p:cNvPr id="9" name="TextBox 8"/>
          <p:cNvSpPr txBox="1"/>
          <p:nvPr/>
        </p:nvSpPr>
        <p:spPr>
          <a:xfrm>
            <a:off x="4434840" y="2029968"/>
            <a:ext cx="3108960" cy="566928"/>
          </a:xfrm>
          <a:prstGeom prst="rect">
            <a:avLst/>
          </a:prstGeom>
          <a:noFill/>
        </p:spPr>
        <p:txBody>
          <a:bodyPr wrap="square" lIns="0" rIns="0" tIns="22860" bIns="22860">
            <a:spAutoFit/>
          </a:bodyPr>
          <a:lstStyle/>
          <a:p>
            <a:pPr>
              <a:lnSpc>
                <a:spcPct val="110000"/>
              </a:lnSpc>
              <a:spcAft>
                <a:spcPts val="700"/>
              </a:spcAft>
              <a:defRPr sz="1800" b="1">
                <a:solidFill>
                  <a:srgbClr val="193536"/>
                </a:solidFill>
                <a:latin typeface="Liberation Sans"/>
              </a:defRPr>
            </a:pPr>
            <a:r>
              <a:t>Conhecimento de design</a:t>
            </a:r>
          </a:p>
        </p:txBody>
      </p:sp>
      <p:sp>
        <p:nvSpPr>
          <p:cNvPr id="10" name="TextBox 9"/>
          <p:cNvSpPr txBox="1"/>
          <p:nvPr/>
        </p:nvSpPr>
        <p:spPr>
          <a:xfrm>
            <a:off x="7680960" y="2029968"/>
            <a:ext cx="3611880" cy="566928"/>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Aprendizagem a partir das decisões de projeto</a:t>
            </a:r>
          </a:p>
        </p:txBody>
      </p:sp>
      <p:sp>
        <p:nvSpPr>
          <p:cNvPr id="11" name="Rectangle 10"/>
          <p:cNvSpPr/>
          <p:nvPr/>
        </p:nvSpPr>
        <p:spPr>
          <a:xfrm>
            <a:off x="640080" y="2798064"/>
            <a:ext cx="1088136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2907792"/>
            <a:ext cx="3474720" cy="548640"/>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Frayling (1994); Zimmerman et al. (2007)</a:t>
            </a:r>
          </a:p>
        </p:txBody>
      </p:sp>
      <p:sp>
        <p:nvSpPr>
          <p:cNvPr id="13" name="TextBox 12"/>
          <p:cNvSpPr txBox="1"/>
          <p:nvPr/>
        </p:nvSpPr>
        <p:spPr>
          <a:xfrm>
            <a:off x="4434840" y="2889504"/>
            <a:ext cx="3108960" cy="566928"/>
          </a:xfrm>
          <a:prstGeom prst="rect">
            <a:avLst/>
          </a:prstGeom>
          <a:noFill/>
        </p:spPr>
        <p:txBody>
          <a:bodyPr wrap="square" lIns="0" rIns="0" tIns="22860" bIns="22860">
            <a:spAutoFit/>
          </a:bodyPr>
          <a:lstStyle/>
          <a:p>
            <a:pPr>
              <a:lnSpc>
                <a:spcPct val="110000"/>
              </a:lnSpc>
              <a:spcAft>
                <a:spcPts val="700"/>
              </a:spcAft>
              <a:defRPr sz="1800" b="1">
                <a:solidFill>
                  <a:srgbClr val="193536"/>
                </a:solidFill>
                <a:latin typeface="Liberation Sans"/>
              </a:defRPr>
            </a:pPr>
            <a:r>
              <a:t>Investigação através do projeto</a:t>
            </a:r>
          </a:p>
        </p:txBody>
      </p:sp>
      <p:sp>
        <p:nvSpPr>
          <p:cNvPr id="14" name="TextBox 13"/>
          <p:cNvSpPr txBox="1"/>
          <p:nvPr/>
        </p:nvSpPr>
        <p:spPr>
          <a:xfrm>
            <a:off x="7680960" y="2889504"/>
            <a:ext cx="3611880" cy="566928"/>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Análise documentada do artefacto</a:t>
            </a:r>
          </a:p>
        </p:txBody>
      </p:sp>
      <p:sp>
        <p:nvSpPr>
          <p:cNvPr id="15" name="Rectangle 14"/>
          <p:cNvSpPr/>
          <p:nvPr/>
        </p:nvSpPr>
        <p:spPr>
          <a:xfrm>
            <a:off x="640080" y="3657600"/>
            <a:ext cx="1088136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3767328"/>
            <a:ext cx="3474720" cy="548640"/>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Fischer et al. (2004)</a:t>
            </a:r>
          </a:p>
        </p:txBody>
      </p:sp>
      <p:sp>
        <p:nvSpPr>
          <p:cNvPr id="17" name="TextBox 16"/>
          <p:cNvSpPr txBox="1"/>
          <p:nvPr/>
        </p:nvSpPr>
        <p:spPr>
          <a:xfrm>
            <a:off x="4434840" y="3749039"/>
            <a:ext cx="3108960" cy="566928"/>
          </a:xfrm>
          <a:prstGeom prst="rect">
            <a:avLst/>
          </a:prstGeom>
          <a:noFill/>
        </p:spPr>
        <p:txBody>
          <a:bodyPr wrap="square" lIns="0" rIns="0" tIns="22860" bIns="22860">
            <a:spAutoFit/>
          </a:bodyPr>
          <a:lstStyle/>
          <a:p>
            <a:pPr>
              <a:lnSpc>
                <a:spcPct val="110000"/>
              </a:lnSpc>
              <a:spcAft>
                <a:spcPts val="700"/>
              </a:spcAft>
              <a:defRPr sz="1800" b="1">
                <a:solidFill>
                  <a:srgbClr val="193536"/>
                </a:solidFill>
                <a:latin typeface="Liberation Sans"/>
              </a:defRPr>
            </a:pPr>
            <a:r>
              <a:t>Meta-design e modificação</a:t>
            </a:r>
          </a:p>
        </p:txBody>
      </p:sp>
      <p:sp>
        <p:nvSpPr>
          <p:cNvPr id="18" name="TextBox 17"/>
          <p:cNvSpPr txBox="1"/>
          <p:nvPr/>
        </p:nvSpPr>
        <p:spPr>
          <a:xfrm>
            <a:off x="7680960" y="3749039"/>
            <a:ext cx="3611880" cy="566928"/>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Escolhas disponíveis no HandFab</a:t>
            </a:r>
          </a:p>
        </p:txBody>
      </p:sp>
      <p:sp>
        <p:nvSpPr>
          <p:cNvPr id="19" name="Rectangle 18"/>
          <p:cNvSpPr/>
          <p:nvPr/>
        </p:nvSpPr>
        <p:spPr>
          <a:xfrm>
            <a:off x="640080" y="4517136"/>
            <a:ext cx="1088136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4626864"/>
            <a:ext cx="3474720" cy="548640"/>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Manero et al. (2019); Cabibihan et al. (2021)</a:t>
            </a:r>
          </a:p>
        </p:txBody>
      </p:sp>
      <p:sp>
        <p:nvSpPr>
          <p:cNvPr id="21" name="TextBox 20"/>
          <p:cNvSpPr txBox="1"/>
          <p:nvPr/>
        </p:nvSpPr>
        <p:spPr>
          <a:xfrm>
            <a:off x="4434840" y="4608575"/>
            <a:ext cx="3108960" cy="566928"/>
          </a:xfrm>
          <a:prstGeom prst="rect">
            <a:avLst/>
          </a:prstGeom>
          <a:noFill/>
        </p:spPr>
        <p:txBody>
          <a:bodyPr wrap="square" lIns="0" rIns="0" tIns="22860" bIns="22860">
            <a:spAutoFit/>
          </a:bodyPr>
          <a:lstStyle/>
          <a:p>
            <a:pPr>
              <a:lnSpc>
                <a:spcPct val="110000"/>
              </a:lnSpc>
              <a:spcAft>
                <a:spcPts val="700"/>
              </a:spcAft>
              <a:defRPr sz="1800" b="1">
                <a:solidFill>
                  <a:srgbClr val="193536"/>
                </a:solidFill>
                <a:latin typeface="Liberation Sans"/>
              </a:defRPr>
            </a:pPr>
            <a:r>
              <a:t>Próteses impressas em 3D</a:t>
            </a:r>
          </a:p>
        </p:txBody>
      </p:sp>
      <p:sp>
        <p:nvSpPr>
          <p:cNvPr id="22" name="TextBox 21"/>
          <p:cNvSpPr txBox="1"/>
          <p:nvPr/>
        </p:nvSpPr>
        <p:spPr>
          <a:xfrm>
            <a:off x="7680960" y="4608575"/>
            <a:ext cx="3611880" cy="566928"/>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Contexto e necessidade de avaliação</a:t>
            </a:r>
          </a:p>
        </p:txBody>
      </p:sp>
      <p:sp>
        <p:nvSpPr>
          <p:cNvPr id="23" name="TextBox 22"/>
          <p:cNvSpPr txBox="1"/>
          <p:nvPr/>
        </p:nvSpPr>
        <p:spPr>
          <a:xfrm>
            <a:off x="859536" y="5669280"/>
            <a:ext cx="10424160" cy="457200"/>
          </a:xfrm>
          <a:prstGeom prst="rect">
            <a:avLst/>
          </a:prstGeom>
          <a:noFill/>
        </p:spPr>
        <p:txBody>
          <a:bodyPr wrap="square" lIns="0" rIns="0" tIns="22860" bIns="22860">
            <a:spAutoFit/>
          </a:bodyPr>
          <a:lstStyle/>
          <a:p>
            <a:pPr>
              <a:lnSpc>
                <a:spcPct val="110000"/>
              </a:lnSpc>
              <a:spcAft>
                <a:spcPts val="700"/>
              </a:spcAft>
              <a:defRPr sz="2100" b="1">
                <a:solidFill>
                  <a:srgbClr val="193536"/>
                </a:solidFill>
                <a:latin typeface="Liberation Sans"/>
              </a:defRPr>
            </a:pPr>
            <a:r>
              <a:t>Critério: utilidade para justificar decisões e interpretar os resultados.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INVESTIGAR ATRAVÉS DO PROJETO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Investigar através do desenvolvimento do protótipo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Frayling (1994); Zimmerman et al. (2007) · Tabela 4 · Imagens do percurso de desenvolvimento.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06</a:t>
            </a:r>
          </a:p>
        </p:txBody>
      </p:sp>
      <p:pic>
        <p:nvPicPr>
          <p:cNvPr id="7" name="Picture 6" descr="figura_20_1.png"/>
          <p:cNvPicPr>
            <a:picLocks noChangeAspect="1"/>
          </p:cNvPicPr>
          <p:nvPr/>
        </p:nvPicPr>
        <p:blipFill>
          <a:blip r:embed="rId2"/>
          <a:srcRect/>
          <a:stretch>
            <a:fillRect/>
          </a:stretch>
        </p:blipFill>
        <p:spPr>
          <a:xfrm>
            <a:off x="1228711" y="1810512"/>
            <a:ext cx="4674896" cy="3630168"/>
          </a:xfrm>
          <a:prstGeom prst="rect">
            <a:avLst/>
          </a:prstGeom>
        </p:spPr>
      </p:pic>
      <p:pic>
        <p:nvPicPr>
          <p:cNvPr id="8" name="Picture 7" descr="paraglider_perfis.jpeg"/>
          <p:cNvPicPr>
            <a:picLocks noChangeAspect="1"/>
          </p:cNvPicPr>
          <p:nvPr/>
        </p:nvPicPr>
        <p:blipFill>
          <a:blip r:embed="rId3"/>
          <a:srcRect/>
          <a:stretch>
            <a:fillRect/>
          </a:stretch>
        </p:blipFill>
        <p:spPr>
          <a:xfrm>
            <a:off x="6720840" y="2276599"/>
            <a:ext cx="4800600" cy="2697993"/>
          </a:xfrm>
          <a:prstGeom prst="rect">
            <a:avLst/>
          </a:prstGeom>
        </p:spPr>
      </p:pic>
      <p:sp>
        <p:nvSpPr>
          <p:cNvPr id="9" name="TextBox 8"/>
          <p:cNvSpPr txBox="1"/>
          <p:nvPr/>
        </p:nvSpPr>
        <p:spPr>
          <a:xfrm>
            <a:off x="804672" y="5641848"/>
            <a:ext cx="5394960" cy="365760"/>
          </a:xfrm>
          <a:prstGeom prst="rect">
            <a:avLst/>
          </a:prstGeom>
          <a:noFill/>
        </p:spPr>
        <p:txBody>
          <a:bodyPr wrap="square" lIns="0" rIns="0" tIns="22860" bIns="22860">
            <a:spAutoFit/>
          </a:bodyPr>
          <a:lstStyle/>
          <a:p>
            <a:pPr>
              <a:lnSpc>
                <a:spcPct val="110000"/>
              </a:lnSpc>
              <a:spcAft>
                <a:spcPts val="700"/>
              </a:spcAft>
              <a:defRPr sz="2300" b="1">
                <a:solidFill>
                  <a:srgbClr val="007C78"/>
                </a:solidFill>
                <a:latin typeface="Liberation Sans"/>
              </a:defRPr>
            </a:pPr>
            <a:r>
              <a:t>Configuração em OpenSCAD</a:t>
            </a:r>
          </a:p>
        </p:txBody>
      </p:sp>
      <p:sp>
        <p:nvSpPr>
          <p:cNvPr id="10" name="TextBox 9"/>
          <p:cNvSpPr txBox="1"/>
          <p:nvPr/>
        </p:nvSpPr>
        <p:spPr>
          <a:xfrm>
            <a:off x="6821424" y="5641848"/>
            <a:ext cx="4572000" cy="365760"/>
          </a:xfrm>
          <a:prstGeom prst="rect">
            <a:avLst/>
          </a:prstGeom>
          <a:noFill/>
        </p:spPr>
        <p:txBody>
          <a:bodyPr wrap="square" lIns="0" rIns="0" tIns="22860" bIns="22860">
            <a:spAutoFit/>
          </a:bodyPr>
          <a:lstStyle/>
          <a:p>
            <a:pPr>
              <a:lnSpc>
                <a:spcPct val="110000"/>
              </a:lnSpc>
              <a:spcAft>
                <a:spcPts val="700"/>
              </a:spcAft>
              <a:defRPr sz="2300" b="1">
                <a:solidFill>
                  <a:srgbClr val="007C78"/>
                </a:solidFill>
                <a:latin typeface="Liberation Sans"/>
              </a:defRPr>
            </a:pPr>
            <a:r>
              <a:t>Peças do Paraglider Hand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ESCOLHER UM MODELO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HandFab: um percurso com decisões explícitas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HandFab · Catálogo documentado na Figura 22 do manuscrito · Captura do projeto.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07</a:t>
            </a:r>
          </a:p>
        </p:txBody>
      </p:sp>
      <p:pic>
        <p:nvPicPr>
          <p:cNvPr id="7" name="Picture 6" descr="figura_22_1.png"/>
          <p:cNvPicPr>
            <a:picLocks noChangeAspect="1"/>
          </p:cNvPicPr>
          <p:nvPr/>
        </p:nvPicPr>
        <p:blipFill>
          <a:blip r:embed="rId2"/>
          <a:srcRect l="11000" t="11000" r="10000" b="23000"/>
          <a:stretch>
            <a:fillRect/>
          </a:stretch>
        </p:blipFill>
        <p:spPr>
          <a:xfrm>
            <a:off x="1643203" y="1783080"/>
            <a:ext cx="8875113" cy="4142232"/>
          </a:xfrm>
          <a:prstGeom prst="rect">
            <a:avLst/>
          </a:prstGeom>
        </p:spPr>
      </p:pic>
      <p:sp>
        <p:nvSpPr>
          <p:cNvPr id="8" name="TextBox 7"/>
          <p:cNvSpPr txBox="1"/>
          <p:nvPr/>
        </p:nvSpPr>
        <p:spPr>
          <a:xfrm>
            <a:off x="804672" y="5907024"/>
            <a:ext cx="10789920" cy="365760"/>
          </a:xfrm>
          <a:prstGeom prst="rect">
            <a:avLst/>
          </a:prstGeom>
          <a:noFill/>
        </p:spPr>
        <p:txBody>
          <a:bodyPr wrap="square" lIns="0" rIns="0" tIns="22860" bIns="22860">
            <a:spAutoFit/>
          </a:bodyPr>
          <a:lstStyle/>
          <a:p>
            <a:pPr>
              <a:lnSpc>
                <a:spcPct val="110000"/>
              </a:lnSpc>
              <a:spcAft>
                <a:spcPts val="700"/>
              </a:spcAft>
              <a:defRPr sz="2200" b="1">
                <a:solidFill>
                  <a:srgbClr val="007C78"/>
                </a:solidFill>
                <a:latin typeface="Liberation Sans"/>
              </a:defRPr>
            </a:pPr>
            <a:r>
              <a:t>Quatro modelos disponíveis para iniciar a configuração.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ORGANIZAR OS DADOS DE REFERÊNCIA</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Fontes antropométricas e critérios de utilização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Gordon et al. (1989; 2014) · TU Delft, DINED (s.d.) · ISO 7250-1:2017 · Figura 24.</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08</a:t>
            </a:r>
          </a:p>
        </p:txBody>
      </p:sp>
      <p:pic>
        <p:nvPicPr>
          <p:cNvPr id="7" name="Picture 6" descr="figura_24_1.png"/>
          <p:cNvPicPr>
            <a:picLocks noChangeAspect="1"/>
          </p:cNvPicPr>
          <p:nvPr/>
        </p:nvPicPr>
        <p:blipFill>
          <a:blip r:embed="rId2"/>
          <a:srcRect l="13000" t="3500" r="10000" b="4000"/>
          <a:stretch>
            <a:fillRect/>
          </a:stretch>
        </p:blipFill>
        <p:spPr>
          <a:xfrm>
            <a:off x="1711395" y="1801368"/>
            <a:ext cx="4852529" cy="4361688"/>
          </a:xfrm>
          <a:prstGeom prst="rect">
            <a:avLst/>
          </a:prstGeom>
        </p:spPr>
      </p:pic>
      <p:sp>
        <p:nvSpPr>
          <p:cNvPr id="8" name="TextBox 7"/>
          <p:cNvSpPr txBox="1"/>
          <p:nvPr/>
        </p:nvSpPr>
        <p:spPr>
          <a:xfrm>
            <a:off x="8001000" y="2039112"/>
            <a:ext cx="3291840" cy="731520"/>
          </a:xfrm>
          <a:prstGeom prst="rect">
            <a:avLst/>
          </a:prstGeom>
          <a:noFill/>
        </p:spPr>
        <p:txBody>
          <a:bodyPr wrap="square" lIns="0" rIns="0" tIns="22860" bIns="22860">
            <a:spAutoFit/>
          </a:bodyPr>
          <a:lstStyle/>
          <a:p>
            <a:pPr>
              <a:lnSpc>
                <a:spcPct val="110000"/>
              </a:lnSpc>
              <a:spcAft>
                <a:spcPts val="700"/>
              </a:spcAft>
              <a:defRPr sz="2600" b="1">
                <a:solidFill>
                  <a:srgbClr val="007C78"/>
                </a:solidFill>
                <a:latin typeface="Liberation Sans"/>
              </a:defRPr>
            </a:pPr>
            <a:r>
              <a:t>Guardar a origem de cada valor</a:t>
            </a:r>
          </a:p>
        </p:txBody>
      </p:sp>
      <p:sp>
        <p:nvSpPr>
          <p:cNvPr id="9" name="TextBox 8"/>
          <p:cNvSpPr txBox="1"/>
          <p:nvPr/>
        </p:nvSpPr>
        <p:spPr>
          <a:xfrm>
            <a:off x="8001000" y="3200400"/>
            <a:ext cx="3246120" cy="2286000"/>
          </a:xfrm>
          <a:prstGeom prst="rect">
            <a:avLst/>
          </a:prstGeom>
          <a:noFill/>
        </p:spPr>
        <p:txBody>
          <a:bodyPr wrap="square" lIns="0" rIns="0" tIns="22860" bIns="22860">
            <a:spAutoFit/>
          </a:bodyPr>
          <a:lstStyle/>
          <a:p>
            <a:pPr>
              <a:lnSpc>
                <a:spcPct val="110000"/>
              </a:lnSpc>
              <a:spcAft>
                <a:spcPts val="700"/>
              </a:spcAft>
              <a:defRPr sz="2300" b="0">
                <a:solidFill>
                  <a:srgbClr val="193536"/>
                </a:solidFill>
                <a:latin typeface="Liberation Sans"/>
              </a:defRPr>
            </a:pPr>
            <a:r>
              <a:t>População e idade</a:t>
            </a:r>
          </a:p>
          <a:p>
            <a:pPr>
              <a:lnSpc>
                <a:spcPct val="110000"/>
              </a:lnSpc>
              <a:spcAft>
                <a:spcPts val="700"/>
              </a:spcAft>
              <a:defRPr sz="2300" b="0">
                <a:solidFill>
                  <a:srgbClr val="193536"/>
                </a:solidFill>
                <a:latin typeface="Liberation Sans"/>
              </a:defRPr>
            </a:pPr>
            <a:r>
              <a:t>Medida e unidade</a:t>
            </a:r>
          </a:p>
          <a:p>
            <a:pPr>
              <a:lnSpc>
                <a:spcPct val="110000"/>
              </a:lnSpc>
              <a:spcAft>
                <a:spcPts val="700"/>
              </a:spcAft>
              <a:defRPr sz="2300" b="0">
                <a:solidFill>
                  <a:srgbClr val="193536"/>
                </a:solidFill>
                <a:latin typeface="Liberation Sans"/>
              </a:defRPr>
            </a:pPr>
            <a:r>
              <a:t>Estatística utilizada</a:t>
            </a:r>
          </a:p>
          <a:p>
            <a:pPr>
              <a:lnSpc>
                <a:spcPct val="110000"/>
              </a:lnSpc>
              <a:spcAft>
                <a:spcPts val="700"/>
              </a:spcAft>
              <a:defRPr sz="2300" b="0">
                <a:solidFill>
                  <a:srgbClr val="193536"/>
                </a:solidFill>
                <a:latin typeface="Liberation Sans"/>
              </a:defRPr>
            </a:pPr>
            <a:r>
              <a:t>Fonte e protocolo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DADOS NA PLATAFORMA</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Da base consolidada aos perfis do HandFab</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Manuscrito, 4.2 e Figura 23 · Suplemento 1 · Contagens de perfis da aplicação.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09</a:t>
            </a:r>
          </a:p>
        </p:txBody>
      </p:sp>
      <p:pic>
        <p:nvPicPr>
          <p:cNvPr id="7" name="Picture 6" descr="figura_23_1.png"/>
          <p:cNvPicPr>
            <a:picLocks noChangeAspect="1"/>
          </p:cNvPicPr>
          <p:nvPr/>
        </p:nvPicPr>
        <p:blipFill>
          <a:blip r:embed="rId2"/>
          <a:srcRect l="3500" t="10500" r="1500" b="4000"/>
          <a:stretch>
            <a:fillRect/>
          </a:stretch>
        </p:blipFill>
        <p:spPr>
          <a:xfrm>
            <a:off x="1413832" y="1792224"/>
            <a:ext cx="6544934" cy="4407408"/>
          </a:xfrm>
          <a:prstGeom prst="rect">
            <a:avLst/>
          </a:prstGeom>
        </p:spPr>
      </p:pic>
      <p:sp>
        <p:nvSpPr>
          <p:cNvPr id="8" name="TextBox 7"/>
          <p:cNvSpPr txBox="1"/>
          <p:nvPr/>
        </p:nvSpPr>
        <p:spPr>
          <a:xfrm>
            <a:off x="9107424" y="2057400"/>
            <a:ext cx="2414016" cy="777240"/>
          </a:xfrm>
          <a:prstGeom prst="rect">
            <a:avLst/>
          </a:prstGeom>
          <a:noFill/>
        </p:spPr>
        <p:txBody>
          <a:bodyPr wrap="square" lIns="0" rIns="0" tIns="22860" bIns="22860">
            <a:spAutoFit/>
          </a:bodyPr>
          <a:lstStyle/>
          <a:p>
            <a:pPr>
              <a:lnSpc>
                <a:spcPct val="110000"/>
              </a:lnSpc>
              <a:spcAft>
                <a:spcPts val="700"/>
              </a:spcAft>
              <a:defRPr sz="3200" b="1">
                <a:solidFill>
                  <a:srgbClr val="007C78"/>
                </a:solidFill>
                <a:latin typeface="Liberation Sans"/>
              </a:defRPr>
            </a:pPr>
            <a:r>
              <a:t>100 perfis</a:t>
            </a:r>
          </a:p>
        </p:txBody>
      </p:sp>
      <p:sp>
        <p:nvSpPr>
          <p:cNvPr id="9" name="TextBox 8"/>
          <p:cNvSpPr txBox="1"/>
          <p:nvPr/>
        </p:nvSpPr>
        <p:spPr>
          <a:xfrm>
            <a:off x="9107424" y="3154680"/>
            <a:ext cx="2414016" cy="2103120"/>
          </a:xfrm>
          <a:prstGeom prst="rect">
            <a:avLst/>
          </a:prstGeom>
          <a:noFill/>
        </p:spPr>
        <p:txBody>
          <a:bodyPr wrap="square" lIns="0" rIns="0" tIns="22860" bIns="22860">
            <a:spAutoFit/>
          </a:bodyPr>
          <a:lstStyle/>
          <a:p>
            <a:pPr>
              <a:lnSpc>
                <a:spcPct val="110000"/>
              </a:lnSpc>
              <a:spcAft>
                <a:spcPts val="700"/>
              </a:spcAft>
              <a:defRPr sz="2300" b="0">
                <a:solidFill>
                  <a:srgbClr val="193536"/>
                </a:solidFill>
                <a:latin typeface="Liberation Sans"/>
              </a:defRPr>
            </a:pPr>
            <a:r>
              <a:t>97 em lote</a:t>
            </a:r>
          </a:p>
          <a:p>
            <a:pPr>
              <a:lnSpc>
                <a:spcPct val="110000"/>
              </a:lnSpc>
              <a:spcAft>
                <a:spcPts val="700"/>
              </a:spcAft>
              <a:defRPr sz="2300" b="0">
                <a:solidFill>
                  <a:srgbClr val="193536"/>
                </a:solidFill>
                <a:latin typeface="Liberation Sans"/>
              </a:defRPr>
            </a:pPr>
            <a:r>
              <a:t>2 por CSV</a:t>
            </a:r>
          </a:p>
          <a:p>
            <a:pPr>
              <a:lnSpc>
                <a:spcPct val="110000"/>
              </a:lnSpc>
              <a:spcAft>
                <a:spcPts val="700"/>
              </a:spcAft>
              <a:defRPr sz="2300" b="0">
                <a:solidFill>
                  <a:srgbClr val="193536"/>
                </a:solidFill>
                <a:latin typeface="Liberation Sans"/>
              </a:defRPr>
            </a:pPr>
            <a:r>
              <a:t>1 manual</a:t>
            </a:r>
          </a:p>
        </p:txBody>
      </p:sp>
      <p:sp>
        <p:nvSpPr>
          <p:cNvPr id="10" name="TextBox 9"/>
          <p:cNvSpPr txBox="1"/>
          <p:nvPr/>
        </p:nvSpPr>
        <p:spPr>
          <a:xfrm>
            <a:off x="9107424" y="5321808"/>
            <a:ext cx="2414016" cy="640080"/>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Referências estatísticas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DECISÕES DE PROJETO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Cada modelo exige regras próprias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Manuscrito, 4.4 e 8.3 · Fotografias ilustrativas dos modelos; não constituem comparação antes/depois.</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10</a:t>
            </a:r>
          </a:p>
        </p:txBody>
      </p:sp>
      <p:pic>
        <p:nvPicPr>
          <p:cNvPr id="7" name="Picture 6" descr="paraglider_perfis.jpeg"/>
          <p:cNvPicPr>
            <a:picLocks noChangeAspect="1"/>
          </p:cNvPicPr>
          <p:nvPr/>
        </p:nvPicPr>
        <p:blipFill>
          <a:blip r:embed="rId2"/>
          <a:srcRect/>
          <a:stretch>
            <a:fillRect/>
          </a:stretch>
        </p:blipFill>
        <p:spPr>
          <a:xfrm>
            <a:off x="640080" y="1847239"/>
            <a:ext cx="5303520" cy="2980640"/>
          </a:xfrm>
          <a:prstGeom prst="rect">
            <a:avLst/>
          </a:prstGeom>
        </p:spPr>
      </p:pic>
      <p:pic>
        <p:nvPicPr>
          <p:cNvPr id="8" name="Picture 7" descr="phoenix_montagem.jpg"/>
          <p:cNvPicPr>
            <a:picLocks noChangeAspect="1"/>
          </p:cNvPicPr>
          <p:nvPr/>
        </p:nvPicPr>
        <p:blipFill>
          <a:blip r:embed="rId3"/>
          <a:srcRect/>
          <a:stretch>
            <a:fillRect/>
          </a:stretch>
        </p:blipFill>
        <p:spPr>
          <a:xfrm>
            <a:off x="6217920" y="1846518"/>
            <a:ext cx="5303520" cy="2982083"/>
          </a:xfrm>
          <a:prstGeom prst="rect">
            <a:avLst/>
          </a:prstGeom>
        </p:spPr>
      </p:pic>
      <p:sp>
        <p:nvSpPr>
          <p:cNvPr id="9" name="TextBox 8"/>
          <p:cNvSpPr txBox="1"/>
          <p:nvPr/>
        </p:nvSpPr>
        <p:spPr>
          <a:xfrm>
            <a:off x="795528" y="5010912"/>
            <a:ext cx="4983480" cy="411480"/>
          </a:xfrm>
          <a:prstGeom prst="rect">
            <a:avLst/>
          </a:prstGeom>
          <a:noFill/>
        </p:spPr>
        <p:txBody>
          <a:bodyPr wrap="square" lIns="0" rIns="0" tIns="22860" bIns="22860">
            <a:spAutoFit/>
          </a:bodyPr>
          <a:lstStyle/>
          <a:p>
            <a:pPr>
              <a:lnSpc>
                <a:spcPct val="110000"/>
              </a:lnSpc>
              <a:spcAft>
                <a:spcPts val="700"/>
              </a:spcAft>
              <a:defRPr sz="2500" b="1">
                <a:solidFill>
                  <a:srgbClr val="007C78"/>
                </a:solidFill>
                <a:latin typeface="Liberation Sans"/>
              </a:defRPr>
            </a:pPr>
            <a:r>
              <a:t>Paraglider Hand</a:t>
            </a:r>
          </a:p>
        </p:txBody>
      </p:sp>
      <p:sp>
        <p:nvSpPr>
          <p:cNvPr id="10" name="TextBox 9"/>
          <p:cNvSpPr txBox="1"/>
          <p:nvPr/>
        </p:nvSpPr>
        <p:spPr>
          <a:xfrm>
            <a:off x="795528" y="5522976"/>
            <a:ext cx="4983480" cy="585216"/>
          </a:xfrm>
          <a:prstGeom prst="rect">
            <a:avLst/>
          </a:prstGeom>
          <a:noFill/>
        </p:spPr>
        <p:txBody>
          <a:bodyPr wrap="square" lIns="0" rIns="0" tIns="22860" bIns="22860">
            <a:spAutoFit/>
          </a:bodyPr>
          <a:lstStyle/>
          <a:p>
            <a:pPr>
              <a:lnSpc>
                <a:spcPct val="110000"/>
              </a:lnSpc>
              <a:spcAft>
                <a:spcPts val="700"/>
              </a:spcAft>
              <a:defRPr sz="2000" b="0">
                <a:solidFill>
                  <a:srgbClr val="193536"/>
                </a:solidFill>
                <a:latin typeface="Liberation Sans"/>
              </a:defRPr>
            </a:pPr>
            <a:r>
              <a:t>Corrigir a aplicação da escala na palma.</a:t>
            </a:r>
          </a:p>
        </p:txBody>
      </p:sp>
      <p:sp>
        <p:nvSpPr>
          <p:cNvPr id="11" name="TextBox 10"/>
          <p:cNvSpPr txBox="1"/>
          <p:nvPr/>
        </p:nvSpPr>
        <p:spPr>
          <a:xfrm>
            <a:off x="6373368" y="5010912"/>
            <a:ext cx="4983480" cy="411480"/>
          </a:xfrm>
          <a:prstGeom prst="rect">
            <a:avLst/>
          </a:prstGeom>
          <a:noFill/>
        </p:spPr>
        <p:txBody>
          <a:bodyPr wrap="square" lIns="0" rIns="0" tIns="22860" bIns="22860">
            <a:spAutoFit/>
          </a:bodyPr>
          <a:lstStyle/>
          <a:p>
            <a:pPr>
              <a:lnSpc>
                <a:spcPct val="110000"/>
              </a:lnSpc>
              <a:spcAft>
                <a:spcPts val="700"/>
              </a:spcAft>
              <a:defRPr sz="2500" b="1">
                <a:solidFill>
                  <a:srgbClr val="007C78"/>
                </a:solidFill>
                <a:latin typeface="Liberation Sans"/>
              </a:defRPr>
            </a:pPr>
            <a:r>
              <a:t>UnLimbited Phoenix</a:t>
            </a:r>
          </a:p>
        </p:txBody>
      </p:sp>
      <p:sp>
        <p:nvSpPr>
          <p:cNvPr id="12" name="TextBox 11"/>
          <p:cNvSpPr txBox="1"/>
          <p:nvPr/>
        </p:nvSpPr>
        <p:spPr>
          <a:xfrm>
            <a:off x="6373368" y="5522976"/>
            <a:ext cx="4983480" cy="585216"/>
          </a:xfrm>
          <a:prstGeom prst="rect">
            <a:avLst/>
          </a:prstGeom>
          <a:noFill/>
        </p:spPr>
        <p:txBody>
          <a:bodyPr wrap="square" lIns="0" rIns="0" tIns="22860" bIns="22860">
            <a:spAutoFit/>
          </a:bodyPr>
          <a:lstStyle/>
          <a:p>
            <a:pPr>
              <a:lnSpc>
                <a:spcPct val="110000"/>
              </a:lnSpc>
              <a:spcAft>
                <a:spcPts val="700"/>
              </a:spcAft>
              <a:defRPr sz="2000" b="0">
                <a:solidFill>
                  <a:srgbClr val="193536"/>
                </a:solidFill>
                <a:latin typeface="Liberation Sans"/>
              </a:defRPr>
            </a:pPr>
            <a:r>
              <a:t>Largura mínima de cerca de 82 mm no caso estudado.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INTRODUZIR UM PEDIDO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A IA propõe um ponto de partida</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HandFab · Figura 22 · Captura existente da interface de assistência, sem nova execução de IA.</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11</a:t>
            </a:r>
          </a:p>
        </p:txBody>
      </p:sp>
      <p:pic>
        <p:nvPicPr>
          <p:cNvPr id="7" name="Picture 6" descr="figura_22_2.png"/>
          <p:cNvPicPr>
            <a:picLocks noChangeAspect="1"/>
          </p:cNvPicPr>
          <p:nvPr/>
        </p:nvPicPr>
        <p:blipFill>
          <a:blip r:embed="rId2"/>
          <a:srcRect l="10000" t="14000" r="5000" b="23000"/>
          <a:stretch>
            <a:fillRect/>
          </a:stretch>
        </p:blipFill>
        <p:spPr>
          <a:xfrm>
            <a:off x="1078812" y="1783080"/>
            <a:ext cx="10003895" cy="4142232"/>
          </a:xfrm>
          <a:prstGeom prst="rect">
            <a:avLst/>
          </a:prstGeom>
        </p:spPr>
      </p:pic>
      <p:sp>
        <p:nvSpPr>
          <p:cNvPr id="8" name="TextBox 7"/>
          <p:cNvSpPr txBox="1"/>
          <p:nvPr/>
        </p:nvSpPr>
        <p:spPr>
          <a:xfrm>
            <a:off x="804672" y="5907024"/>
            <a:ext cx="10789920" cy="365760"/>
          </a:xfrm>
          <a:prstGeom prst="rect">
            <a:avLst/>
          </a:prstGeom>
          <a:noFill/>
        </p:spPr>
        <p:txBody>
          <a:bodyPr wrap="square" lIns="0" rIns="0" tIns="22860" bIns="22860">
            <a:spAutoFit/>
          </a:bodyPr>
          <a:lstStyle/>
          <a:p>
            <a:pPr>
              <a:lnSpc>
                <a:spcPct val="110000"/>
              </a:lnSpc>
              <a:spcAft>
                <a:spcPts val="700"/>
              </a:spcAft>
              <a:defRPr sz="2200" b="1">
                <a:solidFill>
                  <a:srgbClr val="007C78"/>
                </a:solidFill>
                <a:latin typeface="Liberation Sans"/>
              </a:defRPr>
            </a:pPr>
            <a:r>
              <a:t>Rever os valores sugeridos antes de gerar a geometria.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AJUSTAR OS PARÂMETROS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Configuração e pré-visualização no HandFab</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HandFab · Figura 22 · Controlos de configuração e pré-visualização da Phoenix.</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12</a:t>
            </a:r>
          </a:p>
        </p:txBody>
      </p:sp>
      <p:pic>
        <p:nvPicPr>
          <p:cNvPr id="7" name="Picture 6" descr="figura_22_3.png"/>
          <p:cNvPicPr>
            <a:picLocks noChangeAspect="1"/>
          </p:cNvPicPr>
          <p:nvPr/>
        </p:nvPicPr>
        <p:blipFill>
          <a:blip r:embed="rId2"/>
          <a:srcRect l="10000" t="14500" r="5000" b="1000"/>
          <a:stretch>
            <a:fillRect/>
          </a:stretch>
        </p:blipFill>
        <p:spPr>
          <a:xfrm>
            <a:off x="2351497" y="1783080"/>
            <a:ext cx="7458525" cy="4142232"/>
          </a:xfrm>
          <a:prstGeom prst="rect">
            <a:avLst/>
          </a:prstGeom>
        </p:spPr>
      </p:pic>
      <p:sp>
        <p:nvSpPr>
          <p:cNvPr id="8" name="TextBox 7"/>
          <p:cNvSpPr txBox="1"/>
          <p:nvPr/>
        </p:nvSpPr>
        <p:spPr>
          <a:xfrm>
            <a:off x="804672" y="5907024"/>
            <a:ext cx="10789920" cy="365760"/>
          </a:xfrm>
          <a:prstGeom prst="rect">
            <a:avLst/>
          </a:prstGeom>
          <a:noFill/>
        </p:spPr>
        <p:txBody>
          <a:bodyPr wrap="square" lIns="0" rIns="0" tIns="22860" bIns="22860">
            <a:spAutoFit/>
          </a:bodyPr>
          <a:lstStyle/>
          <a:p>
            <a:pPr>
              <a:lnSpc>
                <a:spcPct val="110000"/>
              </a:lnSpc>
              <a:spcAft>
                <a:spcPts val="700"/>
              </a:spcAft>
              <a:defRPr sz="2200" b="1">
                <a:solidFill>
                  <a:srgbClr val="007C78"/>
                </a:solidFill>
                <a:latin typeface="Liberation Sans"/>
              </a:defRPr>
            </a:pPr>
            <a:r>
              <a:t>Relacionar cada controlo com a alteração da forma.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CONFIGURAÇÃO DO MODELO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Escolher cores e materiais no HandFab</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HandFab · Figura 22 · Opções de cor e material apresentadas na interface.</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13</a:t>
            </a:r>
          </a:p>
        </p:txBody>
      </p:sp>
      <p:pic>
        <p:nvPicPr>
          <p:cNvPr id="7" name="Picture 6" descr="figura_22_4.png"/>
          <p:cNvPicPr>
            <a:picLocks noChangeAspect="1"/>
          </p:cNvPicPr>
          <p:nvPr/>
        </p:nvPicPr>
        <p:blipFill>
          <a:blip r:embed="rId2"/>
          <a:srcRect l="10000" t="14500" r="5000" b="1000"/>
          <a:stretch>
            <a:fillRect/>
          </a:stretch>
        </p:blipFill>
        <p:spPr>
          <a:xfrm>
            <a:off x="2351497" y="1783080"/>
            <a:ext cx="7458525" cy="4142232"/>
          </a:xfrm>
          <a:prstGeom prst="rect">
            <a:avLst/>
          </a:prstGeom>
        </p:spPr>
      </p:pic>
      <p:sp>
        <p:nvSpPr>
          <p:cNvPr id="8" name="TextBox 7"/>
          <p:cNvSpPr txBox="1"/>
          <p:nvPr/>
        </p:nvSpPr>
        <p:spPr>
          <a:xfrm>
            <a:off x="804672" y="5907024"/>
            <a:ext cx="10789920" cy="365760"/>
          </a:xfrm>
          <a:prstGeom prst="rect">
            <a:avLst/>
          </a:prstGeom>
          <a:noFill/>
        </p:spPr>
        <p:txBody>
          <a:bodyPr wrap="square" lIns="0" rIns="0" tIns="22860" bIns="22860">
            <a:spAutoFit/>
          </a:bodyPr>
          <a:lstStyle/>
          <a:p>
            <a:pPr>
              <a:lnSpc>
                <a:spcPct val="110000"/>
              </a:lnSpc>
              <a:spcAft>
                <a:spcPts val="700"/>
              </a:spcAft>
              <a:defRPr sz="2200" b="1">
                <a:solidFill>
                  <a:srgbClr val="007C78"/>
                </a:solidFill>
                <a:latin typeface="Liberation Sans"/>
              </a:defRPr>
            </a:pPr>
            <a:r>
              <a:t>Ver as escolhas de cor em cada componente.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PREPARAR A PASSAGEM PARA O FABRICO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Da geometria gerada à exportação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HandFab · Figura 20 · Código OpenSCAD, pré-visualização e comando de exportação.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14</a:t>
            </a:r>
          </a:p>
        </p:txBody>
      </p:sp>
      <p:pic>
        <p:nvPicPr>
          <p:cNvPr id="7" name="Picture 6" descr="figura_20_1.png"/>
          <p:cNvPicPr>
            <a:picLocks noChangeAspect="1"/>
          </p:cNvPicPr>
          <p:nvPr/>
        </p:nvPicPr>
        <p:blipFill>
          <a:blip r:embed="rId2"/>
          <a:srcRect/>
          <a:stretch>
            <a:fillRect/>
          </a:stretch>
        </p:blipFill>
        <p:spPr>
          <a:xfrm>
            <a:off x="1562986" y="1792224"/>
            <a:ext cx="5652267" cy="4389120"/>
          </a:xfrm>
          <a:prstGeom prst="rect">
            <a:avLst/>
          </a:prstGeom>
        </p:spPr>
      </p:pic>
      <p:sp>
        <p:nvSpPr>
          <p:cNvPr id="8" name="TextBox 7"/>
          <p:cNvSpPr txBox="1"/>
          <p:nvPr/>
        </p:nvSpPr>
        <p:spPr>
          <a:xfrm>
            <a:off x="8412480" y="2194560"/>
            <a:ext cx="3017520" cy="1097280"/>
          </a:xfrm>
          <a:prstGeom prst="rect">
            <a:avLst/>
          </a:prstGeom>
          <a:noFill/>
        </p:spPr>
        <p:txBody>
          <a:bodyPr wrap="square" lIns="0" rIns="0" tIns="22860" bIns="22860">
            <a:spAutoFit/>
          </a:bodyPr>
          <a:lstStyle/>
          <a:p>
            <a:pPr>
              <a:lnSpc>
                <a:spcPct val="110000"/>
              </a:lnSpc>
              <a:spcAft>
                <a:spcPts val="700"/>
              </a:spcAft>
              <a:defRPr sz="2600" b="1">
                <a:solidFill>
                  <a:srgbClr val="007C78"/>
                </a:solidFill>
                <a:latin typeface="Liberation Sans"/>
              </a:defRPr>
            </a:pPr>
            <a:r>
              <a:t>Examinar a forma gerada</a:t>
            </a:r>
          </a:p>
        </p:txBody>
      </p:sp>
      <p:sp>
        <p:nvSpPr>
          <p:cNvPr id="9" name="TextBox 8"/>
          <p:cNvSpPr txBox="1"/>
          <p:nvPr/>
        </p:nvSpPr>
        <p:spPr>
          <a:xfrm>
            <a:off x="8412480" y="3968496"/>
            <a:ext cx="3017520" cy="1188720"/>
          </a:xfrm>
          <a:prstGeom prst="rect">
            <a:avLst/>
          </a:prstGeom>
          <a:noFill/>
        </p:spPr>
        <p:txBody>
          <a:bodyPr wrap="square" lIns="0" rIns="0" tIns="22860" bIns="22860">
            <a:spAutoFit/>
          </a:bodyPr>
          <a:lstStyle/>
          <a:p>
            <a:pPr>
              <a:lnSpc>
                <a:spcPct val="110000"/>
              </a:lnSpc>
              <a:spcAft>
                <a:spcPts val="700"/>
              </a:spcAft>
              <a:defRPr sz="2300" b="0">
                <a:solidFill>
                  <a:srgbClr val="193536"/>
                </a:solidFill>
                <a:latin typeface="Liberation Sans"/>
              </a:defRPr>
            </a:pPr>
            <a:r>
              <a:t>Exportar a malha para preparar a impressão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IMPRESSÃO E OBSERVAÇÃO DAS PEÇAS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A avaliação acompanhou etapas diferentes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Suplemento 4 · Fotografias originais na placa da Bambu Lab A1 e da palma impressa.</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15</a:t>
            </a:r>
          </a:p>
        </p:txBody>
      </p:sp>
      <p:pic>
        <p:nvPicPr>
          <p:cNvPr id="7" name="Picture 6" descr="flexy_placa.jpg"/>
          <p:cNvPicPr>
            <a:picLocks noChangeAspect="1"/>
          </p:cNvPicPr>
          <p:nvPr/>
        </p:nvPicPr>
        <p:blipFill>
          <a:blip r:embed="rId2"/>
          <a:srcRect/>
          <a:stretch>
            <a:fillRect/>
          </a:stretch>
        </p:blipFill>
        <p:spPr>
          <a:xfrm>
            <a:off x="1182004" y="1810512"/>
            <a:ext cx="2226279" cy="3959352"/>
          </a:xfrm>
          <a:prstGeom prst="rect">
            <a:avLst/>
          </a:prstGeom>
        </p:spPr>
      </p:pic>
      <p:pic>
        <p:nvPicPr>
          <p:cNvPr id="8" name="Picture 7" descr="falanges_placa.jpg"/>
          <p:cNvPicPr>
            <a:picLocks noChangeAspect="1"/>
          </p:cNvPicPr>
          <p:nvPr/>
        </p:nvPicPr>
        <p:blipFill>
          <a:blip r:embed="rId3"/>
          <a:srcRect/>
          <a:stretch>
            <a:fillRect/>
          </a:stretch>
        </p:blipFill>
        <p:spPr>
          <a:xfrm>
            <a:off x="4647580" y="1810512"/>
            <a:ext cx="2226279" cy="3959352"/>
          </a:xfrm>
          <a:prstGeom prst="rect">
            <a:avLst/>
          </a:prstGeom>
        </p:spPr>
      </p:pic>
      <p:pic>
        <p:nvPicPr>
          <p:cNvPr id="9" name="Picture 8" descr="palma_impressa.jpg"/>
          <p:cNvPicPr>
            <a:picLocks noChangeAspect="1"/>
          </p:cNvPicPr>
          <p:nvPr/>
        </p:nvPicPr>
        <p:blipFill>
          <a:blip r:embed="rId4"/>
          <a:srcRect/>
          <a:stretch>
            <a:fillRect/>
          </a:stretch>
        </p:blipFill>
        <p:spPr>
          <a:xfrm>
            <a:off x="8433196" y="1810512"/>
            <a:ext cx="2226279" cy="3959352"/>
          </a:xfrm>
          <a:prstGeom prst="rect">
            <a:avLst/>
          </a:prstGeom>
        </p:spPr>
      </p:pic>
      <p:sp>
        <p:nvSpPr>
          <p:cNvPr id="10" name="TextBox 9"/>
          <p:cNvSpPr txBox="1"/>
          <p:nvPr/>
        </p:nvSpPr>
        <p:spPr>
          <a:xfrm>
            <a:off x="786384" y="5907024"/>
            <a:ext cx="10735056" cy="329184"/>
          </a:xfrm>
          <a:prstGeom prst="rect">
            <a:avLst/>
          </a:prstGeom>
          <a:noFill/>
        </p:spPr>
        <p:txBody>
          <a:bodyPr wrap="square" lIns="0" rIns="0" tIns="22860" bIns="22860">
            <a:spAutoFit/>
          </a:bodyPr>
          <a:lstStyle/>
          <a:p>
            <a:pPr>
              <a:lnSpc>
                <a:spcPct val="110000"/>
              </a:lnSpc>
              <a:spcAft>
                <a:spcPts val="700"/>
              </a:spcAft>
              <a:defRPr sz="2100" b="1">
                <a:solidFill>
                  <a:srgbClr val="007C78"/>
                </a:solidFill>
                <a:latin typeface="Liberation Sans"/>
              </a:defRPr>
            </a:pPr>
            <a:r>
              <a:t>4 projetos na Série A · 12 casos na Série B · 72 medições físicas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SÉRIES FÍSICAS DE ENSAIO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Comparar peças de diferentes perfis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Fotografias do autor · Suplemento 4 · Idades dos perfis de referência, sem participantes.</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16</a:t>
            </a:r>
          </a:p>
        </p:txBody>
      </p:sp>
      <p:pic>
        <p:nvPicPr>
          <p:cNvPr id="7" name="Picture 6" descr="flexy_perfis.jpeg"/>
          <p:cNvPicPr>
            <a:picLocks noChangeAspect="1"/>
          </p:cNvPicPr>
          <p:nvPr/>
        </p:nvPicPr>
        <p:blipFill>
          <a:blip r:embed="rId2"/>
          <a:srcRect/>
          <a:stretch>
            <a:fillRect/>
          </a:stretch>
        </p:blipFill>
        <p:spPr>
          <a:xfrm>
            <a:off x="640080" y="2016403"/>
            <a:ext cx="5303520" cy="2980640"/>
          </a:xfrm>
          <a:prstGeom prst="rect">
            <a:avLst/>
          </a:prstGeom>
        </p:spPr>
      </p:pic>
      <p:pic>
        <p:nvPicPr>
          <p:cNvPr id="8" name="Picture 7" descr="paraglider_perfis.jpeg"/>
          <p:cNvPicPr>
            <a:picLocks noChangeAspect="1"/>
          </p:cNvPicPr>
          <p:nvPr/>
        </p:nvPicPr>
        <p:blipFill>
          <a:blip r:embed="rId3"/>
          <a:srcRect/>
          <a:stretch>
            <a:fillRect/>
          </a:stretch>
        </p:blipFill>
        <p:spPr>
          <a:xfrm>
            <a:off x="6217920" y="2016403"/>
            <a:ext cx="5303520" cy="2980640"/>
          </a:xfrm>
          <a:prstGeom prst="rect">
            <a:avLst/>
          </a:prstGeom>
        </p:spPr>
      </p:pic>
      <p:sp>
        <p:nvSpPr>
          <p:cNvPr id="9" name="TextBox 8"/>
          <p:cNvSpPr txBox="1"/>
          <p:nvPr/>
        </p:nvSpPr>
        <p:spPr>
          <a:xfrm>
            <a:off x="795528" y="5303520"/>
            <a:ext cx="4983480" cy="365760"/>
          </a:xfrm>
          <a:prstGeom prst="rect">
            <a:avLst/>
          </a:prstGeom>
          <a:noFill/>
        </p:spPr>
        <p:txBody>
          <a:bodyPr wrap="square" lIns="0" rIns="0" tIns="22860" bIns="22860">
            <a:spAutoFit/>
          </a:bodyPr>
          <a:lstStyle/>
          <a:p>
            <a:pPr>
              <a:lnSpc>
                <a:spcPct val="110000"/>
              </a:lnSpc>
              <a:spcAft>
                <a:spcPts val="700"/>
              </a:spcAft>
              <a:defRPr sz="2500" b="1">
                <a:solidFill>
                  <a:srgbClr val="007C78"/>
                </a:solidFill>
                <a:latin typeface="Liberation Sans"/>
              </a:defRPr>
            </a:pPr>
            <a:r>
              <a:t>Flexy Beast</a:t>
            </a:r>
          </a:p>
        </p:txBody>
      </p:sp>
      <p:sp>
        <p:nvSpPr>
          <p:cNvPr id="10" name="TextBox 9"/>
          <p:cNvSpPr txBox="1"/>
          <p:nvPr/>
        </p:nvSpPr>
        <p:spPr>
          <a:xfrm>
            <a:off x="6373368" y="5303520"/>
            <a:ext cx="4983480" cy="365760"/>
          </a:xfrm>
          <a:prstGeom prst="rect">
            <a:avLst/>
          </a:prstGeom>
          <a:noFill/>
        </p:spPr>
        <p:txBody>
          <a:bodyPr wrap="square" lIns="0" rIns="0" tIns="22860" bIns="22860">
            <a:spAutoFit/>
          </a:bodyPr>
          <a:lstStyle/>
          <a:p>
            <a:pPr>
              <a:lnSpc>
                <a:spcPct val="110000"/>
              </a:lnSpc>
              <a:spcAft>
                <a:spcPts val="700"/>
              </a:spcAft>
              <a:defRPr sz="2500" b="1">
                <a:solidFill>
                  <a:srgbClr val="007C78"/>
                </a:solidFill>
                <a:latin typeface="Liberation Sans"/>
              </a:defRPr>
            </a:pPr>
            <a:r>
              <a:t>Paraglider Hand</a:t>
            </a:r>
          </a:p>
        </p:txBody>
      </p:sp>
      <p:sp>
        <p:nvSpPr>
          <p:cNvPr id="11" name="TextBox 10"/>
          <p:cNvSpPr txBox="1"/>
          <p:nvPr/>
        </p:nvSpPr>
        <p:spPr>
          <a:xfrm>
            <a:off x="804672" y="5879592"/>
            <a:ext cx="10515600" cy="365760"/>
          </a:xfrm>
          <a:prstGeom prst="rect">
            <a:avLst/>
          </a:prstGeom>
          <a:noFill/>
        </p:spPr>
        <p:txBody>
          <a:bodyPr wrap="square" lIns="0" rIns="0" tIns="22860" bIns="22860">
            <a:spAutoFit/>
          </a:bodyPr>
          <a:lstStyle/>
          <a:p>
            <a:pPr>
              <a:lnSpc>
                <a:spcPct val="110000"/>
              </a:lnSpc>
              <a:spcAft>
                <a:spcPts val="700"/>
              </a:spcAft>
              <a:defRPr sz="2200" b="0">
                <a:solidFill>
                  <a:srgbClr val="193536"/>
                </a:solidFill>
                <a:latin typeface="Liberation Sans"/>
              </a:defRPr>
            </a:pPr>
            <a:r>
              <a:t>Perfis de referência: 8, 15, 28 e 70 anos.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RESULTADOS DIMENSIONAIS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Peça e malha: diferenças medidas, com limites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Suplemento 4, comparacao_dimensional_72_medicoes.csv · Gráfico calculado a partir dos registos.</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17</a:t>
            </a:r>
          </a:p>
        </p:txBody>
      </p:sp>
      <p:sp>
        <p:nvSpPr>
          <p:cNvPr id="7" name="Rectangle 6"/>
          <p:cNvSpPr/>
          <p:nvPr/>
        </p:nvSpPr>
        <p:spPr>
          <a:xfrm>
            <a:off x="640080" y="1783080"/>
            <a:ext cx="10881360" cy="3895344"/>
          </a:xfrm>
          <a:prstGeom prst="rect">
            <a:avLst/>
          </a:prstGeom>
          <a:solidFill>
            <a:srgbClr val="F6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svios_dimensionais.png"/>
          <p:cNvPicPr>
            <a:picLocks noChangeAspect="1"/>
          </p:cNvPicPr>
          <p:nvPr/>
        </p:nvPicPr>
        <p:blipFill>
          <a:blip r:embed="rId2"/>
          <a:stretch>
            <a:fillRect/>
          </a:stretch>
        </p:blipFill>
        <p:spPr>
          <a:xfrm>
            <a:off x="1451906" y="1783080"/>
            <a:ext cx="9257706" cy="3895344"/>
          </a:xfrm>
          <a:prstGeom prst="rect">
            <a:avLst/>
          </a:prstGeom>
        </p:spPr>
      </p:pic>
      <p:sp>
        <p:nvSpPr>
          <p:cNvPr id="9" name="TextBox 8"/>
          <p:cNvSpPr txBox="1"/>
          <p:nvPr/>
        </p:nvSpPr>
        <p:spPr>
          <a:xfrm>
            <a:off x="841248" y="5715000"/>
            <a:ext cx="10515600" cy="429768"/>
          </a:xfrm>
          <a:prstGeom prst="rect">
            <a:avLst/>
          </a:prstGeom>
          <a:noFill/>
        </p:spPr>
        <p:txBody>
          <a:bodyPr wrap="square" lIns="0" rIns="0" tIns="22860" bIns="22860">
            <a:spAutoFit/>
          </a:bodyPr>
          <a:lstStyle/>
          <a:p>
            <a:pPr>
              <a:lnSpc>
                <a:spcPct val="110000"/>
              </a:lnSpc>
              <a:spcAft>
                <a:spcPts val="700"/>
              </a:spcAft>
              <a:defRPr sz="2100" b="1">
                <a:solidFill>
                  <a:srgbClr val="007C78"/>
                </a:solidFill>
                <a:latin typeface="Liberation Sans"/>
              </a:defRPr>
            </a:pPr>
            <a:r>
              <a:t>Amplitude por grupo, calculada com uma leitura por combinação.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MONTAGEM DO PROTÓTIPO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Phoenix: uma montagem observada em bancada</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Suplemento 4 · PHX-TEEN15-MONT-001 · Um espécime PLA, perfil de 15 anos; observação em bancada.</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18</a:t>
            </a:r>
          </a:p>
        </p:txBody>
      </p:sp>
      <p:pic>
        <p:nvPicPr>
          <p:cNvPr id="7" name="Picture 6" descr="phoenix_montagem.jpg"/>
          <p:cNvPicPr>
            <a:picLocks noChangeAspect="1"/>
          </p:cNvPicPr>
          <p:nvPr/>
        </p:nvPicPr>
        <p:blipFill>
          <a:blip r:embed="rId2"/>
          <a:srcRect/>
          <a:stretch>
            <a:fillRect/>
          </a:stretch>
        </p:blipFill>
        <p:spPr>
          <a:xfrm>
            <a:off x="963777" y="1801368"/>
            <a:ext cx="7399324" cy="4160520"/>
          </a:xfrm>
          <a:prstGeom prst="rect">
            <a:avLst/>
          </a:prstGeom>
        </p:spPr>
      </p:pic>
      <p:pic>
        <p:nvPicPr>
          <p:cNvPr id="8" name="Picture 7" descr="phoenix_articulacao.jpeg"/>
          <p:cNvPicPr>
            <a:picLocks noChangeAspect="1"/>
          </p:cNvPicPr>
          <p:nvPr/>
        </p:nvPicPr>
        <p:blipFill>
          <a:blip r:embed="rId3"/>
          <a:srcRect/>
          <a:stretch>
            <a:fillRect/>
          </a:stretch>
        </p:blipFill>
        <p:spPr>
          <a:xfrm>
            <a:off x="9034557" y="1801368"/>
            <a:ext cx="2340292" cy="4160520"/>
          </a:xfrm>
          <a:prstGeom prst="rect">
            <a:avLst/>
          </a:prstGeom>
        </p:spPr>
      </p:pic>
      <p:sp>
        <p:nvSpPr>
          <p:cNvPr id="9" name="TextBox 8"/>
          <p:cNvSpPr txBox="1"/>
          <p:nvPr/>
        </p:nvSpPr>
        <p:spPr>
          <a:xfrm>
            <a:off x="795528" y="5943600"/>
            <a:ext cx="10515600" cy="329184"/>
          </a:xfrm>
          <a:prstGeom prst="rect">
            <a:avLst/>
          </a:prstGeom>
          <a:noFill/>
        </p:spPr>
        <p:txBody>
          <a:bodyPr wrap="square" lIns="0" rIns="0" tIns="22860" bIns="22860">
            <a:spAutoFit/>
          </a:bodyPr>
          <a:lstStyle/>
          <a:p>
            <a:pPr>
              <a:lnSpc>
                <a:spcPct val="110000"/>
              </a:lnSpc>
              <a:spcAft>
                <a:spcPts val="700"/>
              </a:spcAft>
              <a:defRPr sz="2100" b="1">
                <a:solidFill>
                  <a:srgbClr val="007C78"/>
                </a:solidFill>
                <a:latin typeface="Liberation Sans"/>
              </a:defRPr>
            </a:pPr>
            <a:r>
              <a:t>Montagem e movimento manual · Pormenor da articulação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RESPOSTA ÀS PERGUNTAS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O contributo para a configuração do produto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Síntese da Tabela 31 e de 9.1-9.4 · Cross (1982): enquadramento do conhecimento de design.</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19</a:t>
            </a:r>
          </a:p>
        </p:txBody>
      </p:sp>
      <p:sp>
        <p:nvSpPr>
          <p:cNvPr id="7" name="TextBox 6"/>
          <p:cNvSpPr txBox="1"/>
          <p:nvPr/>
        </p:nvSpPr>
        <p:spPr>
          <a:xfrm>
            <a:off x="859536" y="1828800"/>
            <a:ext cx="2331720" cy="320040"/>
          </a:xfrm>
          <a:prstGeom prst="rect">
            <a:avLst/>
          </a:prstGeom>
          <a:noFill/>
        </p:spPr>
        <p:txBody>
          <a:bodyPr wrap="square" lIns="0" rIns="0" tIns="22860" bIns="22860">
            <a:spAutoFit/>
          </a:bodyPr>
          <a:lstStyle/>
          <a:p>
            <a:pPr>
              <a:lnSpc>
                <a:spcPct val="110000"/>
              </a:lnSpc>
              <a:spcAft>
                <a:spcPts val="700"/>
              </a:spcAft>
              <a:defRPr sz="1200" b="1">
                <a:solidFill>
                  <a:srgbClr val="007C78"/>
                </a:solidFill>
                <a:latin typeface="Liberation Sans"/>
              </a:defRPr>
            </a:pPr>
            <a:r>
              <a:t>EIXO</a:t>
            </a:r>
          </a:p>
        </p:txBody>
      </p:sp>
      <p:sp>
        <p:nvSpPr>
          <p:cNvPr id="8" name="TextBox 7"/>
          <p:cNvSpPr txBox="1"/>
          <p:nvPr/>
        </p:nvSpPr>
        <p:spPr>
          <a:xfrm>
            <a:off x="3474720" y="1828800"/>
            <a:ext cx="3657600" cy="320040"/>
          </a:xfrm>
          <a:prstGeom prst="rect">
            <a:avLst/>
          </a:prstGeom>
          <a:noFill/>
        </p:spPr>
        <p:txBody>
          <a:bodyPr wrap="square" lIns="0" rIns="0" tIns="22860" bIns="22860">
            <a:spAutoFit/>
          </a:bodyPr>
          <a:lstStyle/>
          <a:p>
            <a:pPr>
              <a:lnSpc>
                <a:spcPct val="110000"/>
              </a:lnSpc>
              <a:spcAft>
                <a:spcPts val="700"/>
              </a:spcAft>
              <a:defRPr sz="1200" b="1">
                <a:solidFill>
                  <a:srgbClr val="007C78"/>
                </a:solidFill>
                <a:latin typeface="Liberation Sans"/>
              </a:defRPr>
            </a:pPr>
            <a:r>
              <a:t>EVIDÊNCIA OBTIDA</a:t>
            </a:r>
          </a:p>
        </p:txBody>
      </p:sp>
      <p:sp>
        <p:nvSpPr>
          <p:cNvPr id="9" name="TextBox 8"/>
          <p:cNvSpPr txBox="1"/>
          <p:nvPr/>
        </p:nvSpPr>
        <p:spPr>
          <a:xfrm>
            <a:off x="7498079" y="1828800"/>
            <a:ext cx="3749039" cy="320040"/>
          </a:xfrm>
          <a:prstGeom prst="rect">
            <a:avLst/>
          </a:prstGeom>
          <a:noFill/>
        </p:spPr>
        <p:txBody>
          <a:bodyPr wrap="square" lIns="0" rIns="0" tIns="22860" bIns="22860">
            <a:spAutoFit/>
          </a:bodyPr>
          <a:lstStyle/>
          <a:p>
            <a:pPr>
              <a:lnSpc>
                <a:spcPct val="110000"/>
              </a:lnSpc>
              <a:spcAft>
                <a:spcPts val="700"/>
              </a:spcAft>
              <a:defRPr sz="1200" b="1">
                <a:solidFill>
                  <a:srgbClr val="AD542D"/>
                </a:solidFill>
                <a:latin typeface="Liberation Sans"/>
              </a:defRPr>
            </a:pPr>
            <a:r>
              <a:t>POR AVALIAR</a:t>
            </a:r>
          </a:p>
        </p:txBody>
      </p:sp>
      <p:sp>
        <p:nvSpPr>
          <p:cNvPr id="10" name="Rectangle 9"/>
          <p:cNvSpPr/>
          <p:nvPr/>
        </p:nvSpPr>
        <p:spPr>
          <a:xfrm>
            <a:off x="640080" y="2423160"/>
            <a:ext cx="10881360"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514600"/>
            <a:ext cx="2423160" cy="530352"/>
          </a:xfrm>
          <a:prstGeom prst="rect">
            <a:avLst/>
          </a:prstGeom>
          <a:noFill/>
        </p:spPr>
        <p:txBody>
          <a:bodyPr wrap="square" lIns="0" rIns="0" tIns="22860" bIns="22860">
            <a:spAutoFit/>
          </a:bodyPr>
          <a:lstStyle/>
          <a:p>
            <a:pPr>
              <a:lnSpc>
                <a:spcPct val="110000"/>
              </a:lnSpc>
              <a:spcAft>
                <a:spcPts val="700"/>
              </a:spcAft>
              <a:defRPr sz="2000" b="1">
                <a:solidFill>
                  <a:srgbClr val="007C78"/>
                </a:solidFill>
                <a:latin typeface="Liberation Sans"/>
              </a:defRPr>
            </a:pPr>
            <a:r>
              <a:t>Configuração</a:t>
            </a:r>
          </a:p>
        </p:txBody>
      </p:sp>
      <p:sp>
        <p:nvSpPr>
          <p:cNvPr id="12" name="TextBox 11"/>
          <p:cNvSpPr txBox="1"/>
          <p:nvPr/>
        </p:nvSpPr>
        <p:spPr>
          <a:xfrm>
            <a:off x="3474720" y="2514600"/>
            <a:ext cx="3794760" cy="548640"/>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Valores editáveis e revisão</a:t>
            </a:r>
          </a:p>
        </p:txBody>
      </p:sp>
      <p:sp>
        <p:nvSpPr>
          <p:cNvPr id="13" name="TextBox 12"/>
          <p:cNvSpPr txBox="1"/>
          <p:nvPr/>
        </p:nvSpPr>
        <p:spPr>
          <a:xfrm>
            <a:off x="7498079" y="2514600"/>
            <a:ext cx="3749039" cy="548640"/>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Conforto e adequação individual</a:t>
            </a:r>
          </a:p>
        </p:txBody>
      </p:sp>
      <p:sp>
        <p:nvSpPr>
          <p:cNvPr id="14" name="Rectangle 13"/>
          <p:cNvSpPr/>
          <p:nvPr/>
        </p:nvSpPr>
        <p:spPr>
          <a:xfrm>
            <a:off x="640080" y="3383280"/>
            <a:ext cx="10881360"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474720"/>
            <a:ext cx="2423160" cy="530352"/>
          </a:xfrm>
          <a:prstGeom prst="rect">
            <a:avLst/>
          </a:prstGeom>
          <a:noFill/>
        </p:spPr>
        <p:txBody>
          <a:bodyPr wrap="square" lIns="0" rIns="0" tIns="22860" bIns="22860">
            <a:spAutoFit/>
          </a:bodyPr>
          <a:lstStyle/>
          <a:p>
            <a:pPr>
              <a:lnSpc>
                <a:spcPct val="110000"/>
              </a:lnSpc>
              <a:spcAft>
                <a:spcPts val="700"/>
              </a:spcAft>
              <a:defRPr sz="2000" b="1">
                <a:solidFill>
                  <a:srgbClr val="007C78"/>
                </a:solidFill>
                <a:latin typeface="Liberation Sans"/>
              </a:defRPr>
            </a:pPr>
            <a:r>
              <a:t>Avaliação</a:t>
            </a:r>
          </a:p>
        </p:txBody>
      </p:sp>
      <p:sp>
        <p:nvSpPr>
          <p:cNvPr id="16" name="TextBox 15"/>
          <p:cNvSpPr txBox="1"/>
          <p:nvPr/>
        </p:nvSpPr>
        <p:spPr>
          <a:xfrm>
            <a:off x="3474720" y="3474720"/>
            <a:ext cx="3794760" cy="548640"/>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Verificação técnica e dimensional</a:t>
            </a:r>
          </a:p>
        </p:txBody>
      </p:sp>
      <p:sp>
        <p:nvSpPr>
          <p:cNvPr id="17" name="TextBox 16"/>
          <p:cNvSpPr txBox="1"/>
          <p:nvPr/>
        </p:nvSpPr>
        <p:spPr>
          <a:xfrm>
            <a:off x="7498079" y="3474720"/>
            <a:ext cx="3749039" cy="548640"/>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Usabilidade e durabilidade</a:t>
            </a:r>
          </a:p>
        </p:txBody>
      </p:sp>
      <p:sp>
        <p:nvSpPr>
          <p:cNvPr id="18" name="Rectangle 17"/>
          <p:cNvSpPr/>
          <p:nvPr/>
        </p:nvSpPr>
        <p:spPr>
          <a:xfrm>
            <a:off x="640080" y="4343400"/>
            <a:ext cx="10881360" cy="7223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434840"/>
            <a:ext cx="2423160" cy="530352"/>
          </a:xfrm>
          <a:prstGeom prst="rect">
            <a:avLst/>
          </a:prstGeom>
          <a:noFill/>
        </p:spPr>
        <p:txBody>
          <a:bodyPr wrap="square" lIns="0" rIns="0" tIns="22860" bIns="22860">
            <a:spAutoFit/>
          </a:bodyPr>
          <a:lstStyle/>
          <a:p>
            <a:pPr>
              <a:lnSpc>
                <a:spcPct val="110000"/>
              </a:lnSpc>
              <a:spcAft>
                <a:spcPts val="700"/>
              </a:spcAft>
              <a:defRPr sz="2000" b="1">
                <a:solidFill>
                  <a:srgbClr val="007C78"/>
                </a:solidFill>
                <a:latin typeface="Liberation Sans"/>
              </a:defRPr>
            </a:pPr>
            <a:r>
              <a:t>Requisitos</a:t>
            </a:r>
          </a:p>
        </p:txBody>
      </p:sp>
      <p:sp>
        <p:nvSpPr>
          <p:cNvPr id="20" name="TextBox 19"/>
          <p:cNvSpPr txBox="1"/>
          <p:nvPr/>
        </p:nvSpPr>
        <p:spPr>
          <a:xfrm>
            <a:off x="3474720" y="4434840"/>
            <a:ext cx="3794760" cy="548640"/>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Regras e escolhas disponíveis</a:t>
            </a:r>
          </a:p>
        </p:txBody>
      </p:sp>
      <p:sp>
        <p:nvSpPr>
          <p:cNvPr id="21" name="TextBox 20"/>
          <p:cNvSpPr txBox="1"/>
          <p:nvPr/>
        </p:nvSpPr>
        <p:spPr>
          <a:xfrm>
            <a:off x="7498079" y="4434840"/>
            <a:ext cx="3749039" cy="548640"/>
          </a:xfrm>
          <a:prstGeom prst="rect">
            <a:avLst/>
          </a:prstGeom>
          <a:noFill/>
        </p:spPr>
        <p:txBody>
          <a:bodyPr wrap="square" lIns="0" rIns="0" tIns="22860" bIns="22860">
            <a:spAutoFit/>
          </a:bodyPr>
          <a:lstStyle/>
          <a:p>
            <a:pPr>
              <a:lnSpc>
                <a:spcPct val="110000"/>
              </a:lnSpc>
              <a:spcAft>
                <a:spcPts val="700"/>
              </a:spcAft>
              <a:defRPr sz="1800" b="0">
                <a:solidFill>
                  <a:srgbClr val="566B6A"/>
                </a:solidFill>
                <a:latin typeface="Liberation Sans"/>
              </a:defRPr>
            </a:pPr>
            <a:r>
              <a:t>Aceitação e autonomia</a:t>
            </a:r>
          </a:p>
        </p:txBody>
      </p:sp>
      <p:sp>
        <p:nvSpPr>
          <p:cNvPr id="22" name="TextBox 21"/>
          <p:cNvSpPr txBox="1"/>
          <p:nvPr/>
        </p:nvSpPr>
        <p:spPr>
          <a:xfrm>
            <a:off x="859536" y="5486400"/>
            <a:ext cx="10241280" cy="512064"/>
          </a:xfrm>
          <a:prstGeom prst="rect">
            <a:avLst/>
          </a:prstGeom>
          <a:noFill/>
        </p:spPr>
        <p:txBody>
          <a:bodyPr wrap="square" lIns="0" rIns="0" tIns="22860" bIns="22860">
            <a:spAutoFit/>
          </a:bodyPr>
          <a:lstStyle/>
          <a:p>
            <a:pPr>
              <a:lnSpc>
                <a:spcPct val="110000"/>
              </a:lnSpc>
              <a:spcAft>
                <a:spcPts val="700"/>
              </a:spcAft>
              <a:defRPr sz="2600" b="1">
                <a:solidFill>
                  <a:srgbClr val="193536"/>
                </a:solidFill>
                <a:latin typeface="Liberation Sans"/>
              </a:defRPr>
            </a:pPr>
            <a:r>
              <a:t>Explicar como cada escolha de configuração afeta a forma.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3536"/>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8DCCC1"/>
                </a:solidFill>
                <a:latin typeface="Liberation Sans"/>
              </a:defRPr>
            </a:pPr>
            <a:r>
              <a:t>CONCLUSÃO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FFFFFF"/>
                </a:solidFill>
                <a:latin typeface="Liberation Sans"/>
              </a:defRPr>
            </a:pPr>
            <a:r>
              <a:t>As regras de cada modelo condicionam o resultado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B5CBC6"/>
                </a:solidFill>
                <a:latin typeface="Liberation Sans"/>
              </a:defRPr>
            </a:pPr>
            <a:r>
              <a:t>Projeto HandFab · Pedro Miguel Candeias da Silva · Obrigado.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FFFFFF"/>
                </a:solidFill>
                <a:latin typeface="Liberation Sans"/>
              </a:defRPr>
            </a:pPr>
            <a:r>
              <a:t>20</a:t>
            </a:r>
          </a:p>
        </p:txBody>
      </p:sp>
      <p:pic>
        <p:nvPicPr>
          <p:cNvPr id="7" name="Picture 6" descr="phoenix_montagem.jpg"/>
          <p:cNvPicPr>
            <a:picLocks noChangeAspect="1"/>
          </p:cNvPicPr>
          <p:nvPr/>
        </p:nvPicPr>
        <p:blipFill>
          <a:blip r:embed="rId2"/>
          <a:srcRect/>
          <a:stretch>
            <a:fillRect/>
          </a:stretch>
        </p:blipFill>
        <p:spPr>
          <a:xfrm>
            <a:off x="640079" y="1895845"/>
            <a:ext cx="6949440" cy="3907557"/>
          </a:xfrm>
          <a:prstGeom prst="rect">
            <a:avLst/>
          </a:prstGeom>
        </p:spPr>
      </p:pic>
      <p:sp>
        <p:nvSpPr>
          <p:cNvPr id="8" name="TextBox 7"/>
          <p:cNvSpPr txBox="1"/>
          <p:nvPr/>
        </p:nvSpPr>
        <p:spPr>
          <a:xfrm>
            <a:off x="7955279" y="2286000"/>
            <a:ext cx="3511296" cy="457200"/>
          </a:xfrm>
          <a:prstGeom prst="rect">
            <a:avLst/>
          </a:prstGeom>
          <a:noFill/>
        </p:spPr>
        <p:txBody>
          <a:bodyPr wrap="square" lIns="0" rIns="0" tIns="22860" bIns="22860">
            <a:spAutoFit/>
          </a:bodyPr>
          <a:lstStyle/>
          <a:p>
            <a:pPr>
              <a:lnSpc>
                <a:spcPct val="110000"/>
              </a:lnSpc>
              <a:spcAft>
                <a:spcPts val="700"/>
              </a:spcAft>
              <a:defRPr sz="2600" b="1">
                <a:solidFill>
                  <a:srgbClr val="8DCCC1"/>
                </a:solidFill>
                <a:latin typeface="Liberation Sans"/>
              </a:defRPr>
            </a:pPr>
            <a:r>
              <a:t>Próximo passo</a:t>
            </a:r>
          </a:p>
        </p:txBody>
      </p:sp>
      <p:sp>
        <p:nvSpPr>
          <p:cNvPr id="9" name="TextBox 8"/>
          <p:cNvSpPr txBox="1"/>
          <p:nvPr/>
        </p:nvSpPr>
        <p:spPr>
          <a:xfrm>
            <a:off x="7955279" y="3136392"/>
            <a:ext cx="3511296" cy="2194560"/>
          </a:xfrm>
          <a:prstGeom prst="rect">
            <a:avLst/>
          </a:prstGeom>
          <a:noFill/>
        </p:spPr>
        <p:txBody>
          <a:bodyPr wrap="square" lIns="0" rIns="0" tIns="22860" bIns="22860">
            <a:spAutoFit/>
          </a:bodyPr>
          <a:lstStyle/>
          <a:p>
            <a:pPr>
              <a:lnSpc>
                <a:spcPct val="110000"/>
              </a:lnSpc>
              <a:spcAft>
                <a:spcPts val="700"/>
              </a:spcAft>
              <a:defRPr sz="2800" b="1">
                <a:solidFill>
                  <a:srgbClr val="FFFFFF"/>
                </a:solidFill>
                <a:latin typeface="Liberation Sans"/>
              </a:defRPr>
            </a:pPr>
            <a:r>
              <a:t>Avaliar o HandFab com as pessoas que o irão utilizar.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FORMULAÇÕES INTEGRAIS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Perguntas de investigação aprovadas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manuscrito, 9.1. Diapositivo fora do percurso principal de 20 minutos.</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21</a:t>
            </a:r>
          </a:p>
        </p:txBody>
      </p:sp>
      <p:sp>
        <p:nvSpPr>
          <p:cNvPr id="7" name="TextBox 6"/>
          <p:cNvSpPr txBox="1"/>
          <p:nvPr/>
        </p:nvSpPr>
        <p:spPr>
          <a:xfrm>
            <a:off x="713232" y="1856231"/>
            <a:ext cx="594360" cy="457200"/>
          </a:xfrm>
          <a:prstGeom prst="rect">
            <a:avLst/>
          </a:prstGeom>
          <a:noFill/>
        </p:spPr>
        <p:txBody>
          <a:bodyPr wrap="square" lIns="0" rIns="0" tIns="22860" bIns="22860">
            <a:spAutoFit/>
          </a:bodyPr>
          <a:lstStyle/>
          <a:p>
            <a:pPr>
              <a:lnSpc>
                <a:spcPct val="110000"/>
              </a:lnSpc>
              <a:spcAft>
                <a:spcPts val="700"/>
              </a:spcAft>
              <a:defRPr sz="2300" b="1">
                <a:solidFill>
                  <a:srgbClr val="007C78"/>
                </a:solidFill>
                <a:latin typeface="Liberation Sans"/>
              </a:defRPr>
            </a:pPr>
            <a:r>
              <a:t>P1</a:t>
            </a:r>
          </a:p>
        </p:txBody>
      </p:sp>
      <p:sp>
        <p:nvSpPr>
          <p:cNvPr id="8" name="TextBox 7"/>
          <p:cNvSpPr txBox="1"/>
          <p:nvPr/>
        </p:nvSpPr>
        <p:spPr>
          <a:xfrm>
            <a:off x="1481328" y="1856231"/>
            <a:ext cx="9875520" cy="1188720"/>
          </a:xfrm>
          <a:prstGeom prst="rect">
            <a:avLst/>
          </a:prstGeom>
          <a:noFill/>
        </p:spPr>
        <p:txBody>
          <a:bodyPr wrap="square" lIns="0" rIns="0" tIns="22860" bIns="22860">
            <a:spAutoFit/>
          </a:bodyPr>
          <a:lstStyle/>
          <a:p>
            <a:pPr>
              <a:lnSpc>
                <a:spcPct val="110000"/>
              </a:lnSpc>
              <a:spcAft>
                <a:spcPts val="700"/>
              </a:spcAft>
              <a:defRPr sz="2200" b="0">
                <a:solidFill>
                  <a:srgbClr val="193536"/>
                </a:solidFill>
                <a:latin typeface="Liberation Sans"/>
              </a:defRPr>
            </a:pPr>
            <a:r>
              <a:t>Como o design de produto, métodos paramétricos e inteligência artificial podem melhorar a personalização, o conforto e a adequação funcional de próteses, mantendo a acessibilidade e o controlo sobre as decisões de projeto?</a:t>
            </a:r>
          </a:p>
        </p:txBody>
      </p:sp>
      <p:sp>
        <p:nvSpPr>
          <p:cNvPr id="9" name="TextBox 8"/>
          <p:cNvSpPr txBox="1"/>
          <p:nvPr/>
        </p:nvSpPr>
        <p:spPr>
          <a:xfrm>
            <a:off x="713232" y="3200400"/>
            <a:ext cx="594360" cy="457200"/>
          </a:xfrm>
          <a:prstGeom prst="rect">
            <a:avLst/>
          </a:prstGeom>
          <a:noFill/>
        </p:spPr>
        <p:txBody>
          <a:bodyPr wrap="square" lIns="0" rIns="0" tIns="22860" bIns="22860">
            <a:spAutoFit/>
          </a:bodyPr>
          <a:lstStyle/>
          <a:p>
            <a:pPr>
              <a:lnSpc>
                <a:spcPct val="110000"/>
              </a:lnSpc>
              <a:spcAft>
                <a:spcPts val="700"/>
              </a:spcAft>
              <a:defRPr sz="2300" b="1">
                <a:solidFill>
                  <a:srgbClr val="007C78"/>
                </a:solidFill>
                <a:latin typeface="Liberation Sans"/>
              </a:defRPr>
            </a:pPr>
            <a:r>
              <a:t>P2</a:t>
            </a:r>
          </a:p>
        </p:txBody>
      </p:sp>
      <p:sp>
        <p:nvSpPr>
          <p:cNvPr id="10" name="TextBox 9"/>
          <p:cNvSpPr txBox="1"/>
          <p:nvPr/>
        </p:nvSpPr>
        <p:spPr>
          <a:xfrm>
            <a:off x="1481328" y="3200400"/>
            <a:ext cx="9875520" cy="1188720"/>
          </a:xfrm>
          <a:prstGeom prst="rect">
            <a:avLst/>
          </a:prstGeom>
          <a:noFill/>
        </p:spPr>
        <p:txBody>
          <a:bodyPr wrap="square" lIns="0" rIns="0" tIns="22860" bIns="22860">
            <a:spAutoFit/>
          </a:bodyPr>
          <a:lstStyle/>
          <a:p>
            <a:pPr>
              <a:lnSpc>
                <a:spcPct val="110000"/>
              </a:lnSpc>
              <a:spcAft>
                <a:spcPts val="700"/>
              </a:spcAft>
              <a:defRPr sz="2200" b="0">
                <a:solidFill>
                  <a:srgbClr val="193536"/>
                </a:solidFill>
                <a:latin typeface="Liberation Sans"/>
              </a:defRPr>
            </a:pPr>
            <a:r>
              <a:t>Quais metodologias e ferramentas validam a eficácia, a usabilidade, a durabilidade e a possibilidade de reproduzir os resultados de próteses impressas em 3D?</a:t>
            </a:r>
          </a:p>
        </p:txBody>
      </p:sp>
      <p:sp>
        <p:nvSpPr>
          <p:cNvPr id="11" name="TextBox 10"/>
          <p:cNvSpPr txBox="1"/>
          <p:nvPr/>
        </p:nvSpPr>
        <p:spPr>
          <a:xfrm>
            <a:off x="713232" y="4544568"/>
            <a:ext cx="594360" cy="457200"/>
          </a:xfrm>
          <a:prstGeom prst="rect">
            <a:avLst/>
          </a:prstGeom>
          <a:noFill/>
        </p:spPr>
        <p:txBody>
          <a:bodyPr wrap="square" lIns="0" rIns="0" tIns="22860" bIns="22860">
            <a:spAutoFit/>
          </a:bodyPr>
          <a:lstStyle/>
          <a:p>
            <a:pPr>
              <a:lnSpc>
                <a:spcPct val="110000"/>
              </a:lnSpc>
              <a:spcAft>
                <a:spcPts val="700"/>
              </a:spcAft>
              <a:defRPr sz="2300" b="1">
                <a:solidFill>
                  <a:srgbClr val="007C78"/>
                </a:solidFill>
                <a:latin typeface="Liberation Sans"/>
              </a:defRPr>
            </a:pPr>
            <a:r>
              <a:t>P3</a:t>
            </a:r>
          </a:p>
        </p:txBody>
      </p:sp>
      <p:sp>
        <p:nvSpPr>
          <p:cNvPr id="12" name="TextBox 11"/>
          <p:cNvSpPr txBox="1"/>
          <p:nvPr/>
        </p:nvSpPr>
        <p:spPr>
          <a:xfrm>
            <a:off x="1481328" y="4544568"/>
            <a:ext cx="9875520" cy="1188720"/>
          </a:xfrm>
          <a:prstGeom prst="rect">
            <a:avLst/>
          </a:prstGeom>
          <a:noFill/>
        </p:spPr>
        <p:txBody>
          <a:bodyPr wrap="square" lIns="0" rIns="0" tIns="22860" bIns="22860">
            <a:spAutoFit/>
          </a:bodyPr>
          <a:lstStyle/>
          <a:p>
            <a:pPr>
              <a:lnSpc>
                <a:spcPct val="110000"/>
              </a:lnSpc>
              <a:spcAft>
                <a:spcPts val="700"/>
              </a:spcAft>
              <a:defRPr sz="2200" b="0">
                <a:solidFill>
                  <a:srgbClr val="193536"/>
                </a:solidFill>
                <a:latin typeface="Liberation Sans"/>
              </a:defRPr>
            </a:pPr>
            <a:r>
              <a:t>Como é que o design industrial concilia requisitos anatómicos, funcionais, ergonómicos, estéticos e simbólicos, promovendo a aceitação, a dignidade e a autonomia?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DESENHO DA AVALIAÇÃO</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Os números representam conjuntos diferentes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capítulo 8, Anexo D e CSV das Séries A/B e medições físicas.</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22</a:t>
            </a:r>
          </a:p>
        </p:txBody>
      </p:sp>
      <p:sp>
        <p:nvSpPr>
          <p:cNvPr id="7" name="Rectangle 6"/>
          <p:cNvSpPr/>
          <p:nvPr/>
        </p:nvSpPr>
        <p:spPr>
          <a:xfrm>
            <a:off x="640080" y="1901952"/>
            <a:ext cx="347472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66544"/>
            <a:ext cx="3072384"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4</a:t>
            </a:r>
          </a:p>
        </p:txBody>
      </p:sp>
      <p:sp>
        <p:nvSpPr>
          <p:cNvPr id="9" name="TextBox 8"/>
          <p:cNvSpPr txBox="1"/>
          <p:nvPr/>
        </p:nvSpPr>
        <p:spPr>
          <a:xfrm>
            <a:off x="841247" y="2697480"/>
            <a:ext cx="3072384"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Projetos da Série A</a:t>
            </a:r>
          </a:p>
        </p:txBody>
      </p:sp>
      <p:sp>
        <p:nvSpPr>
          <p:cNvPr id="10" name="TextBox 9"/>
          <p:cNvSpPr txBox="1"/>
          <p:nvPr/>
        </p:nvSpPr>
        <p:spPr>
          <a:xfrm>
            <a:off x="841247" y="3547872"/>
            <a:ext cx="3072384" cy="132588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Condições diferentes. Comparação direta entre equipamentos limitada.</a:t>
            </a:r>
          </a:p>
        </p:txBody>
      </p:sp>
      <p:sp>
        <p:nvSpPr>
          <p:cNvPr id="11" name="Rectangle 10"/>
          <p:cNvSpPr/>
          <p:nvPr/>
        </p:nvSpPr>
        <p:spPr>
          <a:xfrm>
            <a:off x="4343400" y="1901952"/>
            <a:ext cx="347472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66544"/>
            <a:ext cx="3072384"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12</a:t>
            </a:r>
          </a:p>
        </p:txBody>
      </p:sp>
      <p:sp>
        <p:nvSpPr>
          <p:cNvPr id="13" name="TextBox 12"/>
          <p:cNvSpPr txBox="1"/>
          <p:nvPr/>
        </p:nvSpPr>
        <p:spPr>
          <a:xfrm>
            <a:off x="4544568" y="2697480"/>
            <a:ext cx="3072384"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Casos da Série B</a:t>
            </a:r>
          </a:p>
        </p:txBody>
      </p:sp>
      <p:sp>
        <p:nvSpPr>
          <p:cNvPr id="14" name="TextBox 13"/>
          <p:cNvSpPr txBox="1"/>
          <p:nvPr/>
        </p:nvSpPr>
        <p:spPr>
          <a:xfrm>
            <a:off x="4544568" y="3547872"/>
            <a:ext cx="3072384" cy="132588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3 modelos × 4 perfis. Preparação digital concluída, com avisos.</a:t>
            </a:r>
          </a:p>
        </p:txBody>
      </p:sp>
      <p:sp>
        <p:nvSpPr>
          <p:cNvPr id="15" name="Rectangle 14"/>
          <p:cNvSpPr/>
          <p:nvPr/>
        </p:nvSpPr>
        <p:spPr>
          <a:xfrm>
            <a:off x="8046720" y="1901952"/>
            <a:ext cx="347472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2066544"/>
            <a:ext cx="3072384"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72</a:t>
            </a:r>
          </a:p>
        </p:txBody>
      </p:sp>
      <p:sp>
        <p:nvSpPr>
          <p:cNvPr id="17" name="TextBox 16"/>
          <p:cNvSpPr txBox="1"/>
          <p:nvPr/>
        </p:nvSpPr>
        <p:spPr>
          <a:xfrm>
            <a:off x="8247888" y="2697480"/>
            <a:ext cx="3072384"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Medições físicas</a:t>
            </a:r>
          </a:p>
        </p:txBody>
      </p:sp>
      <p:sp>
        <p:nvSpPr>
          <p:cNvPr id="18" name="TextBox 17"/>
          <p:cNvSpPr txBox="1"/>
          <p:nvPr/>
        </p:nvSpPr>
        <p:spPr>
          <a:xfrm>
            <a:off x="8247888" y="3547872"/>
            <a:ext cx="3072384" cy="132588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3 modelos × 4 perfis × 3 eixos × 2 materiais. Uma leitura por combinação.</a:t>
            </a:r>
          </a:p>
        </p:txBody>
      </p:sp>
      <p:sp>
        <p:nvSpPr>
          <p:cNvPr id="19" name="TextBox 18"/>
          <p:cNvSpPr txBox="1"/>
          <p:nvPr/>
        </p:nvSpPr>
        <p:spPr>
          <a:xfrm>
            <a:off x="877824" y="5559552"/>
            <a:ext cx="10241280" cy="411480"/>
          </a:xfrm>
          <a:prstGeom prst="rect">
            <a:avLst/>
          </a:prstGeom>
          <a:noFill/>
        </p:spPr>
        <p:txBody>
          <a:bodyPr wrap="square" lIns="0" rIns="0" tIns="22860" bIns="22860">
            <a:spAutoFit/>
          </a:bodyPr>
          <a:lstStyle/>
          <a:p>
            <a:pPr>
              <a:lnSpc>
                <a:spcPct val="110000"/>
              </a:lnSpc>
              <a:spcAft>
                <a:spcPts val="700"/>
              </a:spcAft>
              <a:defRPr sz="2100" b="1">
                <a:solidFill>
                  <a:srgbClr val="007C78"/>
                </a:solidFill>
                <a:latin typeface="Liberation Sans"/>
              </a:defRPr>
            </a:pPr>
            <a:r>
              <a:t>Perfis de ensaio: 8, 15, 28 e 70 anos. Não correspondem a participantes.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COMPARAÇÃO DIMENSIONAL</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Valores registados: amplitude por grupo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comparacao_dimensional_72_medicoes.csv · Diferença = dimensão física − dimensão da malha.</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23</a:t>
            </a:r>
          </a:p>
        </p:txBody>
      </p:sp>
      <p:sp>
        <p:nvSpPr>
          <p:cNvPr id="7" name="TextBox 6"/>
          <p:cNvSpPr txBox="1"/>
          <p:nvPr/>
        </p:nvSpPr>
        <p:spPr>
          <a:xfrm>
            <a:off x="822960" y="1764792"/>
            <a:ext cx="3657600" cy="320040"/>
          </a:xfrm>
          <a:prstGeom prst="rect">
            <a:avLst/>
          </a:prstGeom>
          <a:noFill/>
        </p:spPr>
        <p:txBody>
          <a:bodyPr wrap="square" lIns="0" rIns="0" tIns="22860" bIns="22860">
            <a:spAutoFit/>
          </a:bodyPr>
          <a:lstStyle/>
          <a:p>
            <a:pPr>
              <a:lnSpc>
                <a:spcPct val="110000"/>
              </a:lnSpc>
              <a:spcAft>
                <a:spcPts val="700"/>
              </a:spcAft>
              <a:defRPr sz="1300" b="1">
                <a:solidFill>
                  <a:srgbClr val="007C78"/>
                </a:solidFill>
                <a:latin typeface="Liberation Sans"/>
              </a:defRPr>
            </a:pPr>
            <a:r>
              <a:t>MODELO / MATERIAL</a:t>
            </a:r>
          </a:p>
        </p:txBody>
      </p:sp>
      <p:sp>
        <p:nvSpPr>
          <p:cNvPr id="8" name="TextBox 7"/>
          <p:cNvSpPr txBox="1"/>
          <p:nvPr/>
        </p:nvSpPr>
        <p:spPr>
          <a:xfrm>
            <a:off x="5486400" y="1764792"/>
            <a:ext cx="2743200" cy="320040"/>
          </a:xfrm>
          <a:prstGeom prst="rect">
            <a:avLst/>
          </a:prstGeom>
          <a:noFill/>
        </p:spPr>
        <p:txBody>
          <a:bodyPr wrap="square" lIns="0" rIns="0" tIns="22860" bIns="22860">
            <a:spAutoFit/>
          </a:bodyPr>
          <a:lstStyle/>
          <a:p>
            <a:pPr>
              <a:lnSpc>
                <a:spcPct val="110000"/>
              </a:lnSpc>
              <a:spcAft>
                <a:spcPts val="700"/>
              </a:spcAft>
              <a:defRPr sz="1300" b="1">
                <a:solidFill>
                  <a:srgbClr val="007C78"/>
                </a:solidFill>
                <a:latin typeface="Liberation Sans"/>
              </a:defRPr>
            </a:pPr>
            <a:r>
              <a:t>MÍNIMO (mm)</a:t>
            </a:r>
          </a:p>
        </p:txBody>
      </p:sp>
      <p:sp>
        <p:nvSpPr>
          <p:cNvPr id="9" name="TextBox 8"/>
          <p:cNvSpPr txBox="1"/>
          <p:nvPr/>
        </p:nvSpPr>
        <p:spPr>
          <a:xfrm>
            <a:off x="8229600" y="1764792"/>
            <a:ext cx="2743200" cy="320040"/>
          </a:xfrm>
          <a:prstGeom prst="rect">
            <a:avLst/>
          </a:prstGeom>
          <a:noFill/>
        </p:spPr>
        <p:txBody>
          <a:bodyPr wrap="square" lIns="0" rIns="0" tIns="22860" bIns="22860">
            <a:spAutoFit/>
          </a:bodyPr>
          <a:lstStyle/>
          <a:p>
            <a:pPr>
              <a:lnSpc>
                <a:spcPct val="110000"/>
              </a:lnSpc>
              <a:spcAft>
                <a:spcPts val="700"/>
              </a:spcAft>
              <a:defRPr sz="1300" b="1">
                <a:solidFill>
                  <a:srgbClr val="007C78"/>
                </a:solidFill>
                <a:latin typeface="Liberation Sans"/>
              </a:defRPr>
            </a:pPr>
            <a:r>
              <a:t>MÁXIMO (mm)</a:t>
            </a:r>
          </a:p>
        </p:txBody>
      </p:sp>
      <p:sp>
        <p:nvSpPr>
          <p:cNvPr id="10" name="Rectangle 9"/>
          <p:cNvSpPr/>
          <p:nvPr/>
        </p:nvSpPr>
        <p:spPr>
          <a:xfrm>
            <a:off x="640080" y="2286000"/>
            <a:ext cx="1088136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22576"/>
            <a:ext cx="4572000" cy="384048"/>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Flexy Beast · PLA</a:t>
            </a:r>
          </a:p>
        </p:txBody>
      </p:sp>
      <p:sp>
        <p:nvSpPr>
          <p:cNvPr id="12" name="TextBox 11"/>
          <p:cNvSpPr txBox="1"/>
          <p:nvPr/>
        </p:nvSpPr>
        <p:spPr>
          <a:xfrm>
            <a:off x="5486400" y="2322576"/>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-0,398</a:t>
            </a:r>
          </a:p>
        </p:txBody>
      </p:sp>
      <p:sp>
        <p:nvSpPr>
          <p:cNvPr id="13" name="TextBox 12"/>
          <p:cNvSpPr txBox="1"/>
          <p:nvPr/>
        </p:nvSpPr>
        <p:spPr>
          <a:xfrm>
            <a:off x="8229600" y="2322576"/>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-0,108</a:t>
            </a:r>
          </a:p>
        </p:txBody>
      </p:sp>
      <p:sp>
        <p:nvSpPr>
          <p:cNvPr id="14" name="Rectangle 13"/>
          <p:cNvSpPr/>
          <p:nvPr/>
        </p:nvSpPr>
        <p:spPr>
          <a:xfrm>
            <a:off x="640080" y="2843784"/>
            <a:ext cx="1088136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880360"/>
            <a:ext cx="4572000" cy="384048"/>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Flexy Beast · PETG</a:t>
            </a:r>
          </a:p>
        </p:txBody>
      </p:sp>
      <p:sp>
        <p:nvSpPr>
          <p:cNvPr id="16" name="TextBox 15"/>
          <p:cNvSpPr txBox="1"/>
          <p:nvPr/>
        </p:nvSpPr>
        <p:spPr>
          <a:xfrm>
            <a:off x="5486400" y="2880360"/>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-0,527</a:t>
            </a:r>
          </a:p>
        </p:txBody>
      </p:sp>
      <p:sp>
        <p:nvSpPr>
          <p:cNvPr id="17" name="TextBox 16"/>
          <p:cNvSpPr txBox="1"/>
          <p:nvPr/>
        </p:nvSpPr>
        <p:spPr>
          <a:xfrm>
            <a:off x="8229600" y="2880360"/>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-0,137</a:t>
            </a:r>
          </a:p>
        </p:txBody>
      </p:sp>
      <p:sp>
        <p:nvSpPr>
          <p:cNvPr id="18" name="Rectangle 17"/>
          <p:cNvSpPr/>
          <p:nvPr/>
        </p:nvSpPr>
        <p:spPr>
          <a:xfrm>
            <a:off x="640080" y="3401568"/>
            <a:ext cx="1088136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38144"/>
            <a:ext cx="4572000" cy="384048"/>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Paraglider Hand · PLA</a:t>
            </a:r>
          </a:p>
        </p:txBody>
      </p:sp>
      <p:sp>
        <p:nvSpPr>
          <p:cNvPr id="20" name="TextBox 19"/>
          <p:cNvSpPr txBox="1"/>
          <p:nvPr/>
        </p:nvSpPr>
        <p:spPr>
          <a:xfrm>
            <a:off x="5486400" y="3438144"/>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-0,375</a:t>
            </a:r>
          </a:p>
        </p:txBody>
      </p:sp>
      <p:sp>
        <p:nvSpPr>
          <p:cNvPr id="21" name="TextBox 20"/>
          <p:cNvSpPr txBox="1"/>
          <p:nvPr/>
        </p:nvSpPr>
        <p:spPr>
          <a:xfrm>
            <a:off x="8229600" y="3438144"/>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-0,089</a:t>
            </a:r>
          </a:p>
        </p:txBody>
      </p:sp>
      <p:sp>
        <p:nvSpPr>
          <p:cNvPr id="22" name="Rectangle 21"/>
          <p:cNvSpPr/>
          <p:nvPr/>
        </p:nvSpPr>
        <p:spPr>
          <a:xfrm>
            <a:off x="640080" y="3959352"/>
            <a:ext cx="1088136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95928"/>
            <a:ext cx="4572000" cy="384048"/>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Paraglider Hand · PETG</a:t>
            </a:r>
          </a:p>
        </p:txBody>
      </p:sp>
      <p:sp>
        <p:nvSpPr>
          <p:cNvPr id="24" name="TextBox 23"/>
          <p:cNvSpPr txBox="1"/>
          <p:nvPr/>
        </p:nvSpPr>
        <p:spPr>
          <a:xfrm>
            <a:off x="5486400" y="3995928"/>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-0,523</a:t>
            </a:r>
          </a:p>
        </p:txBody>
      </p:sp>
      <p:sp>
        <p:nvSpPr>
          <p:cNvPr id="25" name="TextBox 24"/>
          <p:cNvSpPr txBox="1"/>
          <p:nvPr/>
        </p:nvSpPr>
        <p:spPr>
          <a:xfrm>
            <a:off x="8229600" y="3995928"/>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-0,117</a:t>
            </a:r>
          </a:p>
        </p:txBody>
      </p:sp>
      <p:sp>
        <p:nvSpPr>
          <p:cNvPr id="26" name="Rectangle 25"/>
          <p:cNvSpPr/>
          <p:nvPr/>
        </p:nvSpPr>
        <p:spPr>
          <a:xfrm>
            <a:off x="640080" y="4517136"/>
            <a:ext cx="1088136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553712"/>
            <a:ext cx="4572000" cy="384048"/>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UnLimbited Phoenix · PLA</a:t>
            </a:r>
          </a:p>
        </p:txBody>
      </p:sp>
      <p:sp>
        <p:nvSpPr>
          <p:cNvPr id="28" name="TextBox 27"/>
          <p:cNvSpPr txBox="1"/>
          <p:nvPr/>
        </p:nvSpPr>
        <p:spPr>
          <a:xfrm>
            <a:off x="5486400" y="4553712"/>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-0,302</a:t>
            </a:r>
          </a:p>
        </p:txBody>
      </p:sp>
      <p:sp>
        <p:nvSpPr>
          <p:cNvPr id="29" name="TextBox 28"/>
          <p:cNvSpPr txBox="1"/>
          <p:nvPr/>
        </p:nvSpPr>
        <p:spPr>
          <a:xfrm>
            <a:off x="8229600" y="4553712"/>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-0,084</a:t>
            </a:r>
          </a:p>
        </p:txBody>
      </p:sp>
      <p:sp>
        <p:nvSpPr>
          <p:cNvPr id="30" name="Rectangle 29"/>
          <p:cNvSpPr/>
          <p:nvPr/>
        </p:nvSpPr>
        <p:spPr>
          <a:xfrm>
            <a:off x="640080" y="5074920"/>
            <a:ext cx="10881360"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111496"/>
            <a:ext cx="4572000" cy="384048"/>
          </a:xfrm>
          <a:prstGeom prst="rect">
            <a:avLst/>
          </a:prstGeom>
          <a:noFill/>
        </p:spPr>
        <p:txBody>
          <a:bodyPr wrap="square" lIns="0" rIns="0" tIns="22860" bIns="22860">
            <a:spAutoFit/>
          </a:bodyPr>
          <a:lstStyle/>
          <a:p>
            <a:pPr>
              <a:lnSpc>
                <a:spcPct val="110000"/>
              </a:lnSpc>
              <a:spcAft>
                <a:spcPts val="700"/>
              </a:spcAft>
              <a:defRPr sz="1800" b="0">
                <a:solidFill>
                  <a:srgbClr val="193536"/>
                </a:solidFill>
                <a:latin typeface="Liberation Sans"/>
              </a:defRPr>
            </a:pPr>
            <a:r>
              <a:t>UnLimbited Phoenix · PETG</a:t>
            </a:r>
          </a:p>
        </p:txBody>
      </p:sp>
      <p:sp>
        <p:nvSpPr>
          <p:cNvPr id="32" name="TextBox 31"/>
          <p:cNvSpPr txBox="1"/>
          <p:nvPr/>
        </p:nvSpPr>
        <p:spPr>
          <a:xfrm>
            <a:off x="5486400" y="5111496"/>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-0,414</a:t>
            </a:r>
          </a:p>
        </p:txBody>
      </p:sp>
      <p:sp>
        <p:nvSpPr>
          <p:cNvPr id="33" name="TextBox 32"/>
          <p:cNvSpPr txBox="1"/>
          <p:nvPr/>
        </p:nvSpPr>
        <p:spPr>
          <a:xfrm>
            <a:off x="8229600" y="5111496"/>
            <a:ext cx="2286000" cy="384048"/>
          </a:xfrm>
          <a:prstGeom prst="rect">
            <a:avLst/>
          </a:prstGeom>
          <a:noFill/>
        </p:spPr>
        <p:txBody>
          <a:bodyPr wrap="square" lIns="0" rIns="0" tIns="22860" bIns="22860">
            <a:spAutoFit/>
          </a:bodyPr>
          <a:lstStyle/>
          <a:p>
            <a:pPr>
              <a:lnSpc>
                <a:spcPct val="110000"/>
              </a:lnSpc>
              <a:spcAft>
                <a:spcPts val="700"/>
              </a:spcAft>
              <a:defRPr sz="1900" b="1">
                <a:solidFill>
                  <a:srgbClr val="007C78"/>
                </a:solidFill>
                <a:latin typeface="Liberation Sans"/>
              </a:defRPr>
            </a:pPr>
            <a:r>
              <a:t>-0,121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LIMITES ENCONTRADOS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As falhas também definem o próximo passo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8.1.2 e Anexo B · Ensaios de recuperação e auditoria de acessibilidade.</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24</a:t>
            </a:r>
          </a:p>
        </p:txBody>
      </p:sp>
      <p:sp>
        <p:nvSpPr>
          <p:cNvPr id="7" name="Rectangle 6"/>
          <p:cNvSpPr/>
          <p:nvPr/>
        </p:nvSpPr>
        <p:spPr>
          <a:xfrm>
            <a:off x="640080" y="1901952"/>
            <a:ext cx="5303520" cy="3383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66544"/>
            <a:ext cx="4901183"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Controlo</a:t>
            </a:r>
          </a:p>
        </p:txBody>
      </p:sp>
      <p:sp>
        <p:nvSpPr>
          <p:cNvPr id="9" name="TextBox 8"/>
          <p:cNvSpPr txBox="1"/>
          <p:nvPr/>
        </p:nvSpPr>
        <p:spPr>
          <a:xfrm>
            <a:off x="841247" y="2697480"/>
            <a:ext cx="4901183"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Valores fora do limite</a:t>
            </a:r>
          </a:p>
        </p:txBody>
      </p:sp>
      <p:sp>
        <p:nvSpPr>
          <p:cNvPr id="10" name="TextBox 9"/>
          <p:cNvSpPr txBox="1"/>
          <p:nvPr/>
        </p:nvSpPr>
        <p:spPr>
          <a:xfrm>
            <a:off x="841247" y="3547872"/>
            <a:ext cx="4901183" cy="160020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Um valor simulado acima do limite chegou ao estado interno.</a:t>
            </a:r>
          </a:p>
        </p:txBody>
      </p:sp>
      <p:sp>
        <p:nvSpPr>
          <p:cNvPr id="11" name="Rectangle 10"/>
          <p:cNvSpPr/>
          <p:nvPr/>
        </p:nvSpPr>
        <p:spPr>
          <a:xfrm>
            <a:off x="6217920" y="1901952"/>
            <a:ext cx="5303520" cy="3383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066544"/>
            <a:ext cx="4901183"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Acessibilidade</a:t>
            </a:r>
          </a:p>
        </p:txBody>
      </p:sp>
      <p:sp>
        <p:nvSpPr>
          <p:cNvPr id="13" name="TextBox 12"/>
          <p:cNvSpPr txBox="1"/>
          <p:nvPr/>
        </p:nvSpPr>
        <p:spPr>
          <a:xfrm>
            <a:off x="6419088" y="2697480"/>
            <a:ext cx="4901183"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Barreiras no percurso</a:t>
            </a:r>
          </a:p>
        </p:txBody>
      </p:sp>
      <p:sp>
        <p:nvSpPr>
          <p:cNvPr id="14" name="TextBox 13"/>
          <p:cNvSpPr txBox="1"/>
          <p:nvPr/>
        </p:nvSpPr>
        <p:spPr>
          <a:xfrm>
            <a:off x="6419088" y="3547872"/>
            <a:ext cx="4901183" cy="160020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5 de 12 itens falharam na verificação manual.</a:t>
            </a:r>
          </a:p>
        </p:txBody>
      </p:sp>
      <p:sp>
        <p:nvSpPr>
          <p:cNvPr id="15" name="TextBox 14"/>
          <p:cNvSpPr txBox="1"/>
          <p:nvPr/>
        </p:nvSpPr>
        <p:spPr>
          <a:xfrm>
            <a:off x="868680" y="5605272"/>
            <a:ext cx="10332720" cy="393192"/>
          </a:xfrm>
          <a:prstGeom prst="rect">
            <a:avLst/>
          </a:prstGeom>
          <a:noFill/>
        </p:spPr>
        <p:txBody>
          <a:bodyPr wrap="square" lIns="0" rIns="0" tIns="22860" bIns="22860">
            <a:spAutoFit/>
          </a:bodyPr>
          <a:lstStyle/>
          <a:p>
            <a:pPr>
              <a:lnSpc>
                <a:spcPct val="110000"/>
              </a:lnSpc>
              <a:spcAft>
                <a:spcPts val="700"/>
              </a:spcAft>
              <a:defRPr sz="2300" b="1">
                <a:solidFill>
                  <a:srgbClr val="007C78"/>
                </a:solidFill>
                <a:latin typeface="Liberation Sans"/>
              </a:defRPr>
            </a:pPr>
            <a:r>
              <a:t>Problemas identificados orientam revisões concretas do sistema.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VERIFICAÇÕES DA PLATAFORMA</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Repetição e acessibilidade: resultados delimitados</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8.1.2 e Anexo B. Repetições idênticas dentro da configuração examinada.</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25</a:t>
            </a:r>
          </a:p>
        </p:txBody>
      </p:sp>
      <p:sp>
        <p:nvSpPr>
          <p:cNvPr id="7" name="Rectangle 6"/>
          <p:cNvSpPr/>
          <p:nvPr/>
        </p:nvSpPr>
        <p:spPr>
          <a:xfrm>
            <a:off x="640080" y="1956816"/>
            <a:ext cx="530352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21408"/>
            <a:ext cx="4901183"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7 / 5 / 5</a:t>
            </a:r>
          </a:p>
        </p:txBody>
      </p:sp>
      <p:sp>
        <p:nvSpPr>
          <p:cNvPr id="9" name="TextBox 8"/>
          <p:cNvSpPr txBox="1"/>
          <p:nvPr/>
        </p:nvSpPr>
        <p:spPr>
          <a:xfrm>
            <a:off x="841247" y="2752344"/>
            <a:ext cx="4901183"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Exportações concluídas</a:t>
            </a:r>
          </a:p>
        </p:txBody>
      </p:sp>
      <p:sp>
        <p:nvSpPr>
          <p:cNvPr id="10" name="TextBox 9"/>
          <p:cNvSpPr txBox="1"/>
          <p:nvPr/>
        </p:nvSpPr>
        <p:spPr>
          <a:xfrm>
            <a:off x="841247" y="3602736"/>
            <a:ext cx="4901183" cy="150876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Flexy Beast / Paraglider / Phoenix. Objetivo inicial: 10 por modelo.</a:t>
            </a:r>
          </a:p>
        </p:txBody>
      </p:sp>
      <p:sp>
        <p:nvSpPr>
          <p:cNvPr id="11" name="Rectangle 10"/>
          <p:cNvSpPr/>
          <p:nvPr/>
        </p:nvSpPr>
        <p:spPr>
          <a:xfrm>
            <a:off x="6217920" y="1956816"/>
            <a:ext cx="530352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121408"/>
            <a:ext cx="4901183"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7 conformes · 5 falhas</a:t>
            </a:r>
          </a:p>
        </p:txBody>
      </p:sp>
      <p:sp>
        <p:nvSpPr>
          <p:cNvPr id="13" name="TextBox 12"/>
          <p:cNvSpPr txBox="1"/>
          <p:nvPr/>
        </p:nvSpPr>
        <p:spPr>
          <a:xfrm>
            <a:off x="6419088" y="2752344"/>
            <a:ext cx="4901183"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Verificação manual</a:t>
            </a:r>
          </a:p>
        </p:txBody>
      </p:sp>
      <p:sp>
        <p:nvSpPr>
          <p:cNvPr id="14" name="TextBox 13"/>
          <p:cNvSpPr txBox="1"/>
          <p:nvPr/>
        </p:nvSpPr>
        <p:spPr>
          <a:xfrm>
            <a:off x="6419088" y="3602736"/>
            <a:ext cx="4901183" cy="150876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12 itens. A auditoria identificou barreiras a corrigir.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TRANSPARÊNCIA E RESPONSABILIDADE</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Dois usos de inteligência artificial</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Fonte: declaração inicial do manuscrito e capítulo 6.</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26</a:t>
            </a:r>
          </a:p>
        </p:txBody>
      </p:sp>
      <p:sp>
        <p:nvSpPr>
          <p:cNvPr id="7" name="Rectangle 6"/>
          <p:cNvSpPr/>
          <p:nvPr/>
        </p:nvSpPr>
        <p:spPr>
          <a:xfrm>
            <a:off x="640080" y="1956816"/>
            <a:ext cx="530352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21408"/>
            <a:ext cx="4901183"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Na elaboração</a:t>
            </a:r>
          </a:p>
        </p:txBody>
      </p:sp>
      <p:sp>
        <p:nvSpPr>
          <p:cNvPr id="9" name="TextBox 8"/>
          <p:cNvSpPr txBox="1"/>
          <p:nvPr/>
        </p:nvSpPr>
        <p:spPr>
          <a:xfrm>
            <a:off x="841247" y="2752344"/>
            <a:ext cx="4901183"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Ferramentas de apoio</a:t>
            </a:r>
          </a:p>
        </p:txBody>
      </p:sp>
      <p:sp>
        <p:nvSpPr>
          <p:cNvPr id="10" name="TextBox 9"/>
          <p:cNvSpPr txBox="1"/>
          <p:nvPr/>
        </p:nvSpPr>
        <p:spPr>
          <a:xfrm>
            <a:off x="841247" y="3602736"/>
            <a:ext cx="4901183" cy="150876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Pesquisa e organização, texto, código e ficheiros complementares.</a:t>
            </a:r>
          </a:p>
        </p:txBody>
      </p:sp>
      <p:sp>
        <p:nvSpPr>
          <p:cNvPr id="11" name="Rectangle 10"/>
          <p:cNvSpPr/>
          <p:nvPr/>
        </p:nvSpPr>
        <p:spPr>
          <a:xfrm>
            <a:off x="6217920" y="1956816"/>
            <a:ext cx="530352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121408"/>
            <a:ext cx="4901183" cy="438912"/>
          </a:xfrm>
          <a:prstGeom prst="rect">
            <a:avLst/>
          </a:prstGeom>
          <a:noFill/>
        </p:spPr>
        <p:txBody>
          <a:bodyPr wrap="square" lIns="0" rIns="0" tIns="22860" bIns="22860">
            <a:spAutoFit/>
          </a:bodyPr>
          <a:lstStyle/>
          <a:p>
            <a:pPr>
              <a:lnSpc>
                <a:spcPct val="110000"/>
              </a:lnSpc>
              <a:spcAft>
                <a:spcPts val="700"/>
              </a:spcAft>
              <a:defRPr sz="2800" b="1">
                <a:solidFill>
                  <a:srgbClr val="007C78"/>
                </a:solidFill>
                <a:latin typeface="Liberation Sans"/>
              </a:defRPr>
            </a:pPr>
            <a:r>
              <a:t>No HandFab</a:t>
            </a:r>
          </a:p>
        </p:txBody>
      </p:sp>
      <p:sp>
        <p:nvSpPr>
          <p:cNvPr id="13" name="TextBox 12"/>
          <p:cNvSpPr txBox="1"/>
          <p:nvPr/>
        </p:nvSpPr>
        <p:spPr>
          <a:xfrm>
            <a:off x="6419088" y="2752344"/>
            <a:ext cx="4901183" cy="777240"/>
          </a:xfrm>
          <a:prstGeom prst="rect">
            <a:avLst/>
          </a:prstGeom>
          <a:noFill/>
        </p:spPr>
        <p:txBody>
          <a:bodyPr wrap="square" lIns="0" rIns="0" tIns="22860" bIns="22860">
            <a:spAutoFit/>
          </a:bodyPr>
          <a:lstStyle/>
          <a:p>
            <a:pPr>
              <a:lnSpc>
                <a:spcPct val="110000"/>
              </a:lnSpc>
              <a:spcAft>
                <a:spcPts val="700"/>
              </a:spcAft>
              <a:defRPr sz="2300" b="1">
                <a:solidFill>
                  <a:srgbClr val="193536"/>
                </a:solidFill>
                <a:latin typeface="Liberation Sans"/>
              </a:defRPr>
            </a:pPr>
            <a:r>
              <a:t>Objeto de investigação</a:t>
            </a:r>
          </a:p>
        </p:txBody>
      </p:sp>
      <p:sp>
        <p:nvSpPr>
          <p:cNvPr id="14" name="TextBox 13"/>
          <p:cNvSpPr txBox="1"/>
          <p:nvPr/>
        </p:nvSpPr>
        <p:spPr>
          <a:xfrm>
            <a:off x="6419088" y="3602736"/>
            <a:ext cx="4901183" cy="1508760"/>
          </a:xfrm>
          <a:prstGeom prst="rect">
            <a:avLst/>
          </a:prstGeom>
          <a:noFill/>
        </p:spPr>
        <p:txBody>
          <a:bodyPr wrap="square" lIns="0" rIns="0" tIns="22860" bIns="22860">
            <a:spAutoFit/>
          </a:bodyPr>
          <a:lstStyle/>
          <a:p>
            <a:pPr>
              <a:lnSpc>
                <a:spcPct val="110000"/>
              </a:lnSpc>
              <a:spcAft>
                <a:spcPts val="700"/>
              </a:spcAft>
              <a:defRPr sz="1900" b="0">
                <a:solidFill>
                  <a:srgbClr val="566B6A"/>
                </a:solidFill>
                <a:latin typeface="Liberation Sans"/>
              </a:defRPr>
            </a:pPr>
            <a:r>
              <a:t>Sugestões iniciais de parâmetros, sujeitas a revisão.</a:t>
            </a:r>
          </a:p>
        </p:txBody>
      </p:sp>
      <p:sp>
        <p:nvSpPr>
          <p:cNvPr id="15" name="TextBox 14"/>
          <p:cNvSpPr txBox="1"/>
          <p:nvPr/>
        </p:nvSpPr>
        <p:spPr>
          <a:xfrm>
            <a:off x="859536" y="5477256"/>
            <a:ext cx="10332720" cy="640080"/>
          </a:xfrm>
          <a:prstGeom prst="rect">
            <a:avLst/>
          </a:prstGeom>
          <a:noFill/>
        </p:spPr>
        <p:txBody>
          <a:bodyPr wrap="square" lIns="0" rIns="0" tIns="22860" bIns="22860">
            <a:spAutoFit/>
          </a:bodyPr>
          <a:lstStyle/>
          <a:p>
            <a:pPr>
              <a:lnSpc>
                <a:spcPct val="110000"/>
              </a:lnSpc>
              <a:spcAft>
                <a:spcPts val="700"/>
              </a:spcAft>
              <a:defRPr sz="2100" b="1">
                <a:solidFill>
                  <a:srgbClr val="007C78"/>
                </a:solidFill>
                <a:latin typeface="Liberation Sans"/>
              </a:defRPr>
            </a:pPr>
            <a:r>
              <a:t>O autor assume a responsabilidade pelo conteúdo e pelas decisões do projeto.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REFERÊNCIAS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Referências: design e investigação</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Seleção da bibliografia do manuscrito · A ligação ao HandFab é uma interpretação aplicada ao projeto.</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27</a:t>
            </a:r>
          </a:p>
        </p:txBody>
      </p:sp>
      <p:sp>
        <p:nvSpPr>
          <p:cNvPr id="7" name="TextBox 6"/>
          <p:cNvSpPr txBox="1"/>
          <p:nvPr/>
        </p:nvSpPr>
        <p:spPr>
          <a:xfrm>
            <a:off x="731520" y="1847088"/>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Cross (1982)</a:t>
            </a:r>
          </a:p>
        </p:txBody>
      </p:sp>
      <p:sp>
        <p:nvSpPr>
          <p:cNvPr id="8" name="TextBox 7"/>
          <p:cNvSpPr txBox="1"/>
          <p:nvPr/>
        </p:nvSpPr>
        <p:spPr>
          <a:xfrm>
            <a:off x="3685032" y="1847088"/>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Designerly ways of knowing. Design Studies, 3(4), 221-227. DOI: 10.1016/0142-694X(82)90040-0</a:t>
            </a:r>
          </a:p>
        </p:txBody>
      </p:sp>
      <p:sp>
        <p:nvSpPr>
          <p:cNvPr id="9" name="TextBox 8"/>
          <p:cNvSpPr txBox="1"/>
          <p:nvPr/>
        </p:nvSpPr>
        <p:spPr>
          <a:xfrm>
            <a:off x="731520" y="2660904"/>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Fischer et al. (2004)</a:t>
            </a:r>
          </a:p>
        </p:txBody>
      </p:sp>
      <p:sp>
        <p:nvSpPr>
          <p:cNvPr id="10" name="TextBox 9"/>
          <p:cNvSpPr txBox="1"/>
          <p:nvPr/>
        </p:nvSpPr>
        <p:spPr>
          <a:xfrm>
            <a:off x="3685032" y="2660904"/>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Meta-design: A manifesto for end-user development. Communications of the ACM, 47(9), 33-37. DOI: 10.1145/1015864.1015884</a:t>
            </a:r>
          </a:p>
        </p:txBody>
      </p:sp>
      <p:sp>
        <p:nvSpPr>
          <p:cNvPr id="11" name="TextBox 10"/>
          <p:cNvSpPr txBox="1"/>
          <p:nvPr/>
        </p:nvSpPr>
        <p:spPr>
          <a:xfrm>
            <a:off x="731520" y="3474720"/>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Frayling (1994)</a:t>
            </a:r>
          </a:p>
        </p:txBody>
      </p:sp>
      <p:sp>
        <p:nvSpPr>
          <p:cNvPr id="12" name="TextBox 11"/>
          <p:cNvSpPr txBox="1"/>
          <p:nvPr/>
        </p:nvSpPr>
        <p:spPr>
          <a:xfrm>
            <a:off x="3685032" y="3474720"/>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Research in art and design. Royal College of Art Research Papers, 1(1).</a:t>
            </a:r>
          </a:p>
        </p:txBody>
      </p:sp>
      <p:sp>
        <p:nvSpPr>
          <p:cNvPr id="13" name="TextBox 12"/>
          <p:cNvSpPr txBox="1"/>
          <p:nvPr/>
        </p:nvSpPr>
        <p:spPr>
          <a:xfrm>
            <a:off x="731520" y="4288536"/>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Zimmerman et al. (2007)</a:t>
            </a:r>
          </a:p>
        </p:txBody>
      </p:sp>
      <p:sp>
        <p:nvSpPr>
          <p:cNvPr id="14" name="TextBox 13"/>
          <p:cNvSpPr txBox="1"/>
          <p:nvPr/>
        </p:nvSpPr>
        <p:spPr>
          <a:xfrm>
            <a:off x="3685032" y="4288536"/>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Research through design as a method for interaction design research in HCI. CHI, 493-502. DOI: 10.1145/1240624.1240704</a:t>
            </a:r>
          </a:p>
        </p:txBody>
      </p:sp>
      <p:sp>
        <p:nvSpPr>
          <p:cNvPr id="15" name="TextBox 14"/>
          <p:cNvSpPr txBox="1"/>
          <p:nvPr/>
        </p:nvSpPr>
        <p:spPr>
          <a:xfrm>
            <a:off x="731520" y="5102352"/>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Design Council (2007)</a:t>
            </a:r>
          </a:p>
        </p:txBody>
      </p:sp>
      <p:sp>
        <p:nvSpPr>
          <p:cNvPr id="16" name="TextBox 15"/>
          <p:cNvSpPr txBox="1"/>
          <p:nvPr/>
        </p:nvSpPr>
        <p:spPr>
          <a:xfrm>
            <a:off x="3685032" y="5102352"/>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Eleven lessons: Managing design in eleven global brands: A study of the design process.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411480" y="411480"/>
            <a:ext cx="109728" cy="274320"/>
          </a:xfrm>
          <a:prstGeom prst="rect">
            <a:avLst/>
          </a:prstGeom>
          <a:solidFill>
            <a:srgbClr val="007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789920" cy="274320"/>
          </a:xfrm>
          <a:prstGeom prst="rect">
            <a:avLst/>
          </a:prstGeom>
          <a:noFill/>
        </p:spPr>
        <p:txBody>
          <a:bodyPr wrap="square" lIns="0" rIns="0" tIns="22860" bIns="22860">
            <a:spAutoFit/>
          </a:bodyPr>
          <a:lstStyle/>
          <a:p>
            <a:pPr>
              <a:lnSpc>
                <a:spcPct val="110000"/>
              </a:lnSpc>
              <a:spcAft>
                <a:spcPts val="700"/>
              </a:spcAft>
              <a:defRPr sz="1100" b="1">
                <a:solidFill>
                  <a:srgbClr val="007C78"/>
                </a:solidFill>
                <a:latin typeface="Liberation Sans"/>
              </a:defRPr>
            </a:pPr>
            <a:r>
              <a:t>APOIO · REFERÊNCIAS</a:t>
            </a:r>
          </a:p>
        </p:txBody>
      </p:sp>
      <p:sp>
        <p:nvSpPr>
          <p:cNvPr id="4" name="TextBox 3"/>
          <p:cNvSpPr txBox="1"/>
          <p:nvPr/>
        </p:nvSpPr>
        <p:spPr>
          <a:xfrm>
            <a:off x="640080" y="859536"/>
            <a:ext cx="10881360" cy="914400"/>
          </a:xfrm>
          <a:prstGeom prst="rect">
            <a:avLst/>
          </a:prstGeom>
          <a:noFill/>
        </p:spPr>
        <p:txBody>
          <a:bodyPr wrap="square" lIns="0" rIns="0" tIns="22860" bIns="22860">
            <a:spAutoFit/>
          </a:bodyPr>
          <a:lstStyle/>
          <a:p>
            <a:pPr>
              <a:lnSpc>
                <a:spcPct val="110000"/>
              </a:lnSpc>
              <a:spcAft>
                <a:spcPts val="700"/>
              </a:spcAft>
              <a:defRPr sz="3200" b="1">
                <a:solidFill>
                  <a:srgbClr val="193536"/>
                </a:solidFill>
                <a:latin typeface="Liberation Sans"/>
              </a:defRPr>
            </a:pPr>
            <a:r>
              <a:t>Referências: próteses e antropometria</a:t>
            </a:r>
          </a:p>
        </p:txBody>
      </p:sp>
      <p:sp>
        <p:nvSpPr>
          <p:cNvPr id="5" name="TextBox 4"/>
          <p:cNvSpPr txBox="1"/>
          <p:nvPr/>
        </p:nvSpPr>
        <p:spPr>
          <a:xfrm>
            <a:off x="640080" y="6364224"/>
            <a:ext cx="10561320" cy="237744"/>
          </a:xfrm>
          <a:prstGeom prst="rect">
            <a:avLst/>
          </a:prstGeom>
          <a:noFill/>
        </p:spPr>
        <p:txBody>
          <a:bodyPr wrap="square" lIns="0" rIns="0" tIns="22860" bIns="22860">
            <a:spAutoFit/>
          </a:bodyPr>
          <a:lstStyle/>
          <a:p>
            <a:pPr>
              <a:lnSpc>
                <a:spcPct val="110000"/>
              </a:lnSpc>
              <a:spcAft>
                <a:spcPts val="700"/>
              </a:spcAft>
              <a:defRPr sz="1000" b="0">
                <a:solidFill>
                  <a:srgbClr val="566B6A"/>
                </a:solidFill>
                <a:latin typeface="Liberation Sans"/>
              </a:defRPr>
            </a:pPr>
            <a:r>
              <a:t>Dados e atribuições: Suplemento 1 · Ensaios do projeto: Suplementos 2-4 · Obras distintas com funções próprias.</a:t>
            </a:r>
          </a:p>
        </p:txBody>
      </p:sp>
      <p:sp>
        <p:nvSpPr>
          <p:cNvPr id="6" name="TextBox 5"/>
          <p:cNvSpPr txBox="1"/>
          <p:nvPr/>
        </p:nvSpPr>
        <p:spPr>
          <a:xfrm>
            <a:off x="11201400" y="6336792"/>
            <a:ext cx="365760" cy="274320"/>
          </a:xfrm>
          <a:prstGeom prst="rect">
            <a:avLst/>
          </a:prstGeom>
          <a:noFill/>
        </p:spPr>
        <p:txBody>
          <a:bodyPr wrap="square" lIns="0" rIns="0" tIns="22860" bIns="22860">
            <a:spAutoFit/>
          </a:bodyPr>
          <a:lstStyle/>
          <a:p>
            <a:pPr algn="r">
              <a:lnSpc>
                <a:spcPct val="110000"/>
              </a:lnSpc>
              <a:spcAft>
                <a:spcPts val="700"/>
              </a:spcAft>
              <a:defRPr sz="1100" b="1">
                <a:solidFill>
                  <a:srgbClr val="193536"/>
                </a:solidFill>
                <a:latin typeface="Liberation Sans"/>
              </a:defRPr>
            </a:pPr>
            <a:r>
              <a:t>28</a:t>
            </a:r>
          </a:p>
        </p:txBody>
      </p:sp>
      <p:sp>
        <p:nvSpPr>
          <p:cNvPr id="7" name="TextBox 6"/>
          <p:cNvSpPr txBox="1"/>
          <p:nvPr/>
        </p:nvSpPr>
        <p:spPr>
          <a:xfrm>
            <a:off x="731520" y="1847088"/>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Manero et al. (2019)</a:t>
            </a:r>
          </a:p>
        </p:txBody>
      </p:sp>
      <p:sp>
        <p:nvSpPr>
          <p:cNvPr id="8" name="TextBox 7"/>
          <p:cNvSpPr txBox="1"/>
          <p:nvPr/>
        </p:nvSpPr>
        <p:spPr>
          <a:xfrm>
            <a:off x="3685032" y="1847088"/>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Implementation of 3D printing technology in the field of prosthetics: Past, present, and future. DOI: 10.3390/ijerph16091641</a:t>
            </a:r>
          </a:p>
        </p:txBody>
      </p:sp>
      <p:sp>
        <p:nvSpPr>
          <p:cNvPr id="9" name="TextBox 8"/>
          <p:cNvSpPr txBox="1"/>
          <p:nvPr/>
        </p:nvSpPr>
        <p:spPr>
          <a:xfrm>
            <a:off x="731520" y="2660904"/>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Cabibihan et al. (2021)</a:t>
            </a:r>
          </a:p>
        </p:txBody>
      </p:sp>
      <p:sp>
        <p:nvSpPr>
          <p:cNvPr id="10" name="TextBox 9"/>
          <p:cNvSpPr txBox="1"/>
          <p:nvPr/>
        </p:nvSpPr>
        <p:spPr>
          <a:xfrm>
            <a:off x="3685032" y="2660904"/>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Suitability of the openly accessible 3D printed prosthetic hands for war-wounded children. DOI: 10.3389/frobt.2020.594196</a:t>
            </a:r>
          </a:p>
        </p:txBody>
      </p:sp>
      <p:sp>
        <p:nvSpPr>
          <p:cNvPr id="11" name="TextBox 10"/>
          <p:cNvSpPr txBox="1"/>
          <p:nvPr/>
        </p:nvSpPr>
        <p:spPr>
          <a:xfrm>
            <a:off x="731520" y="3474720"/>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Gordon et al. (1989; 2014)</a:t>
            </a:r>
          </a:p>
        </p:txBody>
      </p:sp>
      <p:sp>
        <p:nvSpPr>
          <p:cNvPr id="12" name="TextBox 11"/>
          <p:cNvSpPr txBox="1"/>
          <p:nvPr/>
        </p:nvSpPr>
        <p:spPr>
          <a:xfrm>
            <a:off x="3685032" y="3474720"/>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1988 / 2012 anthropometric survey of U.S. Army personnel: Methods and summary statistics. Relatórios distintos: ANSUR 1988 / ANSUR II.</a:t>
            </a:r>
          </a:p>
        </p:txBody>
      </p:sp>
      <p:sp>
        <p:nvSpPr>
          <p:cNvPr id="13" name="TextBox 12"/>
          <p:cNvSpPr txBox="1"/>
          <p:nvPr/>
        </p:nvSpPr>
        <p:spPr>
          <a:xfrm>
            <a:off x="731520" y="4288536"/>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TU Delft · DINED (s.d.)</a:t>
            </a:r>
          </a:p>
        </p:txBody>
      </p:sp>
      <p:sp>
        <p:nvSpPr>
          <p:cNvPr id="14" name="TextBox 13"/>
          <p:cNvSpPr txBox="1"/>
          <p:nvPr/>
        </p:nvSpPr>
        <p:spPr>
          <a:xfrm>
            <a:off x="3685032" y="4288536"/>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DINED: 1D anthropometric database [Base de dados]. Consulta: 02/05/2026. https://dined.io.tudelft.nl/en/database/tool</a:t>
            </a:r>
          </a:p>
        </p:txBody>
      </p:sp>
      <p:sp>
        <p:nvSpPr>
          <p:cNvPr id="15" name="TextBox 14"/>
          <p:cNvSpPr txBox="1"/>
          <p:nvPr/>
        </p:nvSpPr>
        <p:spPr>
          <a:xfrm>
            <a:off x="731520" y="5102352"/>
            <a:ext cx="2788920" cy="640080"/>
          </a:xfrm>
          <a:prstGeom prst="rect">
            <a:avLst/>
          </a:prstGeom>
          <a:noFill/>
        </p:spPr>
        <p:txBody>
          <a:bodyPr wrap="square" lIns="0" rIns="0" tIns="22860" bIns="22860">
            <a:spAutoFit/>
          </a:bodyPr>
          <a:lstStyle/>
          <a:p>
            <a:pPr>
              <a:lnSpc>
                <a:spcPct val="110000"/>
              </a:lnSpc>
              <a:spcAft>
                <a:spcPts val="700"/>
              </a:spcAft>
              <a:defRPr sz="1800" b="1">
                <a:solidFill>
                  <a:srgbClr val="007C78"/>
                </a:solidFill>
                <a:latin typeface="Liberation Sans"/>
              </a:defRPr>
            </a:pPr>
            <a:r>
              <a:t>ISO (2017)</a:t>
            </a:r>
          </a:p>
        </p:txBody>
      </p:sp>
      <p:sp>
        <p:nvSpPr>
          <p:cNvPr id="16" name="TextBox 15"/>
          <p:cNvSpPr txBox="1"/>
          <p:nvPr/>
        </p:nvSpPr>
        <p:spPr>
          <a:xfrm>
            <a:off x="3685032" y="5102352"/>
            <a:ext cx="7754112" cy="713232"/>
          </a:xfrm>
          <a:prstGeom prst="rect">
            <a:avLst/>
          </a:prstGeom>
          <a:noFill/>
        </p:spPr>
        <p:txBody>
          <a:bodyPr wrap="square" lIns="0" rIns="0" tIns="22860" bIns="22860">
            <a:spAutoFit/>
          </a:bodyPr>
          <a:lstStyle/>
          <a:p>
            <a:pPr>
              <a:lnSpc>
                <a:spcPct val="110000"/>
              </a:lnSpc>
              <a:spcAft>
                <a:spcPts val="700"/>
              </a:spcAft>
              <a:defRPr sz="1700" b="0">
                <a:solidFill>
                  <a:srgbClr val="193536"/>
                </a:solidFill>
                <a:latin typeface="Liberation Sans"/>
              </a:defRPr>
            </a:pPr>
            <a:r>
              <a:t>ISO 7250-1:2017. Basic human body measurements for technological design: Part 1: Body measurement definitions and landmarks (2.ª 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HandFab: Defesa do projeto de mestrado</dc:title>
  <dc:subject>Design e Desenvolvimento de Produto · UPCA</dc:subject>
  <dc:creator>Pedro Miguel Candeias da Silva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