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1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2.xml" ContentType="application/vnd.openxmlformats-officedocument.presentationml.slide+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16.xml" ContentType="application/vnd.openxmlformats-officedocument.presentationml.notesSlide+xml"/>
  <Override PartName="/ppt/notesSlides/notesSlide10.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ldImg"/>
          </p:nvPr>
        </p:nvSpPr>
        <p:spPr>
          <a:xfrm>
            <a:off x="0" y="812520"/>
            <a:ext cx="0" cy="0"/>
          </a:xfrm>
          <a:prstGeom prst="rect">
            <a:avLst/>
          </a:prstGeom>
          <a:noFill/>
          <a:ln w="0">
            <a:noFill/>
          </a:ln>
        </p:spPr>
        <p:txBody>
          <a:bodyPr lIns="0" tIns="0" rIns="0" bIns="0" anchor="ctr">
            <a:noAutofit/>
          </a:bodyPr>
          <a:p>
            <a:pPr algn="ctr" defTabSz="457200"/>
            <a:r>
              <a:rPr lang="en-US" sz="4400" b="0" u="none" strike="noStrike">
                <a:solidFill>
                  <a:schemeClr val="dk1"/>
                </a:solidFill>
                <a:effectLst/>
                <a:uFillTx/>
                <a:latin typeface="Calibri"/>
              </a:rPr>
              <a:t>Click to move the slide</a:t>
            </a:r>
            <a:endParaRPr lang="en-US" sz="4400" b="0" u="none" strike="noStrike">
              <a:solidFill>
                <a:schemeClr val="dk1"/>
              </a:solidFill>
              <a:effectLst/>
              <a:uFillTx/>
              <a:latin typeface="Calibri"/>
            </a:endParaRP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pt-PT" sz="2000" b="0" u="none" strike="noStrike">
                <a:solidFill>
                  <a:srgbClr val="000000"/>
                </a:solidFill>
                <a:effectLst/>
                <a:uFillTx/>
                <a:latin typeface="Arial"/>
              </a:rPr>
              <a:t>Click to edit the notes format</a:t>
            </a:r>
            <a:endParaRPr lang="pt-PT"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pt-PT" sz="1400" b="0" u="none" strike="noStrike">
                <a:solidFill>
                  <a:srgbClr val="000000"/>
                </a:solidFill>
                <a:effectLst/>
                <a:uFillTx/>
                <a:latin typeface="Times New Roman"/>
              </a:rPr>
              <a:t>&lt;header&gt;</a:t>
            </a:r>
            <a:endParaRPr lang="pt-PT" sz="1400" b="0" u="none" strike="noStrike">
              <a:solidFill>
                <a:srgbClr val="000000"/>
              </a:solidFill>
              <a:effectLst/>
              <a:uFillTx/>
              <a:latin typeface="Times New Roman"/>
            </a:endParaRP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pt-PT" sz="1400" b="0" u="none" strike="noStrike">
                <a:solidFill>
                  <a:srgbClr val="000000"/>
                </a:solidFill>
                <a:effectLst/>
                <a:uFillTx/>
                <a:latin typeface="Times New Roman"/>
              </a:defRPr>
            </a:lvl1pPr>
          </a:lstStyle>
          <a:p>
            <a:pPr indent="0" algn="r">
              <a:buNone/>
            </a:pPr>
            <a:r>
              <a:rPr lang="pt-PT" sz="1400" b="0" u="none" strike="noStrike">
                <a:solidFill>
                  <a:srgbClr val="000000"/>
                </a:solidFill>
                <a:effectLst/>
                <a:uFillTx/>
                <a:latin typeface="Times New Roman"/>
              </a:rPr>
              <a:t>&lt;date/time&gt;</a:t>
            </a:r>
            <a:endParaRPr lang="pt-PT" sz="1400" b="0" u="none" strike="noStrike">
              <a:solidFill>
                <a:srgbClr val="000000"/>
              </a:solidFill>
              <a:effectLst/>
              <a:uFillTx/>
              <a:latin typeface="Times New Roman"/>
            </a:endParaRP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pt-PT" sz="1400" b="0" u="none" strike="noStrike">
                <a:solidFill>
                  <a:srgbClr val="000000"/>
                </a:solidFill>
                <a:effectLst/>
                <a:uFillTx/>
                <a:latin typeface="Times New Roman"/>
              </a:defRPr>
            </a:lvl1pPr>
          </a:lstStyle>
          <a:p>
            <a:pPr indent="0" algn="l">
              <a:buNone/>
            </a:pPr>
            <a:r>
              <a:rPr lang="pt-PT" sz="1400" b="0" u="none" strike="noStrike">
                <a:solidFill>
                  <a:srgbClr val="000000"/>
                </a:solidFill>
                <a:effectLst/>
                <a:uFillTx/>
                <a:latin typeface="Times New Roman"/>
              </a:rPr>
              <a:t>&lt;footer&gt;</a:t>
            </a:r>
            <a:endParaRPr lang="pt-PT" sz="1400" b="0" u="none" strike="noStrike">
              <a:solidFill>
                <a:srgbClr val="000000"/>
              </a:solidFill>
              <a:effectLst/>
              <a:uFillTx/>
              <a:latin typeface="Times New Roman"/>
            </a:endParaRP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pt-PT" sz="1400" b="0" u="none" strike="noStrike">
                <a:solidFill>
                  <a:srgbClr val="000000"/>
                </a:solidFill>
                <a:effectLst/>
                <a:uFillTx/>
                <a:latin typeface="Times New Roman"/>
              </a:defRPr>
            </a:lvl1pPr>
          </a:lstStyle>
          <a:p>
            <a:pPr indent="0" algn="r">
              <a:buNone/>
            </a:pPr>
            <a:fld id="{4A96310A-7DCE-43C4-BF1C-2517F7D0C6A0}" type="slidenum">
              <a:rPr lang="pt-PT" sz="1400" b="0" u="none" strike="noStrike">
                <a:solidFill>
                  <a:srgbClr val="000000"/>
                </a:solidFill>
                <a:effectLst/>
                <a:uFillTx/>
                <a:latin typeface="Times New Roman"/>
              </a:rPr>
              <a:t>&lt;number&gt;</a:t>
            </a:fld>
            <a:endParaRPr lang="pt-PT"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5" name="PlaceHolder 1"/>
          <p:cNvSpPr>
            <a:spLocks noGrp="1"/>
          </p:cNvSpPr>
          <p:nvPr>
            <p:ph type="sldImg"/>
          </p:nvPr>
        </p:nvSpPr>
        <p:spPr>
          <a:xfrm>
            <a:off x="1143000" y="685800"/>
            <a:ext cx="4571640" cy="3428640"/>
          </a:xfrm>
          <a:prstGeom prst="rect">
            <a:avLst/>
          </a:prstGeom>
          <a:ln w="0">
            <a:noFill/>
          </a:ln>
        </p:spPr>
      </p:sp>
      <p:sp>
        <p:nvSpPr>
          <p:cNvPr id="49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Tempo para me orientar: 0:30 no percurso principal; 1:00 no treino desenvolvido. Confirmar no ensaio.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QUE QUERO DIZER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Bom dia. Sou o Pedro Candeias e este é o projeto que desenvolvi com a orientação do Doutor Demétrio Matos.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Quis perceber como podemos configurar uma mão protésica para impressão 3D e verificar se as escolhas feitas no ecrã chegam à peça como esperamos. Para estudar isso, desenvolvi o HandFab, com modelos paramétricos e apoio de inteligência artificial. Vou mostrar algumas decisões que tomei e o que aprendi ao testar o resultado.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Posso começar pela fotografia. É uma montagem feita durante o projeto e ajuda-me a mostrar logo a ligação entre a configuração no ecrã e a peça física. </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LEMBRAR-ME (não ler ao júri)</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Começar com calma e olhar para o júri. O título já está no ecrã; posso passar diretamente ao que quis estudar. Ajustar a saudação à hora da prova.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Imagem: produção do autor · Suplemento 4 · Phoenix, observação de montagem em bancada.</a:t>
            </a:r>
            <a:endParaRPr lang="pt-PT" sz="2000" b="0" u="none" strike="noStrike">
              <a:solidFill>
                <a:srgbClr val="000000"/>
              </a:solidFill>
              <a:effectLst/>
              <a:uFillTx/>
              <a:latin typeface="Arial"/>
            </a:endParaRPr>
          </a:p>
        </p:txBody>
      </p:sp>
      <p:sp>
        <p:nvSpPr>
          <p:cNvPr id="497" name="PlaceHolder 3"/>
          <p:cNvSpPr>
            <a:spLocks noGrp="1"/>
          </p:cNvSpPr>
          <p:nvPr>
            <p:ph type="sldNum" idx="3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473FC41-6078-4478-AC81-806C828FFA75}"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8" name="PlaceHolder 1"/>
          <p:cNvSpPr>
            <a:spLocks noGrp="1"/>
          </p:cNvSpPr>
          <p:nvPr>
            <p:ph type="sldImg"/>
          </p:nvPr>
        </p:nvSpPr>
        <p:spPr>
          <a:xfrm>
            <a:off x="1143000" y="685800"/>
            <a:ext cx="4571640" cy="3428640"/>
          </a:xfrm>
          <a:prstGeom prst="rect">
            <a:avLst/>
          </a:prstGeom>
          <a:ln w="0">
            <a:noFill/>
          </a:ln>
        </p:spPr>
      </p:sp>
      <p:sp>
        <p:nvSpPr>
          <p:cNvPr id="49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Tempo para me orientar: 1:00 no percurso principal; 1:30 no treino desenvolvido. Confirmar no ensaio.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QUE QUERO DIZER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ponto de partida é simples: introduzo uma largura e espero obter uma peça com uma dimensão correspondente. O problema está no que acontece entre esses dois momentos.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valor entra num parâmetro e passa pelas regras do modelo. Uma regra pode aumentar a mão inteira. Outra pode alterar só uma parte. Preciso de perceber qual destas situações estou a controlar.</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Há ainda uma diferença importante entre medir uma mão e medir a dimensão exterior de uma peça. Mesmo que ambos os valores estejam em milímetros, podem representar coisas diferentes.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Foi aqui que situei o problema de design: definir o que pode ser alterado e verificar o efeito dessa escolha. Quem usa a configuração precisa de perceber até onde o modelo consegue responder ao pedido.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um exemplo, usar a largura e o comprimento: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 Posso querer aumentar só a largura, mas a regra do modelo também aumentar o comprimento. Tenho de decidir se essa ligação faz sentido e explicar o efeito a quem configura. </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LEMBRAR-ME (não ler ao júri)</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Este exemplo prepara o caso do Paraglider, mais à frente.</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Acompanhar os quatro cartões com o cursor. Não me demorar numa definição abstrata de parâmetro; o exemplo da largura chega para tornar o problema claro.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Contexto: Manero et al. (2019); Cabibihan et al. (2021) · Problema específico: manuscrito, 1.2 e 4.3-4.4.</a:t>
            </a:r>
            <a:endParaRPr lang="pt-PT" sz="2000" b="0" u="none" strike="noStrike">
              <a:solidFill>
                <a:srgbClr val="000000"/>
              </a:solidFill>
              <a:effectLst/>
              <a:uFillTx/>
              <a:latin typeface="Arial"/>
            </a:endParaRPr>
          </a:p>
        </p:txBody>
      </p:sp>
      <p:sp>
        <p:nvSpPr>
          <p:cNvPr id="500" name="PlaceHolder 3"/>
          <p:cNvSpPr>
            <a:spLocks noGrp="1"/>
          </p:cNvSpPr>
          <p:nvPr>
            <p:ph type="sldNum" idx="3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FD013A1-E211-4306-9165-FFAD6D508C32}"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1" name="PlaceHolder 1"/>
          <p:cNvSpPr>
            <a:spLocks noGrp="1"/>
          </p:cNvSpPr>
          <p:nvPr>
            <p:ph type="sldImg"/>
          </p:nvPr>
        </p:nvSpPr>
        <p:spPr>
          <a:xfrm>
            <a:off x="1143000" y="685800"/>
            <a:ext cx="4571640" cy="3428640"/>
          </a:xfrm>
          <a:prstGeom prst="rect">
            <a:avLst/>
          </a:prstGeom>
          <a:ln w="0">
            <a:noFill/>
          </a:ln>
        </p:spPr>
      </p:sp>
      <p:sp>
        <p:nvSpPr>
          <p:cNvPr id="50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Tempo para me orientar: 1:00 no percurso principal; 1:30 no treino desenvolvido. Confirmar no ensaio.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QUE QUERO DIZER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Estas são as perguntas que orientaram o trabalho, numa versão resumida. As formulações completas estão nos diapositivos de apoio.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Na primeira, quis perceber como o design pode apoiar a personalização, com métodos paramétricos e IA, mantendo o controlo sobre as decisões. A pergunta inclui o conforto e a função da prótese.</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 segunda diz respeito à avaliação: como verificar a eficácia, a usabilidade, a durabilidade e a possibilidade de reproduzir os resultados.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 terceira liga os requisitos do produto à experiência das pessoas. Inclui a aceitação da prótese e o respeito pela dignidade e autonomia de quem a utiliza.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 minha resposta ficou na parte técnica e dimensional. Verifiquei o funcionamento da configuração e acompanhei o resultado até às peças. Não trabalhei com participantes, por isso a experiência de utilização continua por avaliar.</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me perguntarem qual é a diferença entre verificar o funcionamento técnico e avaliar a experiência de utilização, posso explicar com um exemplo: medir uma peça permite comparar as suas dimensões com as da malha digital. Para perceber se é confortável, preciso de observar a sua utilização e ouvir a pessoa que a usa. Na interface, os testes verificam se a tarefa é executada. Para perceber se os controlos são fáceis de compreender, preciso de observar pessoas a realizar essa tarefa.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LEMBRAR-ME (não ler ao júri)</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Dizer claramente onde ficou o estudo e seguir em frente. Não preciso de repetir a lista de limitações em todos os diapositivos. Se pedirem a formulação exata de uma pergunta, ir ao diapositivo 18.</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Síntese das perguntas aprovadas · Formulações integrais no diapositivo 18 · Tabela 31.</a:t>
            </a:r>
            <a:endParaRPr lang="pt-PT" sz="2000" b="0" u="none" strike="noStrike">
              <a:solidFill>
                <a:srgbClr val="000000"/>
              </a:solidFill>
              <a:effectLst/>
              <a:uFillTx/>
              <a:latin typeface="Arial"/>
            </a:endParaRPr>
          </a:p>
        </p:txBody>
      </p:sp>
      <p:sp>
        <p:nvSpPr>
          <p:cNvPr id="503" name="PlaceHolder 3"/>
          <p:cNvSpPr>
            <a:spLocks noGrp="1"/>
          </p:cNvSpPr>
          <p:nvPr>
            <p:ph type="sldNum" idx="3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0E35289-EFC3-4DB9-A8A5-FD1584315DC0}"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4" name="PlaceHolder 1"/>
          <p:cNvSpPr>
            <a:spLocks noGrp="1"/>
          </p:cNvSpPr>
          <p:nvPr>
            <p:ph type="sldImg"/>
          </p:nvPr>
        </p:nvSpPr>
        <p:spPr>
          <a:xfrm>
            <a:off x="1143000" y="685800"/>
            <a:ext cx="4571640" cy="3428640"/>
          </a:xfrm>
          <a:prstGeom prst="rect">
            <a:avLst/>
          </a:prstGeom>
          <a:ln w="0">
            <a:noFill/>
          </a:ln>
        </p:spPr>
      </p:sp>
      <p:sp>
        <p:nvSpPr>
          <p:cNvPr id="50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Tempo para me orientar: 1:30 no percurso principal; 2:00 no treino desenvolvido. Confirmar no ensaio.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QUE QUERO DIZER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objetivo geral foi aprender através do desenvolvimento do projeto. Para isso, construí e avaliei tecnicamente um sistema paramétrico, com apoio de IA, para a configuração preliminar de modelos de mão protésica destinados à impressão 3D.</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Organizei o trabalho em sete objetivos específicos. </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primeiro foi perceber como o design traduz necessidades humanas em decisões de projeto e de fabrico.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segundo foi organizar os dados antropométricos sem perder a informação sobre a sua origem. Isso inclui a população estudada, o protocolo de medição, as unidades e as estatísticas utilizadas, com as respetivas limitações.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terceiro foi adaptar modelos abertos a uma estrutura paramétrica explícita em OpenSCAD. O quarto foi integrar esse percurso numa plataforma web, com visualização, versões, exportação e preparação para impressão.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quinto foi definir o papel da IA como sugestão inicial, sujeita a revisão.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sexto foi verificar a coerência do percurso até às peças físicas. </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sétimo foi identificar o que ficou por avaliar e as condições necessárias para estudos clínicos e de utilização, incluindo a função protésica.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Posso ligar um objetivo a uma decisão concreta. Ao organizar os dados, tive de conservar a origem de cada valor para conseguir interpretá-lo na configuração. Ao adaptar os modelos, precisei de tornar as regras explícitas para verificar o efeito desses valores. É essa ligação que os objetivos me ajudam a acompanhar.</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LEMBRAR-ME (não ler ao júri)</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Apresentar o objetivo geral antes de percorrer a lista. Seguir a numeração da coluna esquerda para a direita. Estes pontos resumem a secção 1.3 do manuscrito; os resultados vêm depois.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Síntese da secção 1.3 do manuscrito · Sete objetivos específicos, com o âmbito original preservado.</a:t>
            </a:r>
            <a:endParaRPr lang="pt-PT" sz="2000" b="0" u="none" strike="noStrike">
              <a:solidFill>
                <a:srgbClr val="000000"/>
              </a:solidFill>
              <a:effectLst/>
              <a:uFillTx/>
              <a:latin typeface="Arial"/>
            </a:endParaRPr>
          </a:p>
        </p:txBody>
      </p:sp>
      <p:sp>
        <p:nvSpPr>
          <p:cNvPr id="506" name="PlaceHolder 3"/>
          <p:cNvSpPr>
            <a:spLocks noGrp="1"/>
          </p:cNvSpPr>
          <p:nvPr>
            <p:ph type="sldNum" idx="4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3D6375A-F26C-419E-B159-593EC50CC830}"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7" name="PlaceHolder 1"/>
          <p:cNvSpPr>
            <a:spLocks noGrp="1"/>
          </p:cNvSpPr>
          <p:nvPr>
            <p:ph type="sldImg"/>
          </p:nvPr>
        </p:nvSpPr>
        <p:spPr>
          <a:xfrm>
            <a:off x="1143000" y="685800"/>
            <a:ext cx="4571640" cy="3428640"/>
          </a:xfrm>
          <a:prstGeom prst="rect">
            <a:avLst/>
          </a:prstGeom>
          <a:ln w="0">
            <a:noFill/>
          </a:ln>
        </p:spPr>
      </p:sp>
      <p:sp>
        <p:nvSpPr>
          <p:cNvPr id="50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Tempo para me orientar: 1:00 no percurso principal; 1:30 no treino desenvolvido. Confirmar no ensaio.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QUE QUERO DIZER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Trouxe para aqui algumas referências do manuscrito que ajudam a explicar as opções do projeto.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Cross ajuda-me a situar o conhecimento produzido através do design. Com Frayling e Zimmerman, enquadro a investigação feita através do desenvolvimento de um artefacto e da análise das decisões tomadas.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Fischer ajuda-me a discutir o que deixo disponível para modificação no HandFab. Ter parâmetros editáveis abre possibilidades de configuração; a participação de utilizadores teria de ser estudada separadamente.</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Manero enquadra o uso da impressão 3D nas próteses. Cabibihan chama a atenção para a avaliação da funcionalidade e da durabilidade.</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Usei esta seleção para explicar as decisões e interpretar os resultados. A revisão mais extensa está no manuscrito.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me perguntarem por um autor, voltar à função que tem neste argumento. Posso usar Zimmerman para explicar por que preciso de analisar o que aprendi ao construir o protótipo. Com Fischer, posso discutir as condições de modificação do sistema. Evitar atribuir a estas obras uma avaliação do HandFab que elas não fizeram.</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LEMBRAR-ME (não ler ao júri)</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Não ler a tabela como uma lista de nomes. Ligar cada referência à ideia que me ajuda a explicar. A ordem da exposição é uma escolha para esta apresentação; não preciso de inventar uma história sobre quando conheci cada autor.</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Referências já mobilizadas no manuscrito · Seleção para esta exposição pela função no argumento.</a:t>
            </a:r>
            <a:endParaRPr lang="pt-PT" sz="2000" b="0" u="none" strike="noStrike">
              <a:solidFill>
                <a:srgbClr val="000000"/>
              </a:solidFill>
              <a:effectLst/>
              <a:uFillTx/>
              <a:latin typeface="Arial"/>
            </a:endParaRPr>
          </a:p>
        </p:txBody>
      </p:sp>
      <p:sp>
        <p:nvSpPr>
          <p:cNvPr id="509" name="PlaceHolder 3"/>
          <p:cNvSpPr>
            <a:spLocks noGrp="1"/>
          </p:cNvSpPr>
          <p:nvPr>
            <p:ph type="sldNum" idx="4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E6AFCB6-1745-46B7-8B58-D326D88B1C59}"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0" name="PlaceHolder 1"/>
          <p:cNvSpPr>
            <a:spLocks noGrp="1"/>
          </p:cNvSpPr>
          <p:nvPr>
            <p:ph type="sldImg"/>
          </p:nvPr>
        </p:nvSpPr>
        <p:spPr>
          <a:xfrm>
            <a:off x="1143000" y="685800"/>
            <a:ext cx="4571640" cy="3428640"/>
          </a:xfrm>
          <a:prstGeom prst="rect">
            <a:avLst/>
          </a:prstGeom>
          <a:ln w="0">
            <a:noFill/>
          </a:ln>
        </p:spPr>
      </p:sp>
      <p:sp>
        <p:nvSpPr>
          <p:cNvPr id="51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Tempo para me orientar: 1:15 no percurso principal; 1:30 no treino desenvolvido. Confirmar no ensaio.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QUE QUERO DIZER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Usei Research Through Design, ou investigação através do projeto. Neste caso, fui aprendendo ao desenvolver o protótipo e ao examinar o seu comportamento.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Paraglider é um bom exemplo. A palma não acompanhava a escala que eu esperava. Fui procurar a regra responsável, corrigi a aplicação da escala e voltei a verificar o resultado.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Para explicar o que aprendi, preciso de mostrar como essa alteração resolveu o problema observado. Os registos permitem acompanhar essa relação.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Double Diamond ajudou-me a organizar os momentos de exploração e de escolha. O enquadramento de Research Through Design permite discutir a aprendizagem obtida ao desenvolver e analisar o protótipo.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me perguntarem onde está a investigação, voltar ao requisito que estava em causa: a configuração devia produzir a alteração de forma esperada. A contribuição está na explicação da relação entre a regra e o resultado, com os registos que permitem examiná-la. Preciso de desenvolver esse raciocínio, para além de dizer que corrigi o código.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LEMBRAR-ME (não ler ao júri)</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Usar o caso concreto para percorrer o ciclo. As referências estão no rodapé e no diapositivo 24, se precisar delas durante a discussão.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Frayling (1994); Zimmerman et al. (2007) · Design Council (2007): organização do processo · Tabela 4.</a:t>
            </a:r>
            <a:endParaRPr lang="pt-PT" sz="2000" b="0" u="none" strike="noStrike">
              <a:solidFill>
                <a:srgbClr val="000000"/>
              </a:solidFill>
              <a:effectLst/>
              <a:uFillTx/>
              <a:latin typeface="Arial"/>
            </a:endParaRPr>
          </a:p>
        </p:txBody>
      </p:sp>
      <p:sp>
        <p:nvSpPr>
          <p:cNvPr id="512" name="PlaceHolder 3"/>
          <p:cNvSpPr>
            <a:spLocks noGrp="1"/>
          </p:cNvSpPr>
          <p:nvPr>
            <p:ph type="sldNum" idx="4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F9E0445-B2C3-4954-B927-E6B0CE6E8BD8}"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3" name="PlaceHolder 1"/>
          <p:cNvSpPr>
            <a:spLocks noGrp="1"/>
          </p:cNvSpPr>
          <p:nvPr>
            <p:ph type="sldImg"/>
          </p:nvPr>
        </p:nvSpPr>
        <p:spPr>
          <a:xfrm>
            <a:off x="1143000" y="685800"/>
            <a:ext cx="4571640" cy="3428640"/>
          </a:xfrm>
          <a:prstGeom prst="rect">
            <a:avLst/>
          </a:prstGeom>
          <a:ln w="0">
            <a:noFill/>
          </a:ln>
        </p:spPr>
      </p:sp>
      <p:sp>
        <p:nvSpPr>
          <p:cNvPr id="51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Tempo para me orientar: 1:15 no percurso principal; 1:30 no treino desenvolvido. Confirmar no ensaio.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QUE QUERO DIZER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HandFab é o protótipo web que desenvolvi para estudar esta passagem da configuração à geometria.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Posso começar com valores introduzidos ou com uma referência antropométrica. Também posso pedir uma sugestão à IA e rever os valores antes de os aplicar.</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OpenSCAD calcula a geometria no navegador, de acordo com as regras do modelo. Consigo observar o resultado e voltar aos parâmetros antes de exportar para preparar a impressão.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 IA fica, portanto, num ponto definido do percurso. A proposta pode ser corrigida por quem configura, e a forma resulta das regras do modelo escolhido.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Ao organizar isto, tive de decidir que alterações ficam disponíveis e em que situações é preciso rever uma configuração. Uma parte dessas decisões depende de perceber de onde vêm os dados antropométricos.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houver dúvidas sobre a IA, esclarecer que o seu uso é opcional e depende de um serviço externo. O sistema já tem modelos e parâmetros definidos. A IA sugere valores para esses parâmetros. Isso permite-me separar a análise da sugestão da análise da geometria gerada pelo modelo.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LEMBRAR-ME (não ler ao júri)</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Apontar para a posição da IA no esquema. Se surgir o tema do meta-design, falar do espaço de modificação que construí. A participação de utilizadores ficou por estudar. Tenho ainda de esclarecer o perfil principal de quem irá operar o sistema.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Síntese do autor, Figuras 17-18 · Fischer et al. (2004): enquadramento conceptual da modificação.</a:t>
            </a:r>
            <a:endParaRPr lang="pt-PT" sz="2000" b="0" u="none" strike="noStrike">
              <a:solidFill>
                <a:srgbClr val="000000"/>
              </a:solidFill>
              <a:effectLst/>
              <a:uFillTx/>
              <a:latin typeface="Arial"/>
            </a:endParaRPr>
          </a:p>
        </p:txBody>
      </p:sp>
      <p:sp>
        <p:nvSpPr>
          <p:cNvPr id="515" name="PlaceHolder 3"/>
          <p:cNvSpPr>
            <a:spLocks noGrp="1"/>
          </p:cNvSpPr>
          <p:nvPr>
            <p:ph type="sldNum" idx="4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6DE254B-D276-4793-8FCA-7E5F0F275D76}"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6" name="PlaceHolder 1"/>
          <p:cNvSpPr>
            <a:spLocks noGrp="1"/>
          </p:cNvSpPr>
          <p:nvPr>
            <p:ph type="sldImg"/>
          </p:nvPr>
        </p:nvSpPr>
        <p:spPr>
          <a:xfrm>
            <a:off x="1143000" y="685800"/>
            <a:ext cx="4571640" cy="3428640"/>
          </a:xfrm>
          <a:prstGeom prst="rect">
            <a:avLst/>
          </a:prstGeom>
          <a:ln w="0">
            <a:noFill/>
          </a:ln>
        </p:spPr>
      </p:sp>
      <p:sp>
        <p:nvSpPr>
          <p:cNvPr id="51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Tempo para me orientar: 1:00 no percurso principal; 1:30 no treino desenvolvido. Confirmar no ensaio.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QUE QUERO DIZER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Usei a antropometria como referência para começar a configuração. Estas são algumas das fontes dos dados e das definições que utilizei.</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Gordon e colegas documentam o ANSUR de 1988 e o ANSUR II, em publicações de 1989 e 2014. São levantamentos diferentes, e preciso de manter essa distinção ao usar os valores.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Na DINED, da Universidade de Delft, utilizei os conjuntos kima1993, geron1998 e dined2004.</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 ISO 7250-1 ajuda a definir as medidas e os pontos anatómicos de referência. Para usar um valor, preciso de saber exatamente o que foi medido.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Também preciso de conservar a informação sobre a população, a idade, o sexo, a unidade e a estatística. É isso que me permite interpretar o dado antes de o aplicar.</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surgir uma dúvida sobre percentis, explicar com o percentil cinquenta: metade dos valores fica de cada lado. As medidas de uma pessoa não têm de corresponder todas ao mesmo percentil. Posso também comparar uma população militar adulta com uma população infantil para mostrar por que a origem dos dados importa. A citação da norma não garante que todos os estudos tenham usado o mesmo protocolo.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LEMBRAR-ME (não ler ao júri)</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Distinguir os anos dos levantamentos dos anos das publicações. Na DINED, identificar os conjuntos em vez de tratar a base como um único estudo. Se me perguntarem pela autoria, consultar a referência de cada conjunto.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Gordon et al. (1989; 2014) · TU Delft, DINED (s.d.) · ISO 7250-1:2017 · Referências no diapositivo 25.</a:t>
            </a:r>
            <a:endParaRPr lang="pt-PT" sz="2000" b="0" u="none" strike="noStrike">
              <a:solidFill>
                <a:srgbClr val="000000"/>
              </a:solidFill>
              <a:effectLst/>
              <a:uFillTx/>
              <a:latin typeface="Arial"/>
            </a:endParaRPr>
          </a:p>
        </p:txBody>
      </p:sp>
      <p:sp>
        <p:nvSpPr>
          <p:cNvPr id="518" name="PlaceHolder 3"/>
          <p:cNvSpPr>
            <a:spLocks noGrp="1"/>
          </p:cNvSpPr>
          <p:nvPr>
            <p:ph type="sldNum" idx="4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ACB527C-ADEC-45CE-A7B4-54F6727EC72E}"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9" name="PlaceHolder 1"/>
          <p:cNvSpPr>
            <a:spLocks noGrp="1"/>
          </p:cNvSpPr>
          <p:nvPr>
            <p:ph type="sldImg"/>
          </p:nvPr>
        </p:nvSpPr>
        <p:spPr>
          <a:xfrm>
            <a:off x="1143000" y="685800"/>
            <a:ext cx="4571640" cy="3428640"/>
          </a:xfrm>
          <a:prstGeom prst="rect">
            <a:avLst/>
          </a:prstGeom>
          <a:ln w="0">
            <a:noFill/>
          </a:ln>
        </p:spPr>
      </p:sp>
      <p:sp>
        <p:nvSpPr>
          <p:cNvPr id="52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Tempo para me orientar: 1:15 no percurso principal; 1:30 no treino desenvolvido. Confirmar no ensaio.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QUE QUERO DIZER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Aqui quero mostrar qual foi o meu trabalho sobre os dados.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As medições foram recolhidas e publicadas pelos autores dos estudos. Eu trabalhei com esses dados publicados; não fiz recolha de medidas em participantes.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Selecionei e organizei os resultados numa base local, mantendo a origem de cada valor e a informação necessária para o interpretar. Cada indicador ocupa uma linha. Por exemplo, a média e o desvio-padrão de uma medida dão origem a dois registos estatísticos.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No fecho do estudo, a aplicação tinha cem perfis: noventa e sete importados em lote, dois por CSV e um criado manualmente. Uma linha dos ficheiros não corresponde automaticamente a um perfil.</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meu contributo foi preparar estes dados e integrá-los na configuração. Um perfil de uma população pode dar uma referência de partida. A adequação a uma pessoa concreta continua a precisar de avaliação.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me perguntarem pelos ficheiros, lembrar que o subconjunto ANSUR repete parte da extração completa. Somar as linhas dos dois daria uma contagem enganadora. A compilação multipopulacional tem 1790 linhas, das quais 852 são DINED. Estes números contam registos estatísticos. Os cem perfis referem-se ao estado documentado da aplicação.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LEMBRAR-ME (não ler ao júri)</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Separar bem o trabalho dos autores dos estudos do que eu fiz na base local. Usar o exemplo da média e do desvio-padrão se houver confusão nas contagens. A composição 97 + 2 + 1 descreve as vias de entrada dos perfis.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manuscrito, 4.2; Suplemento 1 · Os números indicam registos, não participantes.</a:t>
            </a:r>
            <a:endParaRPr lang="pt-PT" sz="2000" b="0" u="none" strike="noStrike">
              <a:solidFill>
                <a:srgbClr val="000000"/>
              </a:solidFill>
              <a:effectLst/>
              <a:uFillTx/>
              <a:latin typeface="Arial"/>
            </a:endParaRPr>
          </a:p>
        </p:txBody>
      </p:sp>
      <p:sp>
        <p:nvSpPr>
          <p:cNvPr id="521" name="PlaceHolder 3"/>
          <p:cNvSpPr>
            <a:spLocks noGrp="1"/>
          </p:cNvSpPr>
          <p:nvPr>
            <p:ph type="sldNum" idx="4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03356F5-1DD1-4D97-97C8-B9F8A9FA326A}"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2" name="PlaceHolder 1"/>
          <p:cNvSpPr>
            <a:spLocks noGrp="1"/>
          </p:cNvSpPr>
          <p:nvPr>
            <p:ph type="sldImg"/>
          </p:nvPr>
        </p:nvSpPr>
        <p:spPr>
          <a:xfrm>
            <a:off x="1143000" y="685800"/>
            <a:ext cx="4571640" cy="3428640"/>
          </a:xfrm>
          <a:prstGeom prst="rect">
            <a:avLst/>
          </a:prstGeom>
          <a:ln w="0">
            <a:noFill/>
          </a:ln>
        </p:spPr>
      </p:sp>
      <p:sp>
        <p:nvSpPr>
          <p:cNvPr id="52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Tempo para me orientar: 1:30 no percurso principal; 2:00 no treino desenvolvido. Confirmar no ensaio.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QUE QUERO DIZER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Estes casos mostram por que tive de olhar para as regras de cada modelo.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No Paraglider, a palma mantinha a escala interna da biblioteca, enquanto outras partes respondiam à configuração. O controlo existia, mas o seu efeito não chegava a todas as partes como eu esperava.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Localizei o ponto onde a escala era aplicada e corrigi essa relação. Isto mostrou-me que preciso de verificar a resposta dos componentes, mesmo quando o nome do parâmetro parece claro.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No Phoenix, a situação era diferente. Na configuração examinada, a largura da palma fica limitada a cerca de oitenta e dois milímetros. Se pedir menos, o modelo mantém esse tamanho mínimo.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Esse resultado tem de ser apresentado como um limite do modelo. O pedido ficou por satisfazer.</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No Paraglider consegui corrigir a relação de escala. No Phoenix encontrei uma condição que restringe as dimensões possíveis. São decisões diferentes, e ambas dependem de perceber como o modelo foi construído.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Lembrar que os modelos já existiam e mantêm a autoria dos seus criadores. O meu trabalho foi integrá-los e verificar as relações usadas no HandFab. Os oitenta e dois milímetros dizem respeito ao Phoenix que examinei. Numa revisão futura, posso estudar como assinalar esse limite e orientar a escolha de outro modelo quando o pedido fica fora da cobertura.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LEMBRAR-ME (não ler ao júri)</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Dar espaço aos dois casos. Estou a mostrar uma explicação das regras, não imagens históricas de antes e depois. No Phoenix, dizer sempre «na configuração examinada», para não transformar o valor numa regra anatómica.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 4.4, 8.3, Tabelas 28-29 e Anexo C · Esquema explicativo, não comparação visual histórica.</a:t>
            </a:r>
            <a:endParaRPr lang="pt-PT" sz="2000" b="0" u="none" strike="noStrike">
              <a:solidFill>
                <a:srgbClr val="000000"/>
              </a:solidFill>
              <a:effectLst/>
              <a:uFillTx/>
              <a:latin typeface="Arial"/>
            </a:endParaRPr>
          </a:p>
        </p:txBody>
      </p:sp>
      <p:sp>
        <p:nvSpPr>
          <p:cNvPr id="524" name="PlaceHolder 3"/>
          <p:cNvSpPr>
            <a:spLocks noGrp="1"/>
          </p:cNvSpPr>
          <p:nvPr>
            <p:ph type="sldNum" idx="4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6F7AA0E-8C9A-44DE-B0EB-E09332D41E72}"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5" name="PlaceHolder 1"/>
          <p:cNvSpPr>
            <a:spLocks noGrp="1"/>
          </p:cNvSpPr>
          <p:nvPr>
            <p:ph type="sldImg"/>
          </p:nvPr>
        </p:nvSpPr>
        <p:spPr>
          <a:xfrm>
            <a:off x="1143000" y="685800"/>
            <a:ext cx="4571640" cy="3428640"/>
          </a:xfrm>
          <a:prstGeom prst="rect">
            <a:avLst/>
          </a:prstGeom>
          <a:ln w="0">
            <a:noFill/>
          </a:ln>
        </p:spPr>
      </p:sp>
      <p:sp>
        <p:nvSpPr>
          <p:cNvPr id="52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Tempo para me orientar: 1:15 no percurso principal; 2:00 no treino desenvolvido. Confirmar no ensaio.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QUE QUERO DIZER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Aqui está o papel que dei à IA: receber uma descrição e sugerir valores para parâmetros que o sistema já conhece. Quem configura pode rever a proposta antes de a aplicar.</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No primeiro conjunto de ensaios reais, as cinco respostas cumpriram o formato esperado. O percurso funcionou nessas condições. Para saber se os valores são adequados a uma pessoa, seria necessária outra avaliação.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Uma decisão concreta foi retirar a lateralidade da inferência. A escolha entre mão esquerda e direita passou a seguir uma regra explícita e ficou fora do pedido de sugestões.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que estudei foi a integração desta proposta editável no percurso. Não fiz uma comparação experimental com a configuração manual que permitisse afirmar uma vantagem de tempo ou de qualidade.</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me perguntarem pela qualidade da resposta, separar o formato dos valores. Conseguir ler a resposta é uma verificação. Saber que efeito os valores têm no modelo exige examinar a geometria. A adequação à utilização terá de ser estudada depois.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LEMBRAR-ME (não ler ao júri)</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Explicar lateralidade como a escolha entre esquerda e direita. As cinco execuções são o conjunto testado; não as apresentar como uma taxa geral de precisão da IA.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 capítulo 6 e 8.2 · Cinco execuções no primeiro conjunto de ensaios reais.</a:t>
            </a:r>
            <a:endParaRPr lang="pt-PT" sz="2000" b="0" u="none" strike="noStrike">
              <a:solidFill>
                <a:srgbClr val="000000"/>
              </a:solidFill>
              <a:effectLst/>
              <a:uFillTx/>
              <a:latin typeface="Arial"/>
            </a:endParaRPr>
          </a:p>
        </p:txBody>
      </p:sp>
      <p:sp>
        <p:nvSpPr>
          <p:cNvPr id="527" name="PlaceHolder 3"/>
          <p:cNvSpPr>
            <a:spLocks noGrp="1"/>
          </p:cNvSpPr>
          <p:nvPr>
            <p:ph type="sldNum" idx="4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478D8A0-B826-433D-8FA9-C3C9D250F759}"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8" name="PlaceHolder 1"/>
          <p:cNvSpPr>
            <a:spLocks noGrp="1"/>
          </p:cNvSpPr>
          <p:nvPr>
            <p:ph type="sldImg"/>
          </p:nvPr>
        </p:nvSpPr>
        <p:spPr>
          <a:xfrm>
            <a:off x="1143000" y="685800"/>
            <a:ext cx="4571640" cy="3428640"/>
          </a:xfrm>
          <a:prstGeom prst="rect">
            <a:avLst/>
          </a:prstGeom>
          <a:ln w="0">
            <a:noFill/>
          </a:ln>
        </p:spPr>
      </p:sp>
      <p:sp>
        <p:nvSpPr>
          <p:cNvPr id="52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Tempo para me orientar: 1:00 no percurso principal; 2:00 no treino desenvolvido. Confirmar no ensaio.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QUE QUERO DIZER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À esquerda está a seleção do modelo. À direita, a configuração com a pré-visualização em 3D.</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Depois de escolher o modelo, posso rever os valores e gerar a geometria. Se o resultado não corresponder ao que pretendo, posso voltar aos parâmetros antes de exportar.</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 questão de design é tornar compreensível a relação entre o que alterei e o que aparece na forma.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Estas imagens mostram funcionalidades documentadas no manuscrito. Para saber como as pessoas compreendem este percurso, preciso de as observar a realizar tarefas. Essa parte ficou por fazer.</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Na avaliação que apresento a seguir, concentrei-me no que conseguia verificar tecnicamente.</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tiver tempo, percorrer uma alteração pelas imagens: identificar o controlo disponível e explicar o que se deve observar na geometria. Para avaliar a compreensão, posso futuramente pedir a alguém que faça uma alteração e depois lhe perguntar como interpretou o resultado. Aqui estou a usar capturas existentes, sem relatar uma tarefa realizada com participantes.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LEMBRAR-ME (não ler ao júri)</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Dar tempo para olhar para as imagens. Usar o cursor para ligar o controlo à pré-visualização. Estas capturas não registam necessariamente uma única execução contínua; apresentá-las como ilustração do percurso.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Capturas do manuscrito, Figura 22 · Sequência ilustrativa, sem nova execução de IA.</a:t>
            </a:r>
            <a:endParaRPr lang="pt-PT" sz="2000" b="0" u="none" strike="noStrike">
              <a:solidFill>
                <a:srgbClr val="000000"/>
              </a:solidFill>
              <a:effectLst/>
              <a:uFillTx/>
              <a:latin typeface="Arial"/>
            </a:endParaRPr>
          </a:p>
        </p:txBody>
      </p:sp>
      <p:sp>
        <p:nvSpPr>
          <p:cNvPr id="530" name="PlaceHolder 3"/>
          <p:cNvSpPr>
            <a:spLocks noGrp="1"/>
          </p:cNvSpPr>
          <p:nvPr>
            <p:ph type="sldNum" idx="4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D26FE06-047B-4829-A6B7-FCE32CD4F9D6}"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1" name="PlaceHolder 1"/>
          <p:cNvSpPr>
            <a:spLocks noGrp="1"/>
          </p:cNvSpPr>
          <p:nvPr>
            <p:ph type="sldImg"/>
          </p:nvPr>
        </p:nvSpPr>
        <p:spPr>
          <a:xfrm>
            <a:off x="1143000" y="685800"/>
            <a:ext cx="4571640" cy="3428640"/>
          </a:xfrm>
          <a:prstGeom prst="rect">
            <a:avLst/>
          </a:prstGeom>
          <a:ln w="0">
            <a:noFill/>
          </a:ln>
        </p:spPr>
      </p:sp>
      <p:sp>
        <p:nvSpPr>
          <p:cNvPr id="53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Tempo para me orientar: 1:30 no percurso principal; 2:00 no treino desenvolvido. Confirmar no ensaio.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QUE QUERO DIZER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Fui avaliando o percurso por etapas, porque cada uma precisava de uma verificação diferente.</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Na plataforma, examinei o funcionamento e as falhas. Nas respostas da IA, verifiquei o formato e os valores sugeridos. Na geometria, observei o efeito dos parâmetros e a exportação. Nas peças, acompanhei a preparação e comparei as dimensões.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 Série A reuniu quatro projetos em condições diferentes. Por isso, a comparação direta entre equipamentos é limitada. A Série B reuniu doze casos numa condição digital comum.</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 comparação dimensional teve setenta e duas medições, combinando três modelos, quatro perfis, três eixos e dois materiais. Registei uma leitura por combinação.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Para interpretar os resultados, tenho de regressar à verificação que lhes deu origem. Uma exportação concluída informa sobre essa etapa. A durabilidade da peça exigiria um ensaio próprio.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houver dúvidas nas contagens, ir ao diapositivo 19. A plataforma tem quatro modelos disponíveis, mas a comparação física principal abrange três. Preciso de manter esta diferença quando explico o alcance dos resultados.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LEMBRAR-ME (não ler ao júri)</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Percorrer as quatro linhas antes de explicar os números. Evitar despejar todas as contagens de uma vez. Se o júri pedir detalhe, tenho os conjuntos separados no apoio.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 capítulo 8 e Anexos B a D · Os conjuntos respondem a perguntas distintas.</a:t>
            </a:r>
            <a:endParaRPr lang="pt-PT" sz="2000" b="0" u="none" strike="noStrike">
              <a:solidFill>
                <a:srgbClr val="000000"/>
              </a:solidFill>
              <a:effectLst/>
              <a:uFillTx/>
              <a:latin typeface="Arial"/>
            </a:endParaRPr>
          </a:p>
        </p:txBody>
      </p:sp>
      <p:sp>
        <p:nvSpPr>
          <p:cNvPr id="533" name="PlaceHolder 3"/>
          <p:cNvSpPr>
            <a:spLocks noGrp="1"/>
          </p:cNvSpPr>
          <p:nvPr>
            <p:ph type="sldNum" idx="4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A329EE8-769B-4CC3-9ABC-8BAC516C4524}"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4" name="PlaceHolder 1"/>
          <p:cNvSpPr>
            <a:spLocks noGrp="1"/>
          </p:cNvSpPr>
          <p:nvPr>
            <p:ph type="sldImg"/>
          </p:nvPr>
        </p:nvSpPr>
        <p:spPr>
          <a:xfrm>
            <a:off x="1143000" y="685800"/>
            <a:ext cx="4571640" cy="3428640"/>
          </a:xfrm>
          <a:prstGeom prst="rect">
            <a:avLst/>
          </a:prstGeom>
          <a:ln w="0">
            <a:noFill/>
          </a:ln>
        </p:spPr>
      </p:sp>
      <p:sp>
        <p:nvSpPr>
          <p:cNvPr id="53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Tempo para me orientar: 1:45 no percurso principal; 2:30 no treino desenvolvido. Confirmar no ensaio.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QUE QUERO DIZER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Neste gráfico comparei as dimensões das peças com as dimensões correspondentes da malha exportada.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Cada segmento vai do menor ao maior desvio registado para um modelo e material. Reúne doze valores, relativos a quatro perfis e três eixos. As cores distinguem PLA e PETG.</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Calculei a diferença subtraindo a dimensão digital à física. Os valores negativos indicam que medi dimensões físicas inferiores às digitais correspondentes. No conjunto, os desvios vão aproximadamente de menos 0,53 a menos 0,08 milímetros.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Fiz uma leitura por combinação. Por isso, estes registos não permitem estimar a variação de medições repetidas. O intervalo apresentado também não é uma precisão garantida pelo processo.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Como os grupos juntam eixos e dimensões diferentes, o gráfico não permite escolher o melhor material nem identificar uma causa única para as diferenças.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que retiro daqui é a necessidade de medir o que foi produzido. A avaliação funcional exigiria trabalho adicional, como ajuda a enquadrar a referência de Cabibihan.</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Posso usar o Flexy Beast em PLA como exemplo: os extremos são menos 0,398 e menos 0,108 milímetros. São doze comparações. Se quiser estudar a consistência de uma condição concreta, preciso de repetir as medições e controlar as condições. Tenho a tabela com os extremos no apoio e os registos individuais no CSV.</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LEMBRAR-ME (não ler ao júri)</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Mostrar primeiro o zero e depois um segmento. Ler os valores decimais devagar. Não preciso de ler todos os grupos. Se houver uma pergunta sobre uma dimensão concreta, consultar o CSV em vez de tirar uma conclusão geral do intervalo.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 Suplemento 4, comparacao_dimensional_72_medicoes.csv · Gráfico calculado a partir dos registos.</a:t>
            </a:r>
            <a:endParaRPr lang="pt-PT" sz="2000" b="0" u="none" strike="noStrike">
              <a:solidFill>
                <a:srgbClr val="000000"/>
              </a:solidFill>
              <a:effectLst/>
              <a:uFillTx/>
              <a:latin typeface="Arial"/>
            </a:endParaRPr>
          </a:p>
        </p:txBody>
      </p:sp>
      <p:sp>
        <p:nvSpPr>
          <p:cNvPr id="536" name="PlaceHolder 3"/>
          <p:cNvSpPr>
            <a:spLocks noGrp="1"/>
          </p:cNvSpPr>
          <p:nvPr>
            <p:ph type="sldNum" idx="5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AD6F20E-498E-4323-9A04-C91E0B06A999}"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7" name="PlaceHolder 1"/>
          <p:cNvSpPr>
            <a:spLocks noGrp="1"/>
          </p:cNvSpPr>
          <p:nvPr>
            <p:ph type="sldImg"/>
          </p:nvPr>
        </p:nvSpPr>
        <p:spPr>
          <a:xfrm>
            <a:off x="1143000" y="685800"/>
            <a:ext cx="4571640" cy="3428640"/>
          </a:xfrm>
          <a:prstGeom prst="rect">
            <a:avLst/>
          </a:prstGeom>
          <a:ln w="0">
            <a:noFill/>
          </a:ln>
        </p:spPr>
      </p:sp>
      <p:sp>
        <p:nvSpPr>
          <p:cNvPr id="53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Tempo para me orientar: 1:00 no percurso principal; 2:00 no treino desenvolvido. Confirmar no ensaio.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QUE QUERO DIZER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Os testes também mostraram falhas que preciso de resolver.</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Num ensaio com uma resposta simulada, um valor acima do limite chegou ao estado interno da aplicação. Esse caso mostrou um ponto em que o controlo não estava a funcionar como devia.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Na verificação manual de acessibilidade, cinco dos doze itens falharam. Identifiquei, portanto, barreiras no percurso de interação.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Estes resultados ajudam-me a decidir onde rever o sistema e o que voltar a testar. A robustez global e a acessibilidade continuam por demonstrar; o funcionamento nas condições ensaiadas não chega para as garantir.</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me perguntarem pelo valor fora do limite, esclarecer que foi uma resposta preparada para testar o comportamento do sistema. É diferente de uma chamada real à IA. Na acessibilidade, usei critérios e inspeção. Para compreender as dificuldades das pessoas durante uma tarefa, preciso de complementar isso com observação de utilização.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LEMBRAR-ME (não ler ao júri)</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Explicar o efeito de cada falha no desenvolvimento. Não ficar só pela lista de problemas: mostrar o que os registos me permitem rever.</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 8.1.2 e Anexo B · Ensaios de recuperação e auditoria de acessibilidade.</a:t>
            </a:r>
            <a:endParaRPr lang="pt-PT" sz="2000" b="0" u="none" strike="noStrike">
              <a:solidFill>
                <a:srgbClr val="000000"/>
              </a:solidFill>
              <a:effectLst/>
              <a:uFillTx/>
              <a:latin typeface="Arial"/>
            </a:endParaRPr>
          </a:p>
        </p:txBody>
      </p:sp>
      <p:sp>
        <p:nvSpPr>
          <p:cNvPr id="539" name="PlaceHolder 3"/>
          <p:cNvSpPr>
            <a:spLocks noGrp="1"/>
          </p:cNvSpPr>
          <p:nvPr>
            <p:ph type="sldNum" idx="5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83D233A-E3EB-4D21-9D5B-A827A4DE9B07}"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0" name="PlaceHolder 1"/>
          <p:cNvSpPr>
            <a:spLocks noGrp="1"/>
          </p:cNvSpPr>
          <p:nvPr>
            <p:ph type="sldImg"/>
          </p:nvPr>
        </p:nvSpPr>
        <p:spPr>
          <a:xfrm>
            <a:off x="1143000" y="685800"/>
            <a:ext cx="4571640" cy="3428640"/>
          </a:xfrm>
          <a:prstGeom prst="rect">
            <a:avLst/>
          </a:prstGeom>
          <a:ln w="0">
            <a:noFill/>
          </a:ln>
        </p:spPr>
      </p:sp>
      <p:sp>
        <p:nvSpPr>
          <p:cNvPr id="54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Tempo para me orientar: 1:45 no percurso principal; 3:00 no treino desenvolvido. Confirmar no ensaio.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QUE QUERO DIZER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Voltando às perguntas, consegui responder à parte técnica do problema.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Na configuração, construí um percurso em que os valores podem ser revistos e os efeitos examinados. O conforto e a adequação individual continuam por avaliar.</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Na avaliação, combinei verificações ao longo do percurso até às dimensões físicas. Os registos mostram falhas e as condições em que o sistema funcionou. A durabilidade e a usabilidade com participantes precisam de outros estudos.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Quanto aos requisitos do produto, traduzi alguns deles em regras e escolhas disponíveis. Ainda preciso de estudar como isso se relaciona com a aceitação da prótese e com a dignidade e autonomia das pessoas.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É aqui que situo o meu contributo de design: definir escolhas e verificar o que fazem à forma. A base de dados mantém a origem dos valores. Os casos do Paraglider e do Phoenix mostram por que cada modelo exige uma análise própria. A decisão sobre a lateralidade ajuda a explicar o limite que atribuí à IA.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protótipo permitiu-me examinar estas decisões. Os registos tornam possível acompanhar o que foi alterado e a aprendizagem que daí resultou.</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me perguntarem se isto se aplica a qualquer prótese, delimitar a resposta aos modelos e condições documentados. Para alargar o trabalho, preciso de novas verificações. A avaliação com pessoas será necessária para perceber se esta organização ajuda a compreender as escolhas durante uma tarefa.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LEMBRAR-ME (não ler ao júri)</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Aqui quero tornar o contributo claro, sem voltar a explicar toda a plataforma. Usar o Paraglider se precisar de um exemplo. Cross ajuda-me a enquadrar o conhecimento de design, e a investigação através do projeto enquadra a aprendizagem obtida com o protótipo.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Síntese da Tabela 31 e de 9.1-9.4 · Cross (1982): enquadramento do conhecimento de design.</a:t>
            </a:r>
            <a:endParaRPr lang="pt-PT" sz="2000" b="0" u="none" strike="noStrike">
              <a:solidFill>
                <a:srgbClr val="000000"/>
              </a:solidFill>
              <a:effectLst/>
              <a:uFillTx/>
              <a:latin typeface="Arial"/>
            </a:endParaRPr>
          </a:p>
        </p:txBody>
      </p:sp>
      <p:sp>
        <p:nvSpPr>
          <p:cNvPr id="542" name="PlaceHolder 3"/>
          <p:cNvSpPr>
            <a:spLocks noGrp="1"/>
          </p:cNvSpPr>
          <p:nvPr>
            <p:ph type="sldNum" idx="5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5258CE5-7B17-4D91-BE09-3D05AEB0A4D7}"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3" name="PlaceHolder 1"/>
          <p:cNvSpPr>
            <a:spLocks noGrp="1"/>
          </p:cNvSpPr>
          <p:nvPr>
            <p:ph type="sldImg"/>
          </p:nvPr>
        </p:nvSpPr>
        <p:spPr>
          <a:xfrm>
            <a:off x="1143000" y="685800"/>
            <a:ext cx="4571640" cy="3428640"/>
          </a:xfrm>
          <a:prstGeom prst="rect">
            <a:avLst/>
          </a:prstGeom>
          <a:ln w="0">
            <a:noFill/>
          </a:ln>
        </p:spPr>
      </p:sp>
      <p:sp>
        <p:nvSpPr>
          <p:cNvPr id="54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Tempo para me orientar: 0:30 no percurso principal; 1:00 no treino desenvolvido. Confirmar no ensaio.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QUE QUERO DIZER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Para terminar, o HandFab permitiu-me estudar a passagem da configuração à peça física. Os resultados mostraram que essa passagem depende das regras de cada modelo e precisa de ser verificada.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próximo passo é aprofundar a avaliação física e estudar o percurso com as pessoas a quem se destina. Fica uma base documentada para continuar esse trabalho. Muito obrigado.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precisar de desenvolver a conclusão, voltar à relação entre a escolha e o efeito na forma. Os casos examinados ajudam-me a decidir que verificações acrescentar. A experiência das pessoas terá de ser estudada nas tarefas de configuração e na utilização.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LEMBRAR-ME (não ler ao júri)</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Terminar aqui. Fazer uma pausa e aguardar o júri. Os diapositivos seguintes ficam disponíveis para responder a perguntas; não preciso de os apresentar por rotina.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Projeto HandFab · Pedro Miguel Candeias da Silva · Mestrado em Design e Desenvolvimento de Produto.</a:t>
            </a:r>
            <a:endParaRPr lang="pt-PT" sz="2000" b="0" u="none" strike="noStrike">
              <a:solidFill>
                <a:srgbClr val="000000"/>
              </a:solidFill>
              <a:effectLst/>
              <a:uFillTx/>
              <a:latin typeface="Arial"/>
            </a:endParaRPr>
          </a:p>
        </p:txBody>
      </p:sp>
      <p:sp>
        <p:nvSpPr>
          <p:cNvPr id="545" name="PlaceHolder 3"/>
          <p:cNvSpPr>
            <a:spLocks noGrp="1"/>
          </p:cNvSpPr>
          <p:nvPr>
            <p:ph type="sldNum" idx="5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088016A-AA02-4C90-9CFD-864CAEAE256F}"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6" name="PlaceHolder 1"/>
          <p:cNvSpPr>
            <a:spLocks noGrp="1"/>
          </p:cNvSpPr>
          <p:nvPr>
            <p:ph type="sldImg"/>
          </p:nvPr>
        </p:nvSpPr>
        <p:spPr>
          <a:xfrm>
            <a:off x="1143000" y="685800"/>
            <a:ext cx="4571640" cy="3428640"/>
          </a:xfrm>
          <a:prstGeom prst="rect">
            <a:avLst/>
          </a:prstGeom>
          <a:ln w="0">
            <a:noFill/>
          </a:ln>
        </p:spPr>
      </p:sp>
      <p:sp>
        <p:nvSpPr>
          <p:cNvPr id="54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Tempo para me orientar: apoio à discussão. Confirmar no ensaio.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QUE QUERO DIZER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Aqui tenho as perguntas aprovadas na formulação completa. Durante a exposição usei versões mais curtas.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 primeira pergunta é: «Como o design de produto, métodos paramétricos e inteligência artificial podem melhorar a personalização, o conforto e a adequação funcional de próteses, mantendo a acessibilidade e o controlo sobre as decisões de projeto?»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 segunda é: «Quais metodologias e ferramentas validam a eficácia, a usabilidade, a durabilidade e a possibilidade de reproduzir os resultados de próteses impressas em 3D?»</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 terceira é: «Como é que o design industrial concilia requisitos anatómicos, funcionais, ergonómicos, estéticos e simbólicos, promovendo a aceitação, a dignidade e a autonomia?»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As minhas respostas dizem respeito à parte técnica e dimensional que consegui estudar. As outras dimensões continuam por avaliar.</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LEMBRAR-ME (não ler ao júri)</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Abrir este diapositivo se pedirem a formulação exata de uma pergunta. Ler só a que estiver em discussão e explicar até onde consegui responder. Manter o texto aprovado tal como está.</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 manuscrito, 9.1. Diapositivo fora do percurso principal de 20 minutos.</a:t>
            </a:r>
            <a:endParaRPr lang="pt-PT" sz="2000" b="0" u="none" strike="noStrike">
              <a:solidFill>
                <a:srgbClr val="000000"/>
              </a:solidFill>
              <a:effectLst/>
              <a:uFillTx/>
              <a:latin typeface="Arial"/>
            </a:endParaRPr>
          </a:p>
        </p:txBody>
      </p:sp>
      <p:sp>
        <p:nvSpPr>
          <p:cNvPr id="548" name="PlaceHolder 3"/>
          <p:cNvSpPr>
            <a:spLocks noGrp="1"/>
          </p:cNvSpPr>
          <p:nvPr>
            <p:ph type="sldNum" idx="5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E3B9688-8758-403E-AD10-35E0CE33658A}"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9" name="PlaceHolder 1"/>
          <p:cNvSpPr>
            <a:spLocks noGrp="1"/>
          </p:cNvSpPr>
          <p:nvPr>
            <p:ph type="sldImg"/>
          </p:nvPr>
        </p:nvSpPr>
        <p:spPr>
          <a:xfrm>
            <a:off x="1143000" y="685800"/>
            <a:ext cx="4571640" cy="3428640"/>
          </a:xfrm>
          <a:prstGeom prst="rect">
            <a:avLst/>
          </a:prstGeom>
          <a:ln w="0">
            <a:noFill/>
          </a:ln>
        </p:spPr>
      </p:sp>
      <p:sp>
        <p:nvSpPr>
          <p:cNvPr id="55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Tempo para me orientar: apoio à discussão. Confirmar no ensaio.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QUE QUERO DIZER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Estes números correspondem a conjuntos diferentes.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Na Série A, preparei quatro projetos em condições distintas. Isso limita as comparações diretas entre equipamentos.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Na Série B, os doze casos resultam de três modelos combinados com quatro perfis, numa condição digital comum. A preparação ficou concluída, com os avisos registados.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As setenta e duas medições combinam três modelos, quatro perfis, três eixos e dois materiais. Houve uma leitura por combinação. Não são setenta e duas repetições da mesma medida.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As idades de oito, quinze, vinte e oito e setenta anos identificam perfis de ensaio. Não tive participantes com essas idades.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LEMBRAR-ME (não ler ao júri)</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Começar pelo número sobre o qual me perguntaram. Se a dúvida for o número de modelos, explicar que havia quatro na plataforma e três na comparação física principal.</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 capítulo 8, Anexo D e CSV das Séries A/B e medições físicas.</a:t>
            </a:r>
            <a:endParaRPr lang="pt-PT" sz="2000" b="0" u="none" strike="noStrike">
              <a:solidFill>
                <a:srgbClr val="000000"/>
              </a:solidFill>
              <a:effectLst/>
              <a:uFillTx/>
              <a:latin typeface="Arial"/>
            </a:endParaRPr>
          </a:p>
        </p:txBody>
      </p:sp>
      <p:sp>
        <p:nvSpPr>
          <p:cNvPr id="551" name="PlaceHolder 3"/>
          <p:cNvSpPr>
            <a:spLocks noGrp="1"/>
          </p:cNvSpPr>
          <p:nvPr>
            <p:ph type="sldNum" idx="5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186EF27-27C0-4DF8-BB85-E767D000681B}"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2" name="PlaceHolder 1"/>
          <p:cNvSpPr>
            <a:spLocks noGrp="1"/>
          </p:cNvSpPr>
          <p:nvPr>
            <p:ph type="sldImg"/>
          </p:nvPr>
        </p:nvSpPr>
        <p:spPr>
          <a:xfrm>
            <a:off x="1143000" y="685800"/>
            <a:ext cx="4571640" cy="3428640"/>
          </a:xfrm>
          <a:prstGeom prst="rect">
            <a:avLst/>
          </a:prstGeom>
          <a:ln w="0">
            <a:noFill/>
          </a:ln>
        </p:spPr>
      </p:sp>
      <p:sp>
        <p:nvSpPr>
          <p:cNvPr id="55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Tempo para me orientar: apoio à discussão. Confirmar no ensaio.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QUE QUERO DIZER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Esta tabela contém os valores que usei no gráfico. Para cada modelo e material, apresenta o menor e o maior desvio entre a dimensão física e a digital.</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No Flexy Beast em PLA, por exemplo, os extremos são menos 0,398 e menos 0,108 milímetros. O grupo reúne doze valores, relativos a quatro perfis e três eixos.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 tabela descreve as medições que fiz. Como não repeti as leituras por combinação, não consigo estimar a incerteza a partir destes dados. Também não defini aqui uma tolerância de aceitação.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 a pergunta for sobre uma dimensão específica, posso consultar o registo correspondente no CSV.</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LEMBRAR-ME (não ler ao júri)</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Usar um grupo para explicar a leitura. Os restantes ficam para consulta conforme a pergunta. Lembrar-me de dizer «desvio observado», sem o transformar numa garantia de precisão.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 comparacao_dimensional_72_medicoes.csv · Diferença = dimensão física − dimensão da malha.</a:t>
            </a:r>
            <a:endParaRPr lang="pt-PT" sz="2000" b="0" u="none" strike="noStrike">
              <a:solidFill>
                <a:srgbClr val="000000"/>
              </a:solidFill>
              <a:effectLst/>
              <a:uFillTx/>
              <a:latin typeface="Arial"/>
            </a:endParaRPr>
          </a:p>
        </p:txBody>
      </p:sp>
      <p:sp>
        <p:nvSpPr>
          <p:cNvPr id="554" name="PlaceHolder 3"/>
          <p:cNvSpPr>
            <a:spLocks noGrp="1"/>
          </p:cNvSpPr>
          <p:nvPr>
            <p:ph type="sldNum" idx="5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025956A-26FE-419E-B24B-4FEEF0B7C788}"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5" name="PlaceHolder 1"/>
          <p:cNvSpPr>
            <a:spLocks noGrp="1"/>
          </p:cNvSpPr>
          <p:nvPr>
            <p:ph type="sldImg"/>
          </p:nvPr>
        </p:nvSpPr>
        <p:spPr>
          <a:xfrm>
            <a:off x="1143000" y="685800"/>
            <a:ext cx="4571640" cy="3428640"/>
          </a:xfrm>
          <a:prstGeom prst="rect">
            <a:avLst/>
          </a:prstGeom>
          <a:ln w="0">
            <a:noFill/>
          </a:ln>
        </p:spPr>
      </p:sp>
      <p:sp>
        <p:nvSpPr>
          <p:cNvPr id="55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Tempo para me orientar: apoio à discussão. Confirmar no ensaio.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QUE QUERO DIZER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Esta é a montagem da Phoenix em PLA, para o perfil de ensaio de quinze anos. As fotografias mostram o mesmo espécime de vários ângulos.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No registo de bancada, ficou documentado o movimento, incluindo o fecho por cabo e o retorno. Os elásticos alargaram e foram substituídos. O número exato de ciclos não foi registado, e os testes previstos com cilindros não foram realizados.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resultado é uma observação de montagem e movimento. Os quinze anos identificam o perfil usado na configuração. Não houve utilização por um participante dessa idade, nem avaliação de eficácia protésica ou de durabilidade em uso.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LEMBRAR-ME (não ler ao júri)</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Mostrar as vistas da montagem. Antes da prova, tenho de alinhar as passagens do manuscrito que excluem genericamente montagem e articulação com este registo de bancada. Essa revisão ainda não foi feita.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 Figura 29 e montagem_phoenix_15_anos.csv · Espécime PHX-TEEN15-MONT-001.</a:t>
            </a:r>
            <a:endParaRPr lang="pt-PT" sz="2000" b="0" u="none" strike="noStrike">
              <a:solidFill>
                <a:srgbClr val="000000"/>
              </a:solidFill>
              <a:effectLst/>
              <a:uFillTx/>
              <a:latin typeface="Arial"/>
            </a:endParaRPr>
          </a:p>
        </p:txBody>
      </p:sp>
      <p:sp>
        <p:nvSpPr>
          <p:cNvPr id="557" name="PlaceHolder 3"/>
          <p:cNvSpPr>
            <a:spLocks noGrp="1"/>
          </p:cNvSpPr>
          <p:nvPr>
            <p:ph type="sldNum" idx="5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ECA0D7E-7540-4561-8D8A-3A01640D17C6}"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8" name="PlaceHolder 1"/>
          <p:cNvSpPr>
            <a:spLocks noGrp="1"/>
          </p:cNvSpPr>
          <p:nvPr>
            <p:ph type="sldImg"/>
          </p:nvPr>
        </p:nvSpPr>
        <p:spPr>
          <a:xfrm>
            <a:off x="1143000" y="685800"/>
            <a:ext cx="4571640" cy="3428640"/>
          </a:xfrm>
          <a:prstGeom prst="rect">
            <a:avLst/>
          </a:prstGeom>
          <a:ln w="0">
            <a:noFill/>
          </a:ln>
        </p:spPr>
      </p:sp>
      <p:sp>
        <p:nvSpPr>
          <p:cNvPr id="55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Tempo para me orientar: apoio à discussão. Confirmar no ensaio.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QUE QUERO DIZER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Nos ensaios de repetição, concluí sete exportações do Flexy Beast, cinco do Paraglider e cinco do Phoenix. Os ficheiros foram idênticos dentro de cada configuração testada. O objetivo de dez exportações por modelo ficou por atingir.</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Isto documenta consistência nessas execuções. Para generalizar a outras configurações, teria de as testar.</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Na verificação manual de acessibilidade, sete itens foram considerados conformes e cinco falharam. São os resultados da lista examinada, sem uma certificação global de acessibilidade.</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No WebKit, o bloqueio de autenticação impediu concluir a avaliação. Esse resultado ficou inconclusivo.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LEMBRAR-ME (não ler ao júri)</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Usar só a parte relevante para a pergunta. No caso do WebKit, explicar o bloqueio encontrado sem o apresentar como prova de incompatibilidade geral.</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 8.1.2 e Anexo B. Repetições idênticas dentro da configuração examinada.</a:t>
            </a:r>
            <a:endParaRPr lang="pt-PT" sz="2000" b="0" u="none" strike="noStrike">
              <a:solidFill>
                <a:srgbClr val="000000"/>
              </a:solidFill>
              <a:effectLst/>
              <a:uFillTx/>
              <a:latin typeface="Arial"/>
            </a:endParaRPr>
          </a:p>
        </p:txBody>
      </p:sp>
      <p:sp>
        <p:nvSpPr>
          <p:cNvPr id="560" name="PlaceHolder 3"/>
          <p:cNvSpPr>
            <a:spLocks noGrp="1"/>
          </p:cNvSpPr>
          <p:nvPr>
            <p:ph type="sldNum" idx="5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58BED8D-841A-4A2A-917A-8CB03938A947}"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1" name="PlaceHolder 1"/>
          <p:cNvSpPr>
            <a:spLocks noGrp="1"/>
          </p:cNvSpPr>
          <p:nvPr>
            <p:ph type="sldImg"/>
          </p:nvPr>
        </p:nvSpPr>
        <p:spPr>
          <a:xfrm>
            <a:off x="1143000" y="685800"/>
            <a:ext cx="4571640" cy="3428640"/>
          </a:xfrm>
          <a:prstGeom prst="rect">
            <a:avLst/>
          </a:prstGeom>
          <a:ln w="0">
            <a:noFill/>
          </a:ln>
        </p:spPr>
      </p:sp>
      <p:sp>
        <p:nvSpPr>
          <p:cNvPr id="56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Tempo para me orientar: apoio à discussão. Confirmar no ensaio.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QUE QUERO DIZER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Usei IA de duas formas neste trabalho.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Durante a investigação, recorri ao ChatGPT, Codex, Claude e Elicit para apoiar a pesquisa e organização da literatura, a escrita, o código e os ficheiros complementares. Esse uso está declarado no manuscrito. A responsabilidade pelo trabalho e pelas decisões é minha.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No HandFab, estudei uma função específica: sugerir valores iniciais para parâmetros conhecidos. Esses valores podem ser revistos antes de serem aplicados aos modelos.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Quando explico os resultados, apoio-me nos procedimentos e registos dos ensaios. É isso que permite acompanhar o que foi feito.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LEMBRAR-ME (não ler ao júri)</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Dar exemplos que correspondam ao trabalho realizado. Separar as ferramentas que usei para desenvolver o projeto da função de IA que avaliei no HandFab.</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 declaração inicial do manuscrito e capítulo 6.</a:t>
            </a:r>
            <a:endParaRPr lang="pt-PT" sz="2000" b="0" u="none" strike="noStrike">
              <a:solidFill>
                <a:srgbClr val="000000"/>
              </a:solidFill>
              <a:effectLst/>
              <a:uFillTx/>
              <a:latin typeface="Arial"/>
            </a:endParaRPr>
          </a:p>
        </p:txBody>
      </p:sp>
      <p:sp>
        <p:nvSpPr>
          <p:cNvPr id="563" name="PlaceHolder 3"/>
          <p:cNvSpPr>
            <a:spLocks noGrp="1"/>
          </p:cNvSpPr>
          <p:nvPr>
            <p:ph type="sldNum" idx="5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65FFB33-99D4-431B-8534-1872937547BE}"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4" name="PlaceHolder 1"/>
          <p:cNvSpPr>
            <a:spLocks noGrp="1"/>
          </p:cNvSpPr>
          <p:nvPr>
            <p:ph type="sldImg"/>
          </p:nvPr>
        </p:nvSpPr>
        <p:spPr>
          <a:xfrm>
            <a:off x="1143000" y="685800"/>
            <a:ext cx="4571640" cy="3428640"/>
          </a:xfrm>
          <a:prstGeom prst="rect">
            <a:avLst/>
          </a:prstGeom>
          <a:ln w="0">
            <a:noFill/>
          </a:ln>
        </p:spPr>
      </p:sp>
      <p:sp>
        <p:nvSpPr>
          <p:cNvPr id="56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Tempo para me orientar: apoio à discussão. Confirmar no ensaio.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QUE QUERO DIZER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Tenho aqui as referências que me ajudam a explicar o enquadramento de design e a metodologia.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Cross permite-me discutir o conhecimento produzido através do design. Fischer ajuda-me a pensar nas condições de modificação do sistema. Com Frayling e Zimmerman, enquadro a investigação através do desenvolvimento e análise do artefacto. O Design Council ajuda a explicar a organização do processo.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A seleção foi feita para apoiar o argumento desta apresentação. A revisão completa está no manuscrito.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LEMBRAR-ME (não ler ao júri)</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Ir diretamente ao autor relevante para a pergunta. A entrada completa de Frayling ainda precisa de ser conferida antes da prova. O ano mantém o que está no manuscrito.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Seleção da bibliografia do manuscrito · A ligação ao HandFab é uma interpretação aplicada ao projeto.</a:t>
            </a:r>
            <a:endParaRPr lang="pt-PT" sz="2000" b="0" u="none" strike="noStrike">
              <a:solidFill>
                <a:srgbClr val="000000"/>
              </a:solidFill>
              <a:effectLst/>
              <a:uFillTx/>
              <a:latin typeface="Arial"/>
            </a:endParaRPr>
          </a:p>
        </p:txBody>
      </p:sp>
      <p:sp>
        <p:nvSpPr>
          <p:cNvPr id="566" name="PlaceHolder 3"/>
          <p:cNvSpPr>
            <a:spLocks noGrp="1"/>
          </p:cNvSpPr>
          <p:nvPr>
            <p:ph type="sldNum" idx="6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F7E0499-F953-499A-85EA-66870330B01C}"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7" name="PlaceHolder 1"/>
          <p:cNvSpPr>
            <a:spLocks noGrp="1"/>
          </p:cNvSpPr>
          <p:nvPr>
            <p:ph type="sldImg"/>
          </p:nvPr>
        </p:nvSpPr>
        <p:spPr>
          <a:xfrm>
            <a:off x="1143000" y="685800"/>
            <a:ext cx="4571640" cy="3428640"/>
          </a:xfrm>
          <a:prstGeom prst="rect">
            <a:avLst/>
          </a:prstGeom>
          <a:ln w="0">
            <a:noFill/>
          </a:ln>
        </p:spPr>
      </p:sp>
      <p:sp>
        <p:nvSpPr>
          <p:cNvPr id="56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pt-PT" sz="2000" b="0" u="none" strike="noStrike">
                <a:solidFill>
                  <a:srgbClr val="000000"/>
                </a:solidFill>
                <a:effectLst/>
                <a:uFillTx/>
                <a:latin typeface="Arial"/>
              </a:rPr>
              <a:t>Tempo para me orientar: apoio à discussão. Confirmar no ensaio.</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 QUE QUERO DIZER</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Estas são as referências de apoio ao domínio das próteses e aos dados antropométricos.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Manero enquadra a impressão 3D no desenvolvimento de próteses. Cabibihan examina a funcionalidade e a durabilidade de mãos abertas. Gordon documenta os levantamentos antropométricos. Na DINED, identifico os conjuntos consultados, e a ISO 7250-1 ajuda a definir as medidas.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Os dados publicados pertencem a essas fontes. O meu trabalho foi prepará-los para o HandFab e avaliar o percurso implementado. Os registos estão no manuscrito e nos suplementos.</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LEMBRAR-ME (não ler ao júri)</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Identificar a fonte que responde à pergunta. A norma ajuda-me a definir as medidas; não garante a conformidade de todos os dados. Para avaliar uma pessoa concreta, os perfis populacionais são apenas uma referência de partida.</a:t>
            </a:r>
            <a:endParaRPr lang="pt-PT" sz="2000" b="0" u="none" strike="noStrike">
              <a:solidFill>
                <a:srgbClr val="000000"/>
              </a:solidFill>
              <a:effectLst/>
              <a:uFillTx/>
              <a:latin typeface="Arial"/>
            </a:endParaRPr>
          </a:p>
          <a:p>
            <a:pPr indent="0" algn="l">
              <a:lnSpc>
                <a:spcPct val="100000"/>
              </a:lnSpc>
              <a:buNone/>
            </a:pP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FONTES PARA CONSULTA</a:t>
            </a:r>
            <a:endParaRPr lang="pt-PT" sz="2000" b="0" u="none" strike="noStrike">
              <a:solidFill>
                <a:srgbClr val="000000"/>
              </a:solidFill>
              <a:effectLst/>
              <a:uFillTx/>
              <a:latin typeface="Arial"/>
            </a:endParaRPr>
          </a:p>
          <a:p>
            <a:pPr indent="0" algn="l">
              <a:lnSpc>
                <a:spcPct val="100000"/>
              </a:lnSpc>
              <a:buNone/>
            </a:pPr>
            <a:r>
              <a:rPr lang="pt-PT" sz="2000" b="0" u="none" strike="noStrike">
                <a:solidFill>
                  <a:srgbClr val="000000"/>
                </a:solidFill>
                <a:effectLst/>
                <a:uFillTx/>
                <a:latin typeface="Arial"/>
              </a:rPr>
              <a:t>Dados e atribuições: Suplemento 1 · Ensaios do projeto: Suplementos 2-4 · Obras distintas com funções próprias.</a:t>
            </a:r>
            <a:endParaRPr lang="pt-PT" sz="2000" b="0" u="none" strike="noStrike">
              <a:solidFill>
                <a:srgbClr val="000000"/>
              </a:solidFill>
              <a:effectLst/>
              <a:uFillTx/>
              <a:latin typeface="Arial"/>
            </a:endParaRPr>
          </a:p>
        </p:txBody>
      </p:sp>
      <p:sp>
        <p:nvSpPr>
          <p:cNvPr id="569" name="PlaceHolder 3"/>
          <p:cNvSpPr>
            <a:spLocks noGrp="1"/>
          </p:cNvSpPr>
          <p:nvPr>
            <p:ph type="sldNum" idx="6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246FBA6-1B94-4DA3-836A-AE5576219DAD}" type="slidenum">
              <a:rPr lang="en-US" sz="1200" b="0" u="none" strike="noStrike">
                <a:solidFill>
                  <a:srgbClr val="000000"/>
                </a:solidFill>
                <a:effectLst/>
                <a:uFillTx/>
                <a:latin typeface="Times New Roman"/>
              </a:rPr>
              <a:t>&lt;number&gt;</a:t>
            </a:fld>
            <a:endParaRPr lang="pt-PT"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pt-PT"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pt-PT" sz="1400" b="0" u="none" strike="noStrike">
                <a:solidFill>
                  <a:srgbClr val="000000"/>
                </a:solidFill>
                <a:effectLst/>
                <a:uFillTx/>
                <a:latin typeface="Times New Roman"/>
              </a:defRPr>
            </a:lvl1pPr>
          </a:lstStyle>
          <a:p>
            <a:pPr indent="0" algn="ctr">
              <a:buNone/>
            </a:pPr>
            <a:r>
              <a:rPr lang="pt-PT" sz="1400" b="0" u="none" strike="noStrike">
                <a:solidFill>
                  <a:srgbClr val="000000"/>
                </a:solidFill>
                <a:effectLst/>
                <a:uFillTx/>
                <a:latin typeface="Times New Roman"/>
              </a:rPr>
              <a:t>&lt;footer&gt;</a:t>
            </a:r>
            <a:endParaRPr lang="pt-PT"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B3F2A63-C54F-4C1F-AA41-91D4135F2194}" type="slidenum">
              <a:rPr lang="en-US" sz="1200" b="0" u="none" strike="noStrike">
                <a:solidFill>
                  <a:schemeClr val="dk1">
                    <a:tint val="75000"/>
                  </a:schemeClr>
                </a:solidFill>
                <a:effectLst/>
                <a:uFillTx/>
                <a:latin typeface="Calibri"/>
              </a:rPr>
              <a:t>&lt;number&gt;</a:t>
            </a:fld>
            <a:endParaRPr lang="pt-PT"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a:t>
            </a:r>
            <a:r>
              <a:rPr lang="en-US" sz="4400" b="0" u="none" strike="noStrike">
                <a:solidFill>
                  <a:schemeClr val="dk1"/>
                </a:solidFill>
                <a:effectLst/>
                <a:uFillTx/>
                <a:latin typeface="Calibri"/>
              </a:rPr>
              <a:t>Master title 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pt-PT"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pt-PT" sz="1400" b="0" u="none" strike="noStrike">
                <a:solidFill>
                  <a:srgbClr val="000000"/>
                </a:solidFill>
                <a:effectLst/>
                <a:uFillTx/>
                <a:latin typeface="Times New Roman"/>
              </a:defRPr>
            </a:lvl1pPr>
          </a:lstStyle>
          <a:p>
            <a:pPr indent="0" algn="ctr">
              <a:buNone/>
            </a:pPr>
            <a:r>
              <a:rPr lang="pt-PT" sz="1400" b="0" u="none" strike="noStrike">
                <a:solidFill>
                  <a:srgbClr val="000000"/>
                </a:solidFill>
                <a:effectLst/>
                <a:uFillTx/>
                <a:latin typeface="Times New Roman"/>
              </a:rPr>
              <a:t>&lt;footer&gt;</a:t>
            </a:r>
            <a:endParaRPr lang="pt-PT"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023FE31F-0D78-45C3-8D41-8030F8724A12}" type="slidenum">
              <a:rPr lang="en-US" sz="1200" b="0" u="none" strike="noStrike">
                <a:solidFill>
                  <a:schemeClr val="dk1">
                    <a:tint val="75000"/>
                  </a:schemeClr>
                </a:solidFill>
                <a:effectLst/>
                <a:uFillTx/>
                <a:latin typeface="Calibri"/>
              </a:rPr>
              <a:t>&lt;number&gt;</a:t>
            </a:fld>
            <a:endParaRPr lang="pt-PT"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a:t>
            </a:r>
            <a:r>
              <a:rPr lang="en-US" sz="4400" b="0" u="none" strike="noStrike">
                <a:solidFill>
                  <a:schemeClr val="dk1"/>
                </a:solidFill>
                <a:effectLst/>
                <a:uFillTx/>
                <a:latin typeface="Calibri"/>
              </a:rPr>
              <a:t>ic</a:t>
            </a:r>
            <a:r>
              <a:rPr lang="en-US" sz="4400" b="0" u="none" strike="noStrike">
                <a:solidFill>
                  <a:schemeClr val="dk1"/>
                </a:solidFill>
                <a:effectLst/>
                <a:uFillTx/>
                <a:latin typeface="Calibri"/>
              </a:rPr>
              <a:t>k </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o </a:t>
            </a:r>
            <a:r>
              <a:rPr lang="en-US" sz="4400" b="0" u="none" strike="noStrike">
                <a:solidFill>
                  <a:schemeClr val="dk1"/>
                </a:solidFill>
                <a:effectLst/>
                <a:uFillTx/>
                <a:latin typeface="Calibri"/>
              </a:rPr>
              <a:t>e</a:t>
            </a:r>
            <a:r>
              <a:rPr lang="en-US" sz="4400" b="0" u="none" strike="noStrike">
                <a:solidFill>
                  <a:schemeClr val="dk1"/>
                </a:solidFill>
                <a:effectLst/>
                <a:uFillTx/>
                <a:latin typeface="Calibri"/>
              </a:rPr>
              <a:t>di</a:t>
            </a:r>
            <a:r>
              <a:rPr lang="en-US" sz="4400" b="0" u="none" strike="noStrike">
                <a:solidFill>
                  <a:schemeClr val="dk1"/>
                </a:solidFill>
                <a:effectLst/>
                <a:uFillTx/>
                <a:latin typeface="Calibri"/>
              </a:rPr>
              <a:t>t </a:t>
            </a:r>
            <a:r>
              <a:rPr lang="en-US" sz="4400" b="0" u="none" strike="noStrike">
                <a:solidFill>
                  <a:schemeClr val="dk1"/>
                </a:solidFill>
                <a:effectLst/>
                <a:uFillTx/>
                <a:latin typeface="Calibri"/>
              </a:rPr>
              <a:t>M</a:t>
            </a:r>
            <a:r>
              <a:rPr lang="en-US" sz="4400" b="0" u="none" strike="noStrike">
                <a:solidFill>
                  <a:schemeClr val="dk1"/>
                </a:solidFill>
                <a:effectLst/>
                <a:uFillTx/>
                <a:latin typeface="Calibri"/>
              </a:rPr>
              <a:t>a</a:t>
            </a:r>
            <a:r>
              <a:rPr lang="en-US" sz="4400" b="0" u="none" strike="noStrike">
                <a:solidFill>
                  <a:schemeClr val="dk1"/>
                </a:solidFill>
                <a:effectLst/>
                <a:uFillTx/>
                <a:latin typeface="Calibri"/>
              </a:rPr>
              <a:t>st</a:t>
            </a:r>
            <a:r>
              <a:rPr lang="en-US" sz="4400" b="0" u="none" strike="noStrike">
                <a:solidFill>
                  <a:schemeClr val="dk1"/>
                </a:solidFill>
                <a:effectLst/>
                <a:uFillTx/>
                <a:latin typeface="Calibri"/>
              </a:rPr>
              <a:t>e</a:t>
            </a:r>
            <a:r>
              <a:rPr lang="en-US" sz="4400" b="0" u="none" strike="noStrike">
                <a:solidFill>
                  <a:schemeClr val="dk1"/>
                </a:solidFill>
                <a:effectLst/>
                <a:uFillTx/>
                <a:latin typeface="Calibri"/>
              </a:rPr>
              <a:t>r </a:t>
            </a:r>
            <a:r>
              <a:rPr lang="en-US" sz="4400" b="0" u="none" strike="noStrike">
                <a:solidFill>
                  <a:schemeClr val="dk1"/>
                </a:solidFill>
                <a:effectLst/>
                <a:uFillTx/>
                <a:latin typeface="Calibri"/>
              </a:rPr>
              <a:t>ti</a:t>
            </a:r>
            <a:r>
              <a:rPr lang="en-US" sz="4400" b="0" u="none" strike="noStrike">
                <a:solidFill>
                  <a:schemeClr val="dk1"/>
                </a:solidFill>
                <a:effectLst/>
                <a:uFillTx/>
                <a:latin typeface="Calibri"/>
              </a:rPr>
              <a:t>tl</a:t>
            </a:r>
            <a:r>
              <a:rPr lang="en-US" sz="4400" b="0" u="none" strike="noStrike">
                <a:solidFill>
                  <a:schemeClr val="dk1"/>
                </a:solidFill>
                <a:effectLst/>
                <a:uFillTx/>
                <a:latin typeface="Calibri"/>
              </a:rPr>
              <a:t>e </a:t>
            </a:r>
            <a:r>
              <a:rPr lang="en-US" sz="4400" b="0" u="none" strike="noStrike">
                <a:solidFill>
                  <a:schemeClr val="dk1"/>
                </a:solidFill>
                <a:effectLst/>
                <a:uFillTx/>
                <a:latin typeface="Calibri"/>
              </a:rPr>
              <a:t>st</a:t>
            </a:r>
            <a:r>
              <a:rPr lang="en-US" sz="4400" b="0" u="none" strike="noStrike">
                <a:solidFill>
                  <a:schemeClr val="dk1"/>
                </a:solidFill>
                <a:effectLst/>
                <a:uFillTx/>
                <a:latin typeface="Calibri"/>
              </a:rPr>
              <a:t>yl</a:t>
            </a:r>
            <a:r>
              <a:rPr lang="en-US" sz="4400" b="0" u="none" strike="noStrike">
                <a:solidFill>
                  <a:schemeClr val="dk1"/>
                </a:solidFill>
                <a:effectLst/>
                <a:uFillTx/>
                <a:latin typeface="Calibri"/>
              </a:rPr>
              <a:t>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pt-PT"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pt-PT" sz="1400" b="0" u="none" strike="noStrike">
                <a:solidFill>
                  <a:srgbClr val="000000"/>
                </a:solidFill>
                <a:effectLst/>
                <a:uFillTx/>
                <a:latin typeface="Times New Roman"/>
              </a:defRPr>
            </a:lvl1pPr>
          </a:lstStyle>
          <a:p>
            <a:pPr indent="0" algn="ctr">
              <a:buNone/>
            </a:pPr>
            <a:r>
              <a:rPr lang="pt-PT" sz="1400" b="0" u="none" strike="noStrike">
                <a:solidFill>
                  <a:srgbClr val="000000"/>
                </a:solidFill>
                <a:effectLst/>
                <a:uFillTx/>
                <a:latin typeface="Times New Roman"/>
              </a:rPr>
              <a:t>&lt;footer&gt;</a:t>
            </a:r>
            <a:endParaRPr lang="pt-PT"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6A0386D7-3E96-41E4-9C2B-D80A81005989}" type="slidenum">
              <a:rPr lang="en-US" sz="1200" b="0" u="none" strike="noStrike">
                <a:solidFill>
                  <a:schemeClr val="dk1">
                    <a:tint val="75000"/>
                  </a:schemeClr>
                </a:solidFill>
                <a:effectLst/>
                <a:uFillTx/>
                <a:latin typeface="Calibri"/>
              </a:rPr>
              <a:t>&lt;number&gt;</a:t>
            </a:fld>
            <a:endParaRPr lang="pt-PT"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pt-PT"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pt-PT" sz="1400" b="0" u="none" strike="noStrike">
                <a:solidFill>
                  <a:srgbClr val="000000"/>
                </a:solidFill>
                <a:effectLst/>
                <a:uFillTx/>
                <a:latin typeface="Times New Roman"/>
              </a:defRPr>
            </a:lvl1pPr>
          </a:lstStyle>
          <a:p>
            <a:pPr indent="0" algn="ctr">
              <a:buNone/>
            </a:pPr>
            <a:r>
              <a:rPr lang="pt-PT" sz="1400" b="0" u="none" strike="noStrike">
                <a:solidFill>
                  <a:srgbClr val="000000"/>
                </a:solidFill>
                <a:effectLst/>
                <a:uFillTx/>
                <a:latin typeface="Times New Roman"/>
              </a:rPr>
              <a:t>&lt;footer&gt;</a:t>
            </a:r>
            <a:endParaRPr lang="pt-PT"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444E5089-1E6C-477D-9128-3A3B0DDFF3BE}" type="slidenum">
              <a:rPr lang="en-US" sz="1200" b="0" u="none" strike="noStrike">
                <a:solidFill>
                  <a:schemeClr val="dk1">
                    <a:tint val="75000"/>
                  </a:schemeClr>
                </a:solidFill>
                <a:effectLst/>
                <a:uFillTx/>
                <a:latin typeface="Calibri"/>
              </a:rPr>
              <a:t>&lt;number&gt;</a:t>
            </a:fld>
            <a:endParaRPr lang="pt-PT"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pt-PT"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pt-PT" sz="1400" b="0" u="none" strike="noStrike">
                <a:solidFill>
                  <a:srgbClr val="000000"/>
                </a:solidFill>
                <a:effectLst/>
                <a:uFillTx/>
                <a:latin typeface="Times New Roman"/>
              </a:defRPr>
            </a:lvl1pPr>
          </a:lstStyle>
          <a:p>
            <a:pPr indent="0" algn="ctr">
              <a:buNone/>
            </a:pPr>
            <a:r>
              <a:rPr lang="pt-PT" sz="1400" b="0" u="none" strike="noStrike">
                <a:solidFill>
                  <a:srgbClr val="000000"/>
                </a:solidFill>
                <a:effectLst/>
                <a:uFillTx/>
                <a:latin typeface="Times New Roman"/>
              </a:rPr>
              <a:t>&lt;footer&gt;</a:t>
            </a:r>
            <a:endParaRPr lang="pt-PT"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B168EEA0-50A2-4F7F-A923-01559AF22B8B}" type="slidenum">
              <a:rPr lang="en-US" sz="1200" b="0" u="none" strike="noStrike">
                <a:solidFill>
                  <a:schemeClr val="dk1">
                    <a:tint val="75000"/>
                  </a:schemeClr>
                </a:solidFill>
                <a:effectLst/>
                <a:uFillTx/>
                <a:latin typeface="Calibri"/>
              </a:rPr>
              <a:t>&lt;number&gt;</a:t>
            </a:fld>
            <a:endParaRPr lang="pt-PT"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pt-PT"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pt-PT" sz="1400" b="0" u="none" strike="noStrike">
                <a:solidFill>
                  <a:srgbClr val="000000"/>
                </a:solidFill>
                <a:effectLst/>
                <a:uFillTx/>
                <a:latin typeface="Times New Roman"/>
              </a:defRPr>
            </a:lvl1pPr>
          </a:lstStyle>
          <a:p>
            <a:pPr indent="0" algn="ctr">
              <a:buNone/>
            </a:pPr>
            <a:r>
              <a:rPr lang="pt-PT" sz="1400" b="0" u="none" strike="noStrike">
                <a:solidFill>
                  <a:srgbClr val="000000"/>
                </a:solidFill>
                <a:effectLst/>
                <a:uFillTx/>
                <a:latin typeface="Times New Roman"/>
              </a:rPr>
              <a:t>&lt;footer&gt;</a:t>
            </a:r>
            <a:endParaRPr lang="pt-PT"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8313C83-AADA-46A9-B9C1-1DCED7BA76AD}" type="slidenum">
              <a:rPr lang="en-US" sz="1200" b="0" u="none" strike="noStrike">
                <a:solidFill>
                  <a:schemeClr val="dk1">
                    <a:tint val="75000"/>
                  </a:schemeClr>
                </a:solidFill>
                <a:effectLst/>
                <a:uFillTx/>
                <a:latin typeface="Calibri"/>
              </a:rPr>
              <a:t>&lt;number&gt;</a:t>
            </a:fld>
            <a:endParaRPr lang="pt-PT"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pt-PT"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pt-PT" sz="1400" b="0" u="none" strike="noStrike">
                <a:solidFill>
                  <a:srgbClr val="000000"/>
                </a:solidFill>
                <a:effectLst/>
                <a:uFillTx/>
                <a:latin typeface="Times New Roman"/>
              </a:defRPr>
            </a:lvl1pPr>
          </a:lstStyle>
          <a:p>
            <a:pPr indent="0" algn="ctr">
              <a:buNone/>
            </a:pPr>
            <a:r>
              <a:rPr lang="pt-PT" sz="1400" b="0" u="none" strike="noStrike">
                <a:solidFill>
                  <a:srgbClr val="000000"/>
                </a:solidFill>
                <a:effectLst/>
                <a:uFillTx/>
                <a:latin typeface="Times New Roman"/>
              </a:rPr>
              <a:t>&lt;footer&gt;</a:t>
            </a:r>
            <a:endParaRPr lang="pt-PT"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20DD400D-FD71-463E-8C22-F46FD5E15898}" type="slidenum">
              <a:rPr lang="en-US" sz="1200" b="0" u="none" strike="noStrike">
                <a:solidFill>
                  <a:schemeClr val="dk1">
                    <a:tint val="75000"/>
                  </a:schemeClr>
                </a:solidFill>
                <a:effectLst/>
                <a:uFillTx/>
                <a:latin typeface="Calibri"/>
              </a:rPr>
              <a:t>&lt;number&gt;</a:t>
            </a:fld>
            <a:endParaRPr lang="pt-PT"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pt-PT"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pt-PT" sz="1400" b="0" u="none" strike="noStrike">
                <a:solidFill>
                  <a:srgbClr val="000000"/>
                </a:solidFill>
                <a:effectLst/>
                <a:uFillTx/>
                <a:latin typeface="Times New Roman"/>
              </a:defRPr>
            </a:lvl1pPr>
          </a:lstStyle>
          <a:p>
            <a:pPr indent="0" algn="ctr">
              <a:buNone/>
            </a:pPr>
            <a:r>
              <a:rPr lang="pt-PT" sz="1400" b="0" u="none" strike="noStrike">
                <a:solidFill>
                  <a:srgbClr val="000000"/>
                </a:solidFill>
                <a:effectLst/>
                <a:uFillTx/>
                <a:latin typeface="Times New Roman"/>
              </a:rPr>
              <a:t>&lt;footer&gt;</a:t>
            </a:r>
            <a:endParaRPr lang="pt-PT"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56DD70B-BD94-4876-A61B-51D812610E0B}" type="slidenum">
              <a:rPr lang="en-US" sz="1200" b="0" u="none" strike="noStrike">
                <a:solidFill>
                  <a:schemeClr val="dk1">
                    <a:tint val="75000"/>
                  </a:schemeClr>
                </a:solidFill>
                <a:effectLst/>
                <a:uFillTx/>
                <a:latin typeface="Calibri"/>
              </a:rPr>
              <a:t>&lt;number&gt;</a:t>
            </a:fld>
            <a:endParaRPr lang="pt-PT"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pt-PT"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pt-PT" sz="1400" b="0" u="none" strike="noStrike">
                <a:solidFill>
                  <a:srgbClr val="000000"/>
                </a:solidFill>
                <a:effectLst/>
                <a:uFillTx/>
                <a:latin typeface="Times New Roman"/>
              </a:defRPr>
            </a:lvl1pPr>
          </a:lstStyle>
          <a:p>
            <a:pPr indent="0" algn="ctr">
              <a:buNone/>
            </a:pPr>
            <a:r>
              <a:rPr lang="pt-PT" sz="1400" b="0" u="none" strike="noStrike">
                <a:solidFill>
                  <a:srgbClr val="000000"/>
                </a:solidFill>
                <a:effectLst/>
                <a:uFillTx/>
                <a:latin typeface="Times New Roman"/>
              </a:rPr>
              <a:t>&lt;footer&gt;</a:t>
            </a:r>
            <a:endParaRPr lang="pt-PT"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8CA874A-1B48-4302-B281-4C0EB605C2F5}" type="slidenum">
              <a:rPr lang="en-US" sz="1200" b="0" u="none" strike="noStrike">
                <a:solidFill>
                  <a:schemeClr val="dk1">
                    <a:tint val="75000"/>
                  </a:schemeClr>
                </a:solidFill>
                <a:effectLst/>
                <a:uFillTx/>
                <a:latin typeface="Calibri"/>
              </a:rPr>
              <a:t>&lt;number&gt;</a:t>
            </a:fld>
            <a:endParaRPr lang="pt-PT"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48"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pt-PT"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pt-PT" sz="1400" b="0" u="none" strike="noStrike">
                <a:solidFill>
                  <a:srgbClr val="000000"/>
                </a:solidFill>
                <a:effectLst/>
                <a:uFillTx/>
                <a:latin typeface="Times New Roman"/>
              </a:defRPr>
            </a:lvl1pPr>
          </a:lstStyle>
          <a:p>
            <a:pPr indent="0" algn="ctr">
              <a:buNone/>
            </a:pPr>
            <a:r>
              <a:rPr lang="pt-PT" sz="1400" b="0" u="none" strike="noStrike">
                <a:solidFill>
                  <a:srgbClr val="000000"/>
                </a:solidFill>
                <a:effectLst/>
                <a:uFillTx/>
                <a:latin typeface="Times New Roman"/>
              </a:rPr>
              <a:t>&lt;footer&gt;</a:t>
            </a:r>
            <a:endParaRPr lang="pt-PT"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9684312-5912-4149-B3A9-30A4BBAEFC90}" type="slidenum">
              <a:rPr lang="en-US" sz="1200" b="0" u="none" strike="noStrike">
                <a:solidFill>
                  <a:schemeClr val="dk1">
                    <a:tint val="75000"/>
                  </a:schemeClr>
                </a:solidFill>
                <a:effectLst/>
                <a:uFillTx/>
                <a:latin typeface="Calibri"/>
              </a:rPr>
              <a:t>&lt;number&gt;</a:t>
            </a:fld>
            <a:endParaRPr lang="pt-PT"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pt-PT"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pt-PT" sz="1400" b="0" u="none" strike="noStrike">
                <a:solidFill>
                  <a:srgbClr val="000000"/>
                </a:solidFill>
                <a:effectLst/>
                <a:uFillTx/>
                <a:latin typeface="Times New Roman"/>
              </a:defRPr>
            </a:lvl1pPr>
          </a:lstStyle>
          <a:p>
            <a:pPr indent="0" algn="ctr">
              <a:buNone/>
            </a:pPr>
            <a:r>
              <a:rPr lang="pt-PT" sz="1400" b="0" u="none" strike="noStrike">
                <a:solidFill>
                  <a:srgbClr val="000000"/>
                </a:solidFill>
                <a:effectLst/>
                <a:uFillTx/>
                <a:latin typeface="Times New Roman"/>
              </a:rPr>
              <a:t>&lt;footer&gt;</a:t>
            </a:r>
            <a:endParaRPr lang="pt-PT"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82AEFCBE-D67C-48CD-B836-9BCFF4180C2D}" type="slidenum">
              <a:rPr lang="en-US" sz="1200" b="0" u="none" strike="noStrike">
                <a:solidFill>
                  <a:schemeClr val="dk1">
                    <a:tint val="75000"/>
                  </a:schemeClr>
                </a:solidFill>
                <a:effectLst/>
                <a:uFillTx/>
                <a:latin typeface="Calibri"/>
              </a:rPr>
              <a:t>&lt;number&gt;</a:t>
            </a:fld>
            <a:endParaRPr lang="pt-PT"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jpeg"/><Relationship Id="rId3" Type="http://schemas.openxmlformats.org/officeDocument/2006/relationships/slideLayout" Target="../slideLayouts/slideLayout9.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9.xml"/><Relationship Id="rId4"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9.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9.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9.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67"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8"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MESTRADO EM DESIGN E DESENVOLVIMENTO DE PRODUTO · UPCA</a:t>
            </a:r>
            <a:endParaRPr lang="pt-PT" sz="1100" b="0" u="none" strike="noStrike">
              <a:solidFill>
                <a:srgbClr val="000000"/>
              </a:solidFill>
              <a:effectLst/>
              <a:uFillTx/>
              <a:latin typeface="Arial"/>
            </a:endParaRPr>
          </a:p>
        </p:txBody>
      </p:sp>
      <p:sp>
        <p:nvSpPr>
          <p:cNvPr id="69"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Da medida à peça física</a:t>
            </a:r>
            <a:endParaRPr lang="pt-PT" sz="3200" b="0" u="none" strike="noStrike">
              <a:solidFill>
                <a:srgbClr val="000000"/>
              </a:solidFill>
              <a:effectLst/>
              <a:uFillTx/>
              <a:latin typeface="Arial"/>
            </a:endParaRPr>
          </a:p>
        </p:txBody>
      </p:sp>
      <p:sp>
        <p:nvSpPr>
          <p:cNvPr id="70"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Imagem: produção do autor · Suplemento 4 · Phoenix, observação de montagem em bancada.</a:t>
            </a:r>
            <a:endParaRPr lang="pt-PT" sz="1000" b="0" u="none" strike="noStrike">
              <a:solidFill>
                <a:srgbClr val="000000"/>
              </a:solidFill>
              <a:effectLst/>
              <a:uFillTx/>
              <a:latin typeface="Arial"/>
            </a:endParaRPr>
          </a:p>
        </p:txBody>
      </p:sp>
      <p:sp>
        <p:nvSpPr>
          <p:cNvPr id="71"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01</a:t>
            </a:r>
            <a:endParaRPr lang="pt-PT" sz="1100" b="0" u="none" strike="noStrike">
              <a:solidFill>
                <a:srgbClr val="000000"/>
              </a:solidFill>
              <a:effectLst/>
              <a:uFillTx/>
              <a:latin typeface="Arial"/>
            </a:endParaRPr>
          </a:p>
        </p:txBody>
      </p:sp>
      <p:sp>
        <p:nvSpPr>
          <p:cNvPr id="72" name="TextBox 6"/>
          <p:cNvSpPr/>
          <p:nvPr/>
        </p:nvSpPr>
        <p:spPr>
          <a:xfrm>
            <a:off x="640080" y="1865520"/>
            <a:ext cx="5623200" cy="24685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Integração do design e da inteligência artificial em processos paramétricos para o desenvolvimento de próteses de membros superiores em impressão 3D</a:t>
            </a:r>
            <a:endParaRPr lang="pt-PT" sz="2300" b="0" u="none" strike="noStrike">
              <a:solidFill>
                <a:srgbClr val="000000"/>
              </a:solidFill>
              <a:effectLst/>
              <a:uFillTx/>
              <a:latin typeface="Arial"/>
            </a:endParaRPr>
          </a:p>
        </p:txBody>
      </p:sp>
      <p:sp>
        <p:nvSpPr>
          <p:cNvPr id="73" name="TextBox 7"/>
          <p:cNvSpPr/>
          <p:nvPr/>
        </p:nvSpPr>
        <p:spPr>
          <a:xfrm>
            <a:off x="640080" y="4526280"/>
            <a:ext cx="5577480" cy="5940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100" b="1" u="none" strike="noStrike">
                <a:solidFill>
                  <a:srgbClr val="193536"/>
                </a:solidFill>
                <a:effectLst/>
                <a:uFillTx/>
                <a:latin typeface="Arial"/>
              </a:rPr>
              <a:t>Pedro Miguel Candeias da Silva</a:t>
            </a:r>
            <a:endParaRPr lang="pt-PT" sz="2100" b="0" u="none" strike="noStrike">
              <a:solidFill>
                <a:srgbClr val="000000"/>
              </a:solidFill>
              <a:effectLst/>
              <a:uFillTx/>
              <a:latin typeface="Arial"/>
            </a:endParaRPr>
          </a:p>
        </p:txBody>
      </p:sp>
      <p:sp>
        <p:nvSpPr>
          <p:cNvPr id="74" name="TextBox 8"/>
          <p:cNvSpPr/>
          <p:nvPr/>
        </p:nvSpPr>
        <p:spPr>
          <a:xfrm>
            <a:off x="640080" y="5148000"/>
            <a:ext cx="5577480" cy="8226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566B6A"/>
                </a:solidFill>
                <a:effectLst/>
                <a:uFillTx/>
                <a:latin typeface="Arial"/>
              </a:rPr>
              <a:t>Orientador: Doutor Demétrio Ferreira Matos</a:t>
            </a:r>
            <a:endParaRPr lang="pt-PT" sz="1700" b="0" u="none" strike="noStrike">
              <a:solidFill>
                <a:srgbClr val="000000"/>
              </a:solidFill>
              <a:effectLst/>
              <a:uFillTx/>
              <a:latin typeface="Arial"/>
            </a:endParaRPr>
          </a:p>
          <a:p>
            <a:pPr defTabSz="457200">
              <a:lnSpc>
                <a:spcPct val="110000"/>
              </a:lnSpc>
              <a:spcAft>
                <a:spcPts val="700"/>
              </a:spcAft>
            </a:pPr>
            <a:r>
              <a:rPr lang="en-US" sz="1700" b="0" u="none" strike="noStrike">
                <a:solidFill>
                  <a:srgbClr val="566B6A"/>
                </a:solidFill>
                <a:effectLst/>
                <a:uFillTx/>
                <a:latin typeface="Arial"/>
              </a:rPr>
              <a:t>Projeto de mestrado · 2026</a:t>
            </a:r>
            <a:endParaRPr lang="pt-PT" sz="1700" b="0" u="none" strike="noStrike">
              <a:solidFill>
                <a:srgbClr val="000000"/>
              </a:solidFill>
              <a:effectLst/>
              <a:uFillTx/>
              <a:latin typeface="Arial"/>
            </a:endParaRPr>
          </a:p>
        </p:txBody>
      </p:sp>
      <p:pic>
        <p:nvPicPr>
          <p:cNvPr id="75" name="Picture 9" descr="upca_logo_oficial.png"/>
          <p:cNvPicPr/>
          <p:nvPr/>
        </p:nvPicPr>
        <p:blipFill>
          <a:blip r:embed="rId1"/>
          <a:stretch/>
        </p:blipFill>
        <p:spPr>
          <a:xfrm>
            <a:off x="8869680" y="411480"/>
            <a:ext cx="2651400" cy="1082160"/>
          </a:xfrm>
          <a:prstGeom prst="rect">
            <a:avLst/>
          </a:prstGeom>
          <a:noFill/>
          <a:ln w="0">
            <a:noFill/>
          </a:ln>
        </p:spPr>
      </p:pic>
      <p:sp>
        <p:nvSpPr>
          <p:cNvPr id="76" name="Rectangle 10"/>
          <p:cNvSpPr/>
          <p:nvPr/>
        </p:nvSpPr>
        <p:spPr>
          <a:xfrm>
            <a:off x="6492240" y="1847160"/>
            <a:ext cx="5028840" cy="343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77" name="Picture 11" descr="phoenix_montagem.jpg"/>
          <p:cNvPicPr/>
          <p:nvPr/>
        </p:nvPicPr>
        <p:blipFill>
          <a:blip r:embed="rId2"/>
          <a:stretch/>
        </p:blipFill>
        <p:spPr>
          <a:xfrm>
            <a:off x="6492240" y="2151720"/>
            <a:ext cx="5028840" cy="2828520"/>
          </a:xfrm>
          <a:prstGeom prst="rect">
            <a:avLst/>
          </a:prstGeom>
          <a:noFill/>
          <a:ln w="0">
            <a:noFill/>
          </a:ln>
        </p:spPr>
      </p:pic>
      <p:sp>
        <p:nvSpPr>
          <p:cNvPr id="78" name="TextBox 12"/>
          <p:cNvSpPr/>
          <p:nvPr/>
        </p:nvSpPr>
        <p:spPr>
          <a:xfrm>
            <a:off x="6510600" y="5431680"/>
            <a:ext cx="4937400" cy="4752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1" u="none" strike="noStrike">
                <a:solidFill>
                  <a:srgbClr val="007C78"/>
                </a:solidFill>
                <a:effectLst/>
                <a:uFillTx/>
                <a:latin typeface="Arial"/>
              </a:rPr>
              <a:t>HandFab: da configuração à peça</a:t>
            </a:r>
            <a:endParaRPr lang="pt-P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79"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0"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PROBLEMA DE DESIGN</a:t>
            </a:r>
            <a:endParaRPr lang="pt-PT" sz="1100" b="0" u="none" strike="noStrike">
              <a:solidFill>
                <a:srgbClr val="000000"/>
              </a:solidFill>
              <a:effectLst/>
              <a:uFillTx/>
              <a:latin typeface="Arial"/>
            </a:endParaRPr>
          </a:p>
        </p:txBody>
      </p:sp>
      <p:sp>
        <p:nvSpPr>
          <p:cNvPr id="81"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Como passar de uma medida a uma peça?</a:t>
            </a:r>
            <a:endParaRPr lang="pt-PT" sz="3200" b="0" u="none" strike="noStrike">
              <a:solidFill>
                <a:srgbClr val="000000"/>
              </a:solidFill>
              <a:effectLst/>
              <a:uFillTx/>
              <a:latin typeface="Arial"/>
            </a:endParaRPr>
          </a:p>
        </p:txBody>
      </p:sp>
      <p:sp>
        <p:nvSpPr>
          <p:cNvPr id="82"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Contexto: Manero et al. (2019); Cabibihan et al. (2021) · Problema específico: manuscrito, 1.2 e 4.3-4.4.</a:t>
            </a:r>
            <a:endParaRPr lang="pt-PT" sz="1000" b="0" u="none" strike="noStrike">
              <a:solidFill>
                <a:srgbClr val="000000"/>
              </a:solidFill>
              <a:effectLst/>
              <a:uFillTx/>
              <a:latin typeface="Arial"/>
            </a:endParaRPr>
          </a:p>
        </p:txBody>
      </p:sp>
      <p:sp>
        <p:nvSpPr>
          <p:cNvPr id="83"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02</a:t>
            </a:r>
            <a:endParaRPr lang="pt-PT" sz="1100" b="0" u="none" strike="noStrike">
              <a:solidFill>
                <a:srgbClr val="000000"/>
              </a:solidFill>
              <a:effectLst/>
              <a:uFillTx/>
              <a:latin typeface="Arial"/>
            </a:endParaRPr>
          </a:p>
        </p:txBody>
      </p:sp>
      <p:sp>
        <p:nvSpPr>
          <p:cNvPr id="84" name="Rectangle 6"/>
          <p:cNvSpPr/>
          <p:nvPr/>
        </p:nvSpPr>
        <p:spPr>
          <a:xfrm>
            <a:off x="640080" y="2057400"/>
            <a:ext cx="2541600" cy="27428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5" name="TextBox 7"/>
          <p:cNvSpPr/>
          <p:nvPr/>
        </p:nvSpPr>
        <p:spPr>
          <a:xfrm>
            <a:off x="841320" y="2221920"/>
            <a:ext cx="21394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01</a:t>
            </a:r>
            <a:endParaRPr lang="pt-PT" sz="2800" b="0" u="none" strike="noStrike">
              <a:solidFill>
                <a:srgbClr val="000000"/>
              </a:solidFill>
              <a:effectLst/>
              <a:uFillTx/>
              <a:latin typeface="Arial"/>
            </a:endParaRPr>
          </a:p>
        </p:txBody>
      </p:sp>
      <p:sp>
        <p:nvSpPr>
          <p:cNvPr id="86" name="TextBox 8"/>
          <p:cNvSpPr/>
          <p:nvPr/>
        </p:nvSpPr>
        <p:spPr>
          <a:xfrm>
            <a:off x="841320" y="2853000"/>
            <a:ext cx="21394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Medida</a:t>
            </a:r>
            <a:endParaRPr lang="pt-PT" sz="2300" b="0" u="none" strike="noStrike">
              <a:solidFill>
                <a:srgbClr val="000000"/>
              </a:solidFill>
              <a:effectLst/>
              <a:uFillTx/>
              <a:latin typeface="Arial"/>
            </a:endParaRPr>
          </a:p>
        </p:txBody>
      </p:sp>
      <p:sp>
        <p:nvSpPr>
          <p:cNvPr id="87" name="TextBox 9"/>
          <p:cNvSpPr/>
          <p:nvPr/>
        </p:nvSpPr>
        <p:spPr>
          <a:xfrm>
            <a:off x="841320" y="3703320"/>
            <a:ext cx="2139480" cy="959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O valor de referência</a:t>
            </a:r>
            <a:endParaRPr lang="pt-PT" sz="1900" b="0" u="none" strike="noStrike">
              <a:solidFill>
                <a:srgbClr val="000000"/>
              </a:solidFill>
              <a:effectLst/>
              <a:uFillTx/>
              <a:latin typeface="Arial"/>
            </a:endParaRPr>
          </a:p>
        </p:txBody>
      </p:sp>
      <p:sp>
        <p:nvSpPr>
          <p:cNvPr id="88" name="Rectangle 10"/>
          <p:cNvSpPr/>
          <p:nvPr/>
        </p:nvSpPr>
        <p:spPr>
          <a:xfrm>
            <a:off x="3429000" y="2057400"/>
            <a:ext cx="2541600" cy="27428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9" name="TextBox 11"/>
          <p:cNvSpPr/>
          <p:nvPr/>
        </p:nvSpPr>
        <p:spPr>
          <a:xfrm>
            <a:off x="3630240" y="2221920"/>
            <a:ext cx="21394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02</a:t>
            </a:r>
            <a:endParaRPr lang="pt-PT" sz="2800" b="0" u="none" strike="noStrike">
              <a:solidFill>
                <a:srgbClr val="000000"/>
              </a:solidFill>
              <a:effectLst/>
              <a:uFillTx/>
              <a:latin typeface="Arial"/>
            </a:endParaRPr>
          </a:p>
        </p:txBody>
      </p:sp>
      <p:sp>
        <p:nvSpPr>
          <p:cNvPr id="90" name="TextBox 12"/>
          <p:cNvSpPr/>
          <p:nvPr/>
        </p:nvSpPr>
        <p:spPr>
          <a:xfrm>
            <a:off x="3630240" y="2853000"/>
            <a:ext cx="21394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Parâmetro</a:t>
            </a:r>
            <a:endParaRPr lang="pt-PT" sz="2300" b="0" u="none" strike="noStrike">
              <a:solidFill>
                <a:srgbClr val="000000"/>
              </a:solidFill>
              <a:effectLst/>
              <a:uFillTx/>
              <a:latin typeface="Arial"/>
            </a:endParaRPr>
          </a:p>
        </p:txBody>
      </p:sp>
      <p:sp>
        <p:nvSpPr>
          <p:cNvPr id="91" name="TextBox 13"/>
          <p:cNvSpPr/>
          <p:nvPr/>
        </p:nvSpPr>
        <p:spPr>
          <a:xfrm>
            <a:off x="3630240" y="3703320"/>
            <a:ext cx="2139480" cy="959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A variável do modelo</a:t>
            </a:r>
            <a:endParaRPr lang="pt-PT" sz="1900" b="0" u="none" strike="noStrike">
              <a:solidFill>
                <a:srgbClr val="000000"/>
              </a:solidFill>
              <a:effectLst/>
              <a:uFillTx/>
              <a:latin typeface="Arial"/>
            </a:endParaRPr>
          </a:p>
        </p:txBody>
      </p:sp>
      <p:sp>
        <p:nvSpPr>
          <p:cNvPr id="92" name="Rectangle 14"/>
          <p:cNvSpPr/>
          <p:nvPr/>
        </p:nvSpPr>
        <p:spPr>
          <a:xfrm>
            <a:off x="6217920" y="2057400"/>
            <a:ext cx="2541600" cy="27428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3" name="TextBox 15"/>
          <p:cNvSpPr/>
          <p:nvPr/>
        </p:nvSpPr>
        <p:spPr>
          <a:xfrm>
            <a:off x="6419160" y="2221920"/>
            <a:ext cx="21394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03</a:t>
            </a:r>
            <a:endParaRPr lang="pt-PT" sz="2800" b="0" u="none" strike="noStrike">
              <a:solidFill>
                <a:srgbClr val="000000"/>
              </a:solidFill>
              <a:effectLst/>
              <a:uFillTx/>
              <a:latin typeface="Arial"/>
            </a:endParaRPr>
          </a:p>
        </p:txBody>
      </p:sp>
      <p:sp>
        <p:nvSpPr>
          <p:cNvPr id="94" name="TextBox 16"/>
          <p:cNvSpPr/>
          <p:nvPr/>
        </p:nvSpPr>
        <p:spPr>
          <a:xfrm>
            <a:off x="6419160" y="2853000"/>
            <a:ext cx="21394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Regra</a:t>
            </a:r>
            <a:endParaRPr lang="pt-PT" sz="2300" b="0" u="none" strike="noStrike">
              <a:solidFill>
                <a:srgbClr val="000000"/>
              </a:solidFill>
              <a:effectLst/>
              <a:uFillTx/>
              <a:latin typeface="Arial"/>
            </a:endParaRPr>
          </a:p>
        </p:txBody>
      </p:sp>
      <p:sp>
        <p:nvSpPr>
          <p:cNvPr id="95" name="TextBox 17"/>
          <p:cNvSpPr/>
          <p:nvPr/>
        </p:nvSpPr>
        <p:spPr>
          <a:xfrm>
            <a:off x="6419160" y="3703320"/>
            <a:ext cx="2139480" cy="959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Como a forma muda</a:t>
            </a:r>
            <a:endParaRPr lang="pt-PT" sz="1900" b="0" u="none" strike="noStrike">
              <a:solidFill>
                <a:srgbClr val="000000"/>
              </a:solidFill>
              <a:effectLst/>
              <a:uFillTx/>
              <a:latin typeface="Arial"/>
            </a:endParaRPr>
          </a:p>
        </p:txBody>
      </p:sp>
      <p:sp>
        <p:nvSpPr>
          <p:cNvPr id="96" name="Rectangle 18"/>
          <p:cNvSpPr/>
          <p:nvPr/>
        </p:nvSpPr>
        <p:spPr>
          <a:xfrm>
            <a:off x="9006840" y="2057400"/>
            <a:ext cx="2541600" cy="27428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7" name="TextBox 19"/>
          <p:cNvSpPr/>
          <p:nvPr/>
        </p:nvSpPr>
        <p:spPr>
          <a:xfrm>
            <a:off x="9208080" y="2221920"/>
            <a:ext cx="21394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04</a:t>
            </a:r>
            <a:endParaRPr lang="pt-PT" sz="2800" b="0" u="none" strike="noStrike">
              <a:solidFill>
                <a:srgbClr val="000000"/>
              </a:solidFill>
              <a:effectLst/>
              <a:uFillTx/>
              <a:latin typeface="Arial"/>
            </a:endParaRPr>
          </a:p>
        </p:txBody>
      </p:sp>
      <p:sp>
        <p:nvSpPr>
          <p:cNvPr id="98" name="TextBox 20"/>
          <p:cNvSpPr/>
          <p:nvPr/>
        </p:nvSpPr>
        <p:spPr>
          <a:xfrm>
            <a:off x="9208080" y="2853000"/>
            <a:ext cx="21394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Peça</a:t>
            </a:r>
            <a:endParaRPr lang="pt-PT" sz="2300" b="0" u="none" strike="noStrike">
              <a:solidFill>
                <a:srgbClr val="000000"/>
              </a:solidFill>
              <a:effectLst/>
              <a:uFillTx/>
              <a:latin typeface="Arial"/>
            </a:endParaRPr>
          </a:p>
        </p:txBody>
      </p:sp>
      <p:sp>
        <p:nvSpPr>
          <p:cNvPr id="99" name="TextBox 21"/>
          <p:cNvSpPr/>
          <p:nvPr/>
        </p:nvSpPr>
        <p:spPr>
          <a:xfrm>
            <a:off x="9208080" y="3703320"/>
            <a:ext cx="2139480" cy="959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O resultado a verificar</a:t>
            </a:r>
            <a:endParaRPr lang="pt-PT" sz="1900" b="0" u="none" strike="noStrike">
              <a:solidFill>
                <a:srgbClr val="000000"/>
              </a:solidFill>
              <a:effectLst/>
              <a:uFillTx/>
              <a:latin typeface="Arial"/>
            </a:endParaRPr>
          </a:p>
        </p:txBody>
      </p:sp>
      <p:sp>
        <p:nvSpPr>
          <p:cNvPr id="100" name="TextBox 22"/>
          <p:cNvSpPr/>
          <p:nvPr/>
        </p:nvSpPr>
        <p:spPr>
          <a:xfrm>
            <a:off x="822960" y="5266800"/>
            <a:ext cx="10515240" cy="6580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700" b="1" u="none" strike="noStrike">
                <a:solidFill>
                  <a:srgbClr val="193536"/>
                </a:solidFill>
                <a:effectLst/>
                <a:uFillTx/>
                <a:latin typeface="Arial"/>
              </a:rPr>
              <a:t>O nome do parâmetro não garante a dimensão resultante.</a:t>
            </a:r>
            <a:endParaRPr lang="pt-PT" sz="2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101"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2"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PERGUNTAS E ÂMBITO</a:t>
            </a:r>
            <a:endParaRPr lang="pt-PT" sz="1100" b="0" u="none" strike="noStrike">
              <a:solidFill>
                <a:srgbClr val="000000"/>
              </a:solidFill>
              <a:effectLst/>
              <a:uFillTx/>
              <a:latin typeface="Arial"/>
            </a:endParaRPr>
          </a:p>
        </p:txBody>
      </p:sp>
      <p:sp>
        <p:nvSpPr>
          <p:cNvPr id="103"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Perguntas de investigação e âmbito da avaliação</a:t>
            </a:r>
            <a:endParaRPr lang="pt-PT" sz="3200" b="0" u="none" strike="noStrike">
              <a:solidFill>
                <a:srgbClr val="000000"/>
              </a:solidFill>
              <a:effectLst/>
              <a:uFillTx/>
              <a:latin typeface="Arial"/>
            </a:endParaRPr>
          </a:p>
        </p:txBody>
      </p:sp>
      <p:sp>
        <p:nvSpPr>
          <p:cNvPr id="104"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Síntese das perguntas aprovadas · Formulações integrais no diapositivo 18 · Tabela 31.</a:t>
            </a:r>
            <a:endParaRPr lang="pt-PT" sz="1000" b="0" u="none" strike="noStrike">
              <a:solidFill>
                <a:srgbClr val="000000"/>
              </a:solidFill>
              <a:effectLst/>
              <a:uFillTx/>
              <a:latin typeface="Arial"/>
            </a:endParaRPr>
          </a:p>
        </p:txBody>
      </p:sp>
      <p:sp>
        <p:nvSpPr>
          <p:cNvPr id="105"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03</a:t>
            </a:r>
            <a:endParaRPr lang="pt-PT" sz="1100" b="0" u="none" strike="noStrike">
              <a:solidFill>
                <a:srgbClr val="000000"/>
              </a:solidFill>
              <a:effectLst/>
              <a:uFillTx/>
              <a:latin typeface="Arial"/>
            </a:endParaRPr>
          </a:p>
        </p:txBody>
      </p:sp>
      <p:sp>
        <p:nvSpPr>
          <p:cNvPr id="106" name="Rectangle 6"/>
          <p:cNvSpPr/>
          <p:nvPr/>
        </p:nvSpPr>
        <p:spPr>
          <a:xfrm>
            <a:off x="640080" y="1874520"/>
            <a:ext cx="3474360" cy="310860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7" name="TextBox 7"/>
          <p:cNvSpPr/>
          <p:nvPr/>
        </p:nvSpPr>
        <p:spPr>
          <a:xfrm>
            <a:off x="841320" y="2039040"/>
            <a:ext cx="30718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P1</a:t>
            </a:r>
            <a:endParaRPr lang="pt-PT" sz="2800" b="0" u="none" strike="noStrike">
              <a:solidFill>
                <a:srgbClr val="000000"/>
              </a:solidFill>
              <a:effectLst/>
              <a:uFillTx/>
              <a:latin typeface="Arial"/>
            </a:endParaRPr>
          </a:p>
        </p:txBody>
      </p:sp>
      <p:sp>
        <p:nvSpPr>
          <p:cNvPr id="108" name="TextBox 8"/>
          <p:cNvSpPr/>
          <p:nvPr/>
        </p:nvSpPr>
        <p:spPr>
          <a:xfrm>
            <a:off x="841320" y="2670120"/>
            <a:ext cx="30718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C</a:t>
            </a:r>
            <a:r>
              <a:rPr lang="en-US" sz="2300" b="1" u="none" strike="noStrike">
                <a:solidFill>
                  <a:srgbClr val="193536"/>
                </a:solidFill>
                <a:effectLst/>
                <a:uFillTx/>
                <a:latin typeface="Arial"/>
              </a:rPr>
              <a:t>on</a:t>
            </a:r>
            <a:r>
              <a:rPr lang="en-US" sz="2300" b="1" u="none" strike="noStrike">
                <a:solidFill>
                  <a:srgbClr val="193536"/>
                </a:solidFill>
                <a:effectLst/>
                <a:uFillTx/>
                <a:latin typeface="Arial"/>
              </a:rPr>
              <a:t>fig</a:t>
            </a:r>
            <a:r>
              <a:rPr lang="en-US" sz="2300" b="1" u="none" strike="noStrike">
                <a:solidFill>
                  <a:srgbClr val="193536"/>
                </a:solidFill>
                <a:effectLst/>
                <a:uFillTx/>
                <a:latin typeface="Arial"/>
              </a:rPr>
              <a:t>ur</a:t>
            </a:r>
            <a:r>
              <a:rPr lang="en-US" sz="2300" b="1" u="none" strike="noStrike">
                <a:solidFill>
                  <a:srgbClr val="193536"/>
                </a:solidFill>
                <a:effectLst/>
                <a:uFillTx/>
                <a:latin typeface="Arial"/>
              </a:rPr>
              <a:t>aç</a:t>
            </a:r>
            <a:r>
              <a:rPr lang="en-US" sz="2300" b="1" u="none" strike="noStrike">
                <a:solidFill>
                  <a:srgbClr val="193536"/>
                </a:solidFill>
                <a:effectLst/>
                <a:uFillTx/>
                <a:latin typeface="Arial"/>
              </a:rPr>
              <a:t>ão </a:t>
            </a:r>
            <a:r>
              <a:rPr lang="en-US" sz="2300" b="1" u="none" strike="noStrike">
                <a:solidFill>
                  <a:srgbClr val="193536"/>
                </a:solidFill>
                <a:effectLst/>
                <a:uFillTx/>
                <a:latin typeface="Arial"/>
              </a:rPr>
              <a:t>e </a:t>
            </a:r>
            <a:r>
              <a:rPr lang="en-US" sz="2300" b="1" u="none" strike="noStrike">
                <a:solidFill>
                  <a:srgbClr val="193536"/>
                </a:solidFill>
                <a:effectLst/>
                <a:uFillTx/>
                <a:latin typeface="Arial"/>
              </a:rPr>
              <a:t>co</a:t>
            </a:r>
            <a:r>
              <a:rPr lang="en-US" sz="2300" b="1" u="none" strike="noStrike">
                <a:solidFill>
                  <a:srgbClr val="193536"/>
                </a:solidFill>
                <a:effectLst/>
                <a:uFillTx/>
                <a:latin typeface="Arial"/>
              </a:rPr>
              <a:t>nt</a:t>
            </a:r>
            <a:r>
              <a:rPr lang="en-US" sz="2300" b="1" u="none" strike="noStrike">
                <a:solidFill>
                  <a:srgbClr val="193536"/>
                </a:solidFill>
                <a:effectLst/>
                <a:uFillTx/>
                <a:latin typeface="Arial"/>
              </a:rPr>
              <a:t>rol</a:t>
            </a:r>
            <a:r>
              <a:rPr lang="en-US" sz="2300" b="1" u="none" strike="noStrike">
                <a:solidFill>
                  <a:srgbClr val="193536"/>
                </a:solidFill>
                <a:effectLst/>
                <a:uFillTx/>
                <a:latin typeface="Arial"/>
              </a:rPr>
              <a:t>o</a:t>
            </a:r>
            <a:endParaRPr lang="pt-PT" sz="2300" b="0" u="none" strike="noStrike">
              <a:solidFill>
                <a:srgbClr val="000000"/>
              </a:solidFill>
              <a:effectLst/>
              <a:uFillTx/>
              <a:latin typeface="Arial"/>
            </a:endParaRPr>
          </a:p>
        </p:txBody>
      </p:sp>
      <p:sp>
        <p:nvSpPr>
          <p:cNvPr id="109" name="TextBox 9"/>
          <p:cNvSpPr/>
          <p:nvPr/>
        </p:nvSpPr>
        <p:spPr>
          <a:xfrm>
            <a:off x="841320" y="3520440"/>
            <a:ext cx="3071880" cy="13255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Como apoiar escolhas sobre o modelo?</a:t>
            </a:r>
            <a:endParaRPr lang="pt-PT" sz="1900" b="0" u="none" strike="noStrike">
              <a:solidFill>
                <a:srgbClr val="000000"/>
              </a:solidFill>
              <a:effectLst/>
              <a:uFillTx/>
              <a:latin typeface="Arial"/>
            </a:endParaRPr>
          </a:p>
        </p:txBody>
      </p:sp>
      <p:sp>
        <p:nvSpPr>
          <p:cNvPr id="110" name="Rectangle 10"/>
          <p:cNvSpPr/>
          <p:nvPr/>
        </p:nvSpPr>
        <p:spPr>
          <a:xfrm>
            <a:off x="4343400" y="1874520"/>
            <a:ext cx="3474360" cy="310860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1" name="TextBox 11"/>
          <p:cNvSpPr/>
          <p:nvPr/>
        </p:nvSpPr>
        <p:spPr>
          <a:xfrm>
            <a:off x="4544640" y="2039040"/>
            <a:ext cx="30718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P2</a:t>
            </a:r>
            <a:endParaRPr lang="pt-PT" sz="2800" b="0" u="none" strike="noStrike">
              <a:solidFill>
                <a:srgbClr val="000000"/>
              </a:solidFill>
              <a:effectLst/>
              <a:uFillTx/>
              <a:latin typeface="Arial"/>
            </a:endParaRPr>
          </a:p>
        </p:txBody>
      </p:sp>
      <p:sp>
        <p:nvSpPr>
          <p:cNvPr id="112" name="TextBox 12"/>
          <p:cNvSpPr/>
          <p:nvPr/>
        </p:nvSpPr>
        <p:spPr>
          <a:xfrm>
            <a:off x="4544640" y="2670120"/>
            <a:ext cx="30718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Avaliação e reprodução</a:t>
            </a:r>
            <a:endParaRPr lang="pt-PT" sz="2300" b="0" u="none" strike="noStrike">
              <a:solidFill>
                <a:srgbClr val="000000"/>
              </a:solidFill>
              <a:effectLst/>
              <a:uFillTx/>
              <a:latin typeface="Arial"/>
            </a:endParaRPr>
          </a:p>
        </p:txBody>
      </p:sp>
      <p:sp>
        <p:nvSpPr>
          <p:cNvPr id="113" name="TextBox 13"/>
          <p:cNvSpPr/>
          <p:nvPr/>
        </p:nvSpPr>
        <p:spPr>
          <a:xfrm>
            <a:off x="4544640" y="3520440"/>
            <a:ext cx="3071880" cy="13255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Como examinar o processo e os resultados?</a:t>
            </a:r>
            <a:endParaRPr lang="pt-PT" sz="1900" b="0" u="none" strike="noStrike">
              <a:solidFill>
                <a:srgbClr val="000000"/>
              </a:solidFill>
              <a:effectLst/>
              <a:uFillTx/>
              <a:latin typeface="Arial"/>
            </a:endParaRPr>
          </a:p>
        </p:txBody>
      </p:sp>
      <p:sp>
        <p:nvSpPr>
          <p:cNvPr id="114" name="Rectangle 14"/>
          <p:cNvSpPr/>
          <p:nvPr/>
        </p:nvSpPr>
        <p:spPr>
          <a:xfrm>
            <a:off x="8046720" y="1874520"/>
            <a:ext cx="3474360" cy="310860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5" name="TextBox 15"/>
          <p:cNvSpPr/>
          <p:nvPr/>
        </p:nvSpPr>
        <p:spPr>
          <a:xfrm>
            <a:off x="8247960" y="2039040"/>
            <a:ext cx="30718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P3</a:t>
            </a:r>
            <a:endParaRPr lang="pt-PT" sz="2800" b="0" u="none" strike="noStrike">
              <a:solidFill>
                <a:srgbClr val="000000"/>
              </a:solidFill>
              <a:effectLst/>
              <a:uFillTx/>
              <a:latin typeface="Arial"/>
            </a:endParaRPr>
          </a:p>
        </p:txBody>
      </p:sp>
      <p:sp>
        <p:nvSpPr>
          <p:cNvPr id="116" name="TextBox 16"/>
          <p:cNvSpPr/>
          <p:nvPr/>
        </p:nvSpPr>
        <p:spPr>
          <a:xfrm>
            <a:off x="8247960" y="2670120"/>
            <a:ext cx="30718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Requisitos e experiência</a:t>
            </a:r>
            <a:endParaRPr lang="pt-PT" sz="2300" b="0" u="none" strike="noStrike">
              <a:solidFill>
                <a:srgbClr val="000000"/>
              </a:solidFill>
              <a:effectLst/>
              <a:uFillTx/>
              <a:latin typeface="Arial"/>
            </a:endParaRPr>
          </a:p>
        </p:txBody>
      </p:sp>
      <p:sp>
        <p:nvSpPr>
          <p:cNvPr id="117" name="TextBox 17"/>
          <p:cNvSpPr/>
          <p:nvPr/>
        </p:nvSpPr>
        <p:spPr>
          <a:xfrm>
            <a:off x="8247960" y="3520440"/>
            <a:ext cx="3071880" cy="13255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Como responder às necessidades das pessoas?</a:t>
            </a:r>
            <a:endParaRPr lang="pt-PT" sz="1900" b="0" u="none" strike="noStrike">
              <a:solidFill>
                <a:srgbClr val="000000"/>
              </a:solidFill>
              <a:effectLst/>
              <a:uFillTx/>
              <a:latin typeface="Arial"/>
            </a:endParaRPr>
          </a:p>
        </p:txBody>
      </p:sp>
      <p:sp>
        <p:nvSpPr>
          <p:cNvPr id="118" name="TextBox 18"/>
          <p:cNvSpPr/>
          <p:nvPr/>
        </p:nvSpPr>
        <p:spPr>
          <a:xfrm>
            <a:off x="822960" y="5440680"/>
            <a:ext cx="10515240" cy="4752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200" b="1" u="none" strike="noStrike">
                <a:solidFill>
                  <a:srgbClr val="007C78"/>
                </a:solidFill>
                <a:effectLst/>
                <a:uFillTx/>
                <a:latin typeface="Arial"/>
              </a:rPr>
              <a:t>Âmbito realizado: verificação técnica e dimensional, sem participantes.</a:t>
            </a:r>
            <a:endParaRPr lang="pt-PT"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119"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0"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OBJETIVOS DA INVESTIGAÇÃO</a:t>
            </a:r>
            <a:endParaRPr lang="pt-PT" sz="1100" b="0" u="none" strike="noStrike">
              <a:solidFill>
                <a:srgbClr val="000000"/>
              </a:solidFill>
              <a:effectLst/>
              <a:uFillTx/>
              <a:latin typeface="Arial"/>
            </a:endParaRPr>
          </a:p>
        </p:txBody>
      </p:sp>
      <p:sp>
        <p:nvSpPr>
          <p:cNvPr id="121"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Objetivo geral e objetivos específicos</a:t>
            </a:r>
            <a:endParaRPr lang="pt-PT" sz="3200" b="0" u="none" strike="noStrike">
              <a:solidFill>
                <a:srgbClr val="000000"/>
              </a:solidFill>
              <a:effectLst/>
              <a:uFillTx/>
              <a:latin typeface="Arial"/>
            </a:endParaRPr>
          </a:p>
        </p:txBody>
      </p:sp>
      <p:sp>
        <p:nvSpPr>
          <p:cNvPr id="122"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Síntese da secção 1.3 do manuscrito · Sete objetivos específicos, com o âmbito original preservado.</a:t>
            </a:r>
            <a:endParaRPr lang="pt-PT" sz="1000" b="0" u="none" strike="noStrike">
              <a:solidFill>
                <a:srgbClr val="000000"/>
              </a:solidFill>
              <a:effectLst/>
              <a:uFillTx/>
              <a:latin typeface="Arial"/>
            </a:endParaRPr>
          </a:p>
        </p:txBody>
      </p:sp>
      <p:sp>
        <p:nvSpPr>
          <p:cNvPr id="123"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04</a:t>
            </a:r>
            <a:endParaRPr lang="pt-PT" sz="1100" b="0" u="none" strike="noStrike">
              <a:solidFill>
                <a:srgbClr val="000000"/>
              </a:solidFill>
              <a:effectLst/>
              <a:uFillTx/>
              <a:latin typeface="Arial"/>
            </a:endParaRPr>
          </a:p>
        </p:txBody>
      </p:sp>
      <p:sp>
        <p:nvSpPr>
          <p:cNvPr id="124" name="Rectangle 6"/>
          <p:cNvSpPr/>
          <p:nvPr/>
        </p:nvSpPr>
        <p:spPr>
          <a:xfrm>
            <a:off x="640080" y="1755720"/>
            <a:ext cx="10881000" cy="1481040"/>
          </a:xfrm>
          <a:prstGeom prst="rect">
            <a:avLst/>
          </a:prstGeom>
          <a:solidFill>
            <a:srgbClr val="E3EC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5" name="TextBox 7"/>
          <p:cNvSpPr/>
          <p:nvPr/>
        </p:nvSpPr>
        <p:spPr>
          <a:xfrm>
            <a:off x="841320" y="1865520"/>
            <a:ext cx="1042380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200" b="1" u="none" strike="noStrike">
                <a:solidFill>
                  <a:srgbClr val="007C78"/>
                </a:solidFill>
                <a:effectLst/>
                <a:uFillTx/>
                <a:latin typeface="Arial"/>
              </a:rPr>
              <a:t>OBJETIVO GERAL</a:t>
            </a:r>
            <a:endParaRPr lang="pt-PT" sz="1200" b="0" u="none" strike="noStrike">
              <a:solidFill>
                <a:srgbClr val="000000"/>
              </a:solidFill>
              <a:effectLst/>
              <a:uFillTx/>
              <a:latin typeface="Arial"/>
            </a:endParaRPr>
          </a:p>
        </p:txBody>
      </p:sp>
      <p:sp>
        <p:nvSpPr>
          <p:cNvPr id="126" name="TextBox 8"/>
          <p:cNvSpPr/>
          <p:nvPr/>
        </p:nvSpPr>
        <p:spPr>
          <a:xfrm>
            <a:off x="841320" y="2148840"/>
            <a:ext cx="10423800" cy="10238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000" b="1" u="none" strike="noStrike">
                <a:solidFill>
                  <a:srgbClr val="193536"/>
                </a:solidFill>
                <a:effectLst/>
                <a:uFillTx/>
                <a:latin typeface="Arial"/>
              </a:rPr>
              <a:t>Produzir conhecimento através da prática de design, desenvolvendo e avaliando tecnicamente um sistema paramétrico apoiado por IA para a configuração preliminar de modelos de mão protésica destinados ao fabrico aditivo.</a:t>
            </a:r>
            <a:endParaRPr lang="pt-PT" sz="2000" b="0" u="none" strike="noStrike">
              <a:solidFill>
                <a:srgbClr val="000000"/>
              </a:solidFill>
              <a:effectLst/>
              <a:uFillTx/>
              <a:latin typeface="Arial"/>
            </a:endParaRPr>
          </a:p>
        </p:txBody>
      </p:sp>
      <p:sp>
        <p:nvSpPr>
          <p:cNvPr id="127" name="TextBox 9"/>
          <p:cNvSpPr/>
          <p:nvPr/>
        </p:nvSpPr>
        <p:spPr>
          <a:xfrm>
            <a:off x="841320" y="3328560"/>
            <a:ext cx="10423800" cy="2556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200" b="1" u="none" strike="noStrike">
                <a:solidFill>
                  <a:srgbClr val="007C78"/>
                </a:solidFill>
                <a:effectLst/>
                <a:uFillTx/>
                <a:latin typeface="Arial"/>
              </a:rPr>
              <a:t>OBJETIVOS ESPECÍFICOS</a:t>
            </a:r>
            <a:endParaRPr lang="pt-PT" sz="1200" b="0" u="none" strike="noStrike">
              <a:solidFill>
                <a:srgbClr val="000000"/>
              </a:solidFill>
              <a:effectLst/>
              <a:uFillTx/>
              <a:latin typeface="Arial"/>
            </a:endParaRPr>
          </a:p>
        </p:txBody>
      </p:sp>
      <p:sp>
        <p:nvSpPr>
          <p:cNvPr id="128" name="TextBox 10"/>
          <p:cNvSpPr/>
          <p:nvPr/>
        </p:nvSpPr>
        <p:spPr>
          <a:xfrm>
            <a:off x="841320" y="3767400"/>
            <a:ext cx="383760" cy="310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600" b="1" u="none" strike="noStrike">
                <a:solidFill>
                  <a:srgbClr val="007C78"/>
                </a:solidFill>
                <a:effectLst/>
                <a:uFillTx/>
                <a:latin typeface="Arial"/>
              </a:rPr>
              <a:t>01</a:t>
            </a:r>
            <a:endParaRPr lang="pt-PT" sz="1600" b="0" u="none" strike="noStrike">
              <a:solidFill>
                <a:srgbClr val="000000"/>
              </a:solidFill>
              <a:effectLst/>
              <a:uFillTx/>
              <a:latin typeface="Arial"/>
            </a:endParaRPr>
          </a:p>
        </p:txBody>
      </p:sp>
      <p:sp>
        <p:nvSpPr>
          <p:cNvPr id="129" name="TextBox 11"/>
          <p:cNvSpPr/>
          <p:nvPr/>
        </p:nvSpPr>
        <p:spPr>
          <a:xfrm>
            <a:off x="1280160" y="3767400"/>
            <a:ext cx="4681440" cy="5850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193536"/>
                </a:solidFill>
                <a:effectLst/>
                <a:uFillTx/>
                <a:latin typeface="Arial"/>
              </a:rPr>
              <a:t>Analisar como o design traduz requisitos humanos em decisões de projeto e fabrico.</a:t>
            </a:r>
            <a:endParaRPr lang="pt-PT" sz="1700" b="0" u="none" strike="noStrike">
              <a:solidFill>
                <a:srgbClr val="000000"/>
              </a:solidFill>
              <a:effectLst/>
              <a:uFillTx/>
              <a:latin typeface="Arial"/>
            </a:endParaRPr>
          </a:p>
        </p:txBody>
      </p:sp>
      <p:sp>
        <p:nvSpPr>
          <p:cNvPr id="130" name="TextBox 12"/>
          <p:cNvSpPr/>
          <p:nvPr/>
        </p:nvSpPr>
        <p:spPr>
          <a:xfrm>
            <a:off x="841320" y="4370760"/>
            <a:ext cx="383760" cy="310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600" b="1" u="none" strike="noStrike">
                <a:solidFill>
                  <a:srgbClr val="007C78"/>
                </a:solidFill>
                <a:effectLst/>
                <a:uFillTx/>
                <a:latin typeface="Arial"/>
              </a:rPr>
              <a:t>02</a:t>
            </a:r>
            <a:endParaRPr lang="pt-PT" sz="1600" b="0" u="none" strike="noStrike">
              <a:solidFill>
                <a:srgbClr val="000000"/>
              </a:solidFill>
              <a:effectLst/>
              <a:uFillTx/>
              <a:latin typeface="Arial"/>
            </a:endParaRPr>
          </a:p>
        </p:txBody>
      </p:sp>
      <p:sp>
        <p:nvSpPr>
          <p:cNvPr id="131" name="TextBox 13"/>
          <p:cNvSpPr/>
          <p:nvPr/>
        </p:nvSpPr>
        <p:spPr>
          <a:xfrm>
            <a:off x="1280160" y="4370760"/>
            <a:ext cx="4681440" cy="5850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193536"/>
                </a:solidFill>
                <a:effectLst/>
                <a:uFillTx/>
                <a:latin typeface="Arial"/>
              </a:rPr>
              <a:t>Organizar dados antropométricos, preservando a sua caracterização e limitações.</a:t>
            </a:r>
            <a:endParaRPr lang="pt-PT" sz="1700" b="0" u="none" strike="noStrike">
              <a:solidFill>
                <a:srgbClr val="000000"/>
              </a:solidFill>
              <a:effectLst/>
              <a:uFillTx/>
              <a:latin typeface="Arial"/>
            </a:endParaRPr>
          </a:p>
        </p:txBody>
      </p:sp>
      <p:sp>
        <p:nvSpPr>
          <p:cNvPr id="132" name="TextBox 14"/>
          <p:cNvSpPr/>
          <p:nvPr/>
        </p:nvSpPr>
        <p:spPr>
          <a:xfrm>
            <a:off x="841320" y="4974480"/>
            <a:ext cx="383760" cy="310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600" b="1" u="none" strike="noStrike">
                <a:solidFill>
                  <a:srgbClr val="007C78"/>
                </a:solidFill>
                <a:effectLst/>
                <a:uFillTx/>
                <a:latin typeface="Arial"/>
              </a:rPr>
              <a:t>03</a:t>
            </a:r>
            <a:endParaRPr lang="pt-PT" sz="1600" b="0" u="none" strike="noStrike">
              <a:solidFill>
                <a:srgbClr val="000000"/>
              </a:solidFill>
              <a:effectLst/>
              <a:uFillTx/>
              <a:latin typeface="Arial"/>
            </a:endParaRPr>
          </a:p>
        </p:txBody>
      </p:sp>
      <p:sp>
        <p:nvSpPr>
          <p:cNvPr id="133" name="TextBox 15"/>
          <p:cNvSpPr/>
          <p:nvPr/>
        </p:nvSpPr>
        <p:spPr>
          <a:xfrm>
            <a:off x="1280160" y="4974480"/>
            <a:ext cx="4681440" cy="5850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193536"/>
                </a:solidFill>
                <a:effectLst/>
                <a:uFillTx/>
                <a:latin typeface="Arial"/>
              </a:rPr>
              <a:t>Adaptar modelos abertos de mão a uma estrutura paramétrica explícita em OpenSCAD.</a:t>
            </a:r>
            <a:endParaRPr lang="pt-PT" sz="1700" b="0" u="none" strike="noStrike">
              <a:solidFill>
                <a:srgbClr val="000000"/>
              </a:solidFill>
              <a:effectLst/>
              <a:uFillTx/>
              <a:latin typeface="Arial"/>
            </a:endParaRPr>
          </a:p>
        </p:txBody>
      </p:sp>
      <p:sp>
        <p:nvSpPr>
          <p:cNvPr id="134" name="TextBox 16"/>
          <p:cNvSpPr/>
          <p:nvPr/>
        </p:nvSpPr>
        <p:spPr>
          <a:xfrm>
            <a:off x="841320" y="5577840"/>
            <a:ext cx="383760" cy="310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600" b="1" u="none" strike="noStrike">
                <a:solidFill>
                  <a:srgbClr val="007C78"/>
                </a:solidFill>
                <a:effectLst/>
                <a:uFillTx/>
                <a:latin typeface="Arial"/>
              </a:rPr>
              <a:t>04</a:t>
            </a:r>
            <a:endParaRPr lang="pt-PT" sz="1600" b="0" u="none" strike="noStrike">
              <a:solidFill>
                <a:srgbClr val="000000"/>
              </a:solidFill>
              <a:effectLst/>
              <a:uFillTx/>
              <a:latin typeface="Arial"/>
            </a:endParaRPr>
          </a:p>
        </p:txBody>
      </p:sp>
      <p:sp>
        <p:nvSpPr>
          <p:cNvPr id="135" name="TextBox 17"/>
          <p:cNvSpPr/>
          <p:nvPr/>
        </p:nvSpPr>
        <p:spPr>
          <a:xfrm>
            <a:off x="1280160" y="5577840"/>
            <a:ext cx="4681440" cy="5850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193536"/>
                </a:solidFill>
                <a:effectLst/>
                <a:uFillTx/>
                <a:latin typeface="Arial"/>
              </a:rPr>
              <a:t>Integrar o percurso na web, com visualização e gestão de versões, até à impressão.</a:t>
            </a:r>
            <a:endParaRPr lang="pt-PT" sz="1700" b="0" u="none" strike="noStrike">
              <a:solidFill>
                <a:srgbClr val="000000"/>
              </a:solidFill>
              <a:effectLst/>
              <a:uFillTx/>
              <a:latin typeface="Arial"/>
            </a:endParaRPr>
          </a:p>
        </p:txBody>
      </p:sp>
      <p:sp>
        <p:nvSpPr>
          <p:cNvPr id="136" name="TextBox 18"/>
          <p:cNvSpPr/>
          <p:nvPr/>
        </p:nvSpPr>
        <p:spPr>
          <a:xfrm>
            <a:off x="6419160" y="3767400"/>
            <a:ext cx="383760" cy="310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600" b="1" u="none" strike="noStrike">
                <a:solidFill>
                  <a:srgbClr val="007C78"/>
                </a:solidFill>
                <a:effectLst/>
                <a:uFillTx/>
                <a:latin typeface="Arial"/>
              </a:rPr>
              <a:t>05</a:t>
            </a:r>
            <a:endParaRPr lang="pt-PT" sz="1600" b="0" u="none" strike="noStrike">
              <a:solidFill>
                <a:srgbClr val="000000"/>
              </a:solidFill>
              <a:effectLst/>
              <a:uFillTx/>
              <a:latin typeface="Arial"/>
            </a:endParaRPr>
          </a:p>
        </p:txBody>
      </p:sp>
      <p:sp>
        <p:nvSpPr>
          <p:cNvPr id="137" name="TextBox 19"/>
          <p:cNvSpPr/>
          <p:nvPr/>
        </p:nvSpPr>
        <p:spPr>
          <a:xfrm>
            <a:off x="6858000" y="3767400"/>
            <a:ext cx="4681440" cy="5850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193536"/>
                </a:solidFill>
                <a:effectLst/>
                <a:uFillTx/>
                <a:latin typeface="Arial"/>
              </a:rPr>
              <a:t>Delimitar a IA à sugestão inicial, distinguindo regras geométricas e decisões humanas.</a:t>
            </a:r>
            <a:endParaRPr lang="pt-PT" sz="1700" b="0" u="none" strike="noStrike">
              <a:solidFill>
                <a:srgbClr val="000000"/>
              </a:solidFill>
              <a:effectLst/>
              <a:uFillTx/>
              <a:latin typeface="Arial"/>
            </a:endParaRPr>
          </a:p>
        </p:txBody>
      </p:sp>
      <p:sp>
        <p:nvSpPr>
          <p:cNvPr id="138" name="TextBox 20"/>
          <p:cNvSpPr/>
          <p:nvPr/>
        </p:nvSpPr>
        <p:spPr>
          <a:xfrm>
            <a:off x="6419160" y="4370760"/>
            <a:ext cx="383760" cy="310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600" b="1" u="none" strike="noStrike">
                <a:solidFill>
                  <a:srgbClr val="007C78"/>
                </a:solidFill>
                <a:effectLst/>
                <a:uFillTx/>
                <a:latin typeface="Arial"/>
              </a:rPr>
              <a:t>06</a:t>
            </a:r>
            <a:endParaRPr lang="pt-PT" sz="1600" b="0" u="none" strike="noStrike">
              <a:solidFill>
                <a:srgbClr val="000000"/>
              </a:solidFill>
              <a:effectLst/>
              <a:uFillTx/>
              <a:latin typeface="Arial"/>
            </a:endParaRPr>
          </a:p>
        </p:txBody>
      </p:sp>
      <p:sp>
        <p:nvSpPr>
          <p:cNvPr id="139" name="TextBox 21"/>
          <p:cNvSpPr/>
          <p:nvPr/>
        </p:nvSpPr>
        <p:spPr>
          <a:xfrm>
            <a:off x="6858000" y="4370760"/>
            <a:ext cx="4681440" cy="5850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193536"/>
                </a:solidFill>
                <a:effectLst/>
                <a:uFillTx/>
                <a:latin typeface="Arial"/>
              </a:rPr>
              <a:t>Avaliar a coerência entre dados, parâmetros, geometria digital e protótipos físicos.</a:t>
            </a:r>
            <a:endParaRPr lang="pt-PT" sz="1700" b="0" u="none" strike="noStrike">
              <a:solidFill>
                <a:srgbClr val="000000"/>
              </a:solidFill>
              <a:effectLst/>
              <a:uFillTx/>
              <a:latin typeface="Arial"/>
            </a:endParaRPr>
          </a:p>
        </p:txBody>
      </p:sp>
      <p:sp>
        <p:nvSpPr>
          <p:cNvPr id="140" name="TextBox 22"/>
          <p:cNvSpPr/>
          <p:nvPr/>
        </p:nvSpPr>
        <p:spPr>
          <a:xfrm>
            <a:off x="6419160" y="4974480"/>
            <a:ext cx="383760" cy="310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600" b="1" u="none" strike="noStrike">
                <a:solidFill>
                  <a:srgbClr val="007C78"/>
                </a:solidFill>
                <a:effectLst/>
                <a:uFillTx/>
                <a:latin typeface="Arial"/>
              </a:rPr>
              <a:t>07</a:t>
            </a:r>
            <a:endParaRPr lang="pt-PT" sz="1600" b="0" u="none" strike="noStrike">
              <a:solidFill>
                <a:srgbClr val="000000"/>
              </a:solidFill>
              <a:effectLst/>
              <a:uFillTx/>
              <a:latin typeface="Arial"/>
            </a:endParaRPr>
          </a:p>
        </p:txBody>
      </p:sp>
      <p:sp>
        <p:nvSpPr>
          <p:cNvPr id="141" name="TextBox 23"/>
          <p:cNvSpPr/>
          <p:nvPr/>
        </p:nvSpPr>
        <p:spPr>
          <a:xfrm>
            <a:off x="6858000" y="4974480"/>
            <a:ext cx="4681440" cy="5850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193536"/>
                </a:solidFill>
                <a:effectLst/>
                <a:uFillTx/>
                <a:latin typeface="Arial"/>
              </a:rPr>
              <a:t>Definir condições para avaliação clínica posterior, incluindo função e utilização.</a:t>
            </a:r>
            <a:endParaRPr lang="pt-PT"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142"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3"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FUNDAMENTAÇÃO E SELEÇÃO</a:t>
            </a:r>
            <a:endParaRPr lang="pt-PT" sz="1100" b="0" u="none" strike="noStrike">
              <a:solidFill>
                <a:srgbClr val="000000"/>
              </a:solidFill>
              <a:effectLst/>
              <a:uFillTx/>
              <a:latin typeface="Arial"/>
            </a:endParaRPr>
          </a:p>
        </p:txBody>
      </p:sp>
      <p:sp>
        <p:nvSpPr>
          <p:cNvPr id="144"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Como a literatura orienta o projeto</a:t>
            </a:r>
            <a:endParaRPr lang="pt-PT" sz="3200" b="0" u="none" strike="noStrike">
              <a:solidFill>
                <a:srgbClr val="000000"/>
              </a:solidFill>
              <a:effectLst/>
              <a:uFillTx/>
              <a:latin typeface="Arial"/>
            </a:endParaRPr>
          </a:p>
        </p:txBody>
      </p:sp>
      <p:sp>
        <p:nvSpPr>
          <p:cNvPr id="145"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Referências já mobilizadas no manuscrito · Seleção para esta exposição pela função no argumento.</a:t>
            </a:r>
            <a:endParaRPr lang="pt-PT" sz="1000" b="0" u="none" strike="noStrike">
              <a:solidFill>
                <a:srgbClr val="000000"/>
              </a:solidFill>
              <a:effectLst/>
              <a:uFillTx/>
              <a:latin typeface="Arial"/>
            </a:endParaRPr>
          </a:p>
        </p:txBody>
      </p:sp>
      <p:sp>
        <p:nvSpPr>
          <p:cNvPr id="146"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05</a:t>
            </a:r>
            <a:endParaRPr lang="pt-PT" sz="1100" b="0" u="none" strike="noStrike">
              <a:solidFill>
                <a:srgbClr val="000000"/>
              </a:solidFill>
              <a:effectLst/>
              <a:uFillTx/>
              <a:latin typeface="Arial"/>
            </a:endParaRPr>
          </a:p>
        </p:txBody>
      </p:sp>
      <p:sp>
        <p:nvSpPr>
          <p:cNvPr id="147" name="Rectangle 6"/>
          <p:cNvSpPr/>
          <p:nvPr/>
        </p:nvSpPr>
        <p:spPr>
          <a:xfrm>
            <a:off x="640080" y="1938600"/>
            <a:ext cx="10881000" cy="7678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8" name="TextBox 7"/>
          <p:cNvSpPr/>
          <p:nvPr/>
        </p:nvSpPr>
        <p:spPr>
          <a:xfrm>
            <a:off x="831960" y="2048400"/>
            <a:ext cx="3474360" cy="5482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1" u="none" strike="noStrike">
                <a:solidFill>
                  <a:srgbClr val="007C78"/>
                </a:solidFill>
                <a:effectLst/>
                <a:uFillTx/>
                <a:latin typeface="Arial"/>
              </a:rPr>
              <a:t>Cross (1982)</a:t>
            </a:r>
            <a:endParaRPr lang="pt-PT" sz="1900" b="0" u="none" strike="noStrike">
              <a:solidFill>
                <a:srgbClr val="000000"/>
              </a:solidFill>
              <a:effectLst/>
              <a:uFillTx/>
              <a:latin typeface="Arial"/>
            </a:endParaRPr>
          </a:p>
        </p:txBody>
      </p:sp>
      <p:sp>
        <p:nvSpPr>
          <p:cNvPr id="149" name="TextBox 8"/>
          <p:cNvSpPr/>
          <p:nvPr/>
        </p:nvSpPr>
        <p:spPr>
          <a:xfrm>
            <a:off x="4434840" y="2030040"/>
            <a:ext cx="3108600" cy="5666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1" u="none" strike="noStrike">
                <a:solidFill>
                  <a:srgbClr val="193536"/>
                </a:solidFill>
                <a:effectLst/>
                <a:uFillTx/>
                <a:latin typeface="Arial"/>
              </a:rPr>
              <a:t>Conhecimento de design</a:t>
            </a:r>
            <a:endParaRPr lang="pt-PT" sz="1800" b="0" u="none" strike="noStrike">
              <a:solidFill>
                <a:srgbClr val="000000"/>
              </a:solidFill>
              <a:effectLst/>
              <a:uFillTx/>
              <a:latin typeface="Arial"/>
            </a:endParaRPr>
          </a:p>
        </p:txBody>
      </p:sp>
      <p:sp>
        <p:nvSpPr>
          <p:cNvPr id="150" name="TextBox 9"/>
          <p:cNvSpPr/>
          <p:nvPr/>
        </p:nvSpPr>
        <p:spPr>
          <a:xfrm>
            <a:off x="7680960" y="2030040"/>
            <a:ext cx="3611520" cy="5666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566B6A"/>
                </a:solidFill>
                <a:effectLst/>
                <a:uFillTx/>
                <a:latin typeface="Arial"/>
              </a:rPr>
              <a:t>Aprendizagem a partir das decisões de projeto</a:t>
            </a:r>
            <a:endParaRPr lang="pt-PT" sz="1800" b="0" u="none" strike="noStrike">
              <a:solidFill>
                <a:srgbClr val="000000"/>
              </a:solidFill>
              <a:effectLst/>
              <a:uFillTx/>
              <a:latin typeface="Arial"/>
            </a:endParaRPr>
          </a:p>
        </p:txBody>
      </p:sp>
      <p:sp>
        <p:nvSpPr>
          <p:cNvPr id="151" name="Rectangle 10"/>
          <p:cNvSpPr/>
          <p:nvPr/>
        </p:nvSpPr>
        <p:spPr>
          <a:xfrm>
            <a:off x="640080" y="2797920"/>
            <a:ext cx="10881000" cy="7678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2" name="TextBox 11"/>
          <p:cNvSpPr/>
          <p:nvPr/>
        </p:nvSpPr>
        <p:spPr>
          <a:xfrm>
            <a:off x="831960" y="2871720"/>
            <a:ext cx="3474360" cy="5482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1" u="none" strike="noStrike">
                <a:solidFill>
                  <a:srgbClr val="007C78"/>
                </a:solidFill>
                <a:effectLst/>
                <a:uFillTx/>
                <a:latin typeface="Arial"/>
              </a:rPr>
              <a:t>Frayling (1994); Zimmerman et al. (2007)</a:t>
            </a:r>
            <a:endParaRPr lang="pt-PT" sz="1900" b="0" u="none" strike="noStrike">
              <a:solidFill>
                <a:srgbClr val="000000"/>
              </a:solidFill>
              <a:effectLst/>
              <a:uFillTx/>
              <a:latin typeface="Arial"/>
            </a:endParaRPr>
          </a:p>
        </p:txBody>
      </p:sp>
      <p:sp>
        <p:nvSpPr>
          <p:cNvPr id="153" name="TextBox 12"/>
          <p:cNvSpPr/>
          <p:nvPr/>
        </p:nvSpPr>
        <p:spPr>
          <a:xfrm>
            <a:off x="4434840" y="2853360"/>
            <a:ext cx="3108600" cy="6490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1" u="none" strike="noStrike">
                <a:solidFill>
                  <a:srgbClr val="193536"/>
                </a:solidFill>
                <a:effectLst/>
                <a:uFillTx/>
                <a:latin typeface="Arial"/>
              </a:rPr>
              <a:t>Investigação através do projeto</a:t>
            </a:r>
            <a:endParaRPr lang="pt-PT" sz="1800" b="0" u="none" strike="noStrike">
              <a:solidFill>
                <a:srgbClr val="000000"/>
              </a:solidFill>
              <a:effectLst/>
              <a:uFillTx/>
              <a:latin typeface="Arial"/>
            </a:endParaRPr>
          </a:p>
        </p:txBody>
      </p:sp>
      <p:sp>
        <p:nvSpPr>
          <p:cNvPr id="154" name="TextBox 13"/>
          <p:cNvSpPr/>
          <p:nvPr/>
        </p:nvSpPr>
        <p:spPr>
          <a:xfrm>
            <a:off x="7680960" y="2889360"/>
            <a:ext cx="3611520" cy="5666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566B6A"/>
                </a:solidFill>
                <a:effectLst/>
                <a:uFillTx/>
                <a:latin typeface="Arial"/>
              </a:rPr>
              <a:t>Análise documentada do artefacto</a:t>
            </a:r>
            <a:endParaRPr lang="pt-PT" sz="1800" b="0" u="none" strike="noStrike">
              <a:solidFill>
                <a:srgbClr val="000000"/>
              </a:solidFill>
              <a:effectLst/>
              <a:uFillTx/>
              <a:latin typeface="Arial"/>
            </a:endParaRPr>
          </a:p>
        </p:txBody>
      </p:sp>
      <p:sp>
        <p:nvSpPr>
          <p:cNvPr id="155" name="Rectangle 14"/>
          <p:cNvSpPr/>
          <p:nvPr/>
        </p:nvSpPr>
        <p:spPr>
          <a:xfrm>
            <a:off x="640080" y="3657600"/>
            <a:ext cx="10881000" cy="7678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6" name="TextBox 15"/>
          <p:cNvSpPr/>
          <p:nvPr/>
        </p:nvSpPr>
        <p:spPr>
          <a:xfrm>
            <a:off x="831960" y="3767400"/>
            <a:ext cx="3474360" cy="364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1" u="none" strike="noStrike">
                <a:solidFill>
                  <a:srgbClr val="007C78"/>
                </a:solidFill>
                <a:effectLst/>
                <a:uFillTx/>
                <a:latin typeface="Arial"/>
              </a:rPr>
              <a:t>Fischer et al. (2004)</a:t>
            </a:r>
            <a:endParaRPr lang="pt-PT" sz="1900" b="0" u="none" strike="noStrike">
              <a:solidFill>
                <a:srgbClr val="000000"/>
              </a:solidFill>
              <a:effectLst/>
              <a:uFillTx/>
              <a:latin typeface="Arial"/>
            </a:endParaRPr>
          </a:p>
        </p:txBody>
      </p:sp>
      <p:sp>
        <p:nvSpPr>
          <p:cNvPr id="157" name="TextBox 16"/>
          <p:cNvSpPr/>
          <p:nvPr/>
        </p:nvSpPr>
        <p:spPr>
          <a:xfrm>
            <a:off x="4434840" y="3749040"/>
            <a:ext cx="3108600" cy="5666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1" u="none" strike="noStrike">
                <a:solidFill>
                  <a:srgbClr val="193536"/>
                </a:solidFill>
                <a:effectLst/>
                <a:uFillTx/>
                <a:latin typeface="Arial"/>
              </a:rPr>
              <a:t>Meta-design e modificação</a:t>
            </a:r>
            <a:endParaRPr lang="pt-PT" sz="1800" b="0" u="none" strike="noStrike">
              <a:solidFill>
                <a:srgbClr val="000000"/>
              </a:solidFill>
              <a:effectLst/>
              <a:uFillTx/>
              <a:latin typeface="Arial"/>
            </a:endParaRPr>
          </a:p>
        </p:txBody>
      </p:sp>
      <p:sp>
        <p:nvSpPr>
          <p:cNvPr id="158" name="TextBox 17"/>
          <p:cNvSpPr/>
          <p:nvPr/>
        </p:nvSpPr>
        <p:spPr>
          <a:xfrm>
            <a:off x="7680960" y="3749040"/>
            <a:ext cx="3611520" cy="5666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566B6A"/>
                </a:solidFill>
                <a:effectLst/>
                <a:uFillTx/>
                <a:latin typeface="Arial"/>
              </a:rPr>
              <a:t>Escolhas disponíveis no HandFab</a:t>
            </a:r>
            <a:endParaRPr lang="pt-PT" sz="1800" b="0" u="none" strike="noStrike">
              <a:solidFill>
                <a:srgbClr val="000000"/>
              </a:solidFill>
              <a:effectLst/>
              <a:uFillTx/>
              <a:latin typeface="Arial"/>
            </a:endParaRPr>
          </a:p>
        </p:txBody>
      </p:sp>
      <p:sp>
        <p:nvSpPr>
          <p:cNvPr id="159" name="Rectangle 18"/>
          <p:cNvSpPr/>
          <p:nvPr/>
        </p:nvSpPr>
        <p:spPr>
          <a:xfrm>
            <a:off x="640080" y="4517280"/>
            <a:ext cx="10881000" cy="7678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0" name="TextBox 19"/>
          <p:cNvSpPr/>
          <p:nvPr/>
        </p:nvSpPr>
        <p:spPr>
          <a:xfrm>
            <a:off x="831960" y="4518720"/>
            <a:ext cx="3474360" cy="5482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1" u="none" strike="noStrike">
                <a:solidFill>
                  <a:srgbClr val="007C78"/>
                </a:solidFill>
                <a:effectLst/>
                <a:uFillTx/>
                <a:latin typeface="Arial"/>
              </a:rPr>
              <a:t>Manero et al. (2019); Cabibihan et al. (2021)</a:t>
            </a:r>
            <a:endParaRPr lang="pt-PT" sz="1900" b="0" u="none" strike="noStrike">
              <a:solidFill>
                <a:srgbClr val="000000"/>
              </a:solidFill>
              <a:effectLst/>
              <a:uFillTx/>
              <a:latin typeface="Arial"/>
            </a:endParaRPr>
          </a:p>
        </p:txBody>
      </p:sp>
      <p:sp>
        <p:nvSpPr>
          <p:cNvPr id="161" name="TextBox 20"/>
          <p:cNvSpPr/>
          <p:nvPr/>
        </p:nvSpPr>
        <p:spPr>
          <a:xfrm>
            <a:off x="4434840" y="4608720"/>
            <a:ext cx="3108600" cy="5666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1" u="none" strike="noStrike">
                <a:solidFill>
                  <a:srgbClr val="193536"/>
                </a:solidFill>
                <a:effectLst/>
                <a:uFillTx/>
                <a:latin typeface="Arial"/>
              </a:rPr>
              <a:t>Próteses impressas em 3D</a:t>
            </a:r>
            <a:endParaRPr lang="pt-PT" sz="1800" b="0" u="none" strike="noStrike">
              <a:solidFill>
                <a:srgbClr val="000000"/>
              </a:solidFill>
              <a:effectLst/>
              <a:uFillTx/>
              <a:latin typeface="Arial"/>
            </a:endParaRPr>
          </a:p>
        </p:txBody>
      </p:sp>
      <p:sp>
        <p:nvSpPr>
          <p:cNvPr id="162" name="TextBox 21"/>
          <p:cNvSpPr/>
          <p:nvPr/>
        </p:nvSpPr>
        <p:spPr>
          <a:xfrm>
            <a:off x="7680960" y="4608720"/>
            <a:ext cx="3611520" cy="5666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566B6A"/>
                </a:solidFill>
                <a:effectLst/>
                <a:uFillTx/>
                <a:latin typeface="Arial"/>
              </a:rPr>
              <a:t>Contexto e necessidade de avaliação</a:t>
            </a:r>
            <a:endParaRPr lang="pt-PT" sz="1800" b="0" u="none" strike="noStrike">
              <a:solidFill>
                <a:srgbClr val="000000"/>
              </a:solidFill>
              <a:effectLst/>
              <a:uFillTx/>
              <a:latin typeface="Arial"/>
            </a:endParaRPr>
          </a:p>
        </p:txBody>
      </p:sp>
      <p:sp>
        <p:nvSpPr>
          <p:cNvPr id="163" name="TextBox 22"/>
          <p:cNvSpPr/>
          <p:nvPr/>
        </p:nvSpPr>
        <p:spPr>
          <a:xfrm>
            <a:off x="859680" y="5669280"/>
            <a:ext cx="10423800" cy="4568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100" b="1" u="none" strike="noStrike">
                <a:solidFill>
                  <a:srgbClr val="193536"/>
                </a:solidFill>
                <a:effectLst/>
                <a:uFillTx/>
                <a:latin typeface="Arial"/>
              </a:rPr>
              <a:t>Critério: utilidade para justificar decisões e interpretar os resultados.</a:t>
            </a:r>
            <a:endParaRPr lang="pt-PT" sz="2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164"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5"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INVESTIGAR ATRAVÉS DO PROJETO</a:t>
            </a:r>
            <a:endParaRPr lang="pt-PT" sz="1100" b="0" u="none" strike="noStrike">
              <a:solidFill>
                <a:srgbClr val="000000"/>
              </a:solidFill>
              <a:effectLst/>
              <a:uFillTx/>
              <a:latin typeface="Arial"/>
            </a:endParaRPr>
          </a:p>
        </p:txBody>
      </p:sp>
      <p:sp>
        <p:nvSpPr>
          <p:cNvPr id="166"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Investigar através do desenvolvimento do protótipo</a:t>
            </a:r>
            <a:endParaRPr lang="pt-PT" sz="3200" b="0" u="none" strike="noStrike">
              <a:solidFill>
                <a:srgbClr val="000000"/>
              </a:solidFill>
              <a:effectLst/>
              <a:uFillTx/>
              <a:latin typeface="Arial"/>
            </a:endParaRPr>
          </a:p>
        </p:txBody>
      </p:sp>
      <p:sp>
        <p:nvSpPr>
          <p:cNvPr id="167"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Frayling (1994); Zimmerman et al. (2007) · Design Council (2007): organização do processo · Tabela 4.</a:t>
            </a:r>
            <a:endParaRPr lang="pt-PT" sz="1000" b="0" u="none" strike="noStrike">
              <a:solidFill>
                <a:srgbClr val="000000"/>
              </a:solidFill>
              <a:effectLst/>
              <a:uFillTx/>
              <a:latin typeface="Arial"/>
            </a:endParaRPr>
          </a:p>
        </p:txBody>
      </p:sp>
      <p:sp>
        <p:nvSpPr>
          <p:cNvPr id="168"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06</a:t>
            </a:r>
            <a:endParaRPr lang="pt-PT" sz="1100" b="0" u="none" strike="noStrike">
              <a:solidFill>
                <a:srgbClr val="000000"/>
              </a:solidFill>
              <a:effectLst/>
              <a:uFillTx/>
              <a:latin typeface="Arial"/>
            </a:endParaRPr>
          </a:p>
        </p:txBody>
      </p:sp>
      <p:sp>
        <p:nvSpPr>
          <p:cNvPr id="169" name="Rectangle 6"/>
          <p:cNvSpPr/>
          <p:nvPr/>
        </p:nvSpPr>
        <p:spPr>
          <a:xfrm>
            <a:off x="640080" y="1920240"/>
            <a:ext cx="2541600" cy="32457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0" name="TextBox 7"/>
          <p:cNvSpPr/>
          <p:nvPr/>
        </p:nvSpPr>
        <p:spPr>
          <a:xfrm>
            <a:off x="841320" y="2084760"/>
            <a:ext cx="21394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01</a:t>
            </a:r>
            <a:endParaRPr lang="pt-PT" sz="2800" b="0" u="none" strike="noStrike">
              <a:solidFill>
                <a:srgbClr val="000000"/>
              </a:solidFill>
              <a:effectLst/>
              <a:uFillTx/>
              <a:latin typeface="Arial"/>
            </a:endParaRPr>
          </a:p>
        </p:txBody>
      </p:sp>
      <p:sp>
        <p:nvSpPr>
          <p:cNvPr id="171" name="TextBox 8"/>
          <p:cNvSpPr/>
          <p:nvPr/>
        </p:nvSpPr>
        <p:spPr>
          <a:xfrm>
            <a:off x="841320" y="2715840"/>
            <a:ext cx="21394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Observar</a:t>
            </a:r>
            <a:endParaRPr lang="pt-PT" sz="2300" b="0" u="none" strike="noStrike">
              <a:solidFill>
                <a:srgbClr val="000000"/>
              </a:solidFill>
              <a:effectLst/>
              <a:uFillTx/>
              <a:latin typeface="Arial"/>
            </a:endParaRPr>
          </a:p>
        </p:txBody>
      </p:sp>
      <p:sp>
        <p:nvSpPr>
          <p:cNvPr id="172" name="TextBox 9"/>
          <p:cNvSpPr/>
          <p:nvPr/>
        </p:nvSpPr>
        <p:spPr>
          <a:xfrm>
            <a:off x="841320" y="3566160"/>
            <a:ext cx="2139480" cy="1462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A geometria não acompanha a escolha.</a:t>
            </a:r>
            <a:endParaRPr lang="pt-PT" sz="1900" b="0" u="none" strike="noStrike">
              <a:solidFill>
                <a:srgbClr val="000000"/>
              </a:solidFill>
              <a:effectLst/>
              <a:uFillTx/>
              <a:latin typeface="Arial"/>
            </a:endParaRPr>
          </a:p>
        </p:txBody>
      </p:sp>
      <p:sp>
        <p:nvSpPr>
          <p:cNvPr id="173" name="Rectangle 10"/>
          <p:cNvSpPr/>
          <p:nvPr/>
        </p:nvSpPr>
        <p:spPr>
          <a:xfrm>
            <a:off x="3429000" y="1920240"/>
            <a:ext cx="2541600" cy="32457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4" name="TextBox 11"/>
          <p:cNvSpPr/>
          <p:nvPr/>
        </p:nvSpPr>
        <p:spPr>
          <a:xfrm>
            <a:off x="3630240" y="2084760"/>
            <a:ext cx="21394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02</a:t>
            </a:r>
            <a:endParaRPr lang="pt-PT" sz="2800" b="0" u="none" strike="noStrike">
              <a:solidFill>
                <a:srgbClr val="000000"/>
              </a:solidFill>
              <a:effectLst/>
              <a:uFillTx/>
              <a:latin typeface="Arial"/>
            </a:endParaRPr>
          </a:p>
        </p:txBody>
      </p:sp>
      <p:sp>
        <p:nvSpPr>
          <p:cNvPr id="175" name="TextBox 12"/>
          <p:cNvSpPr/>
          <p:nvPr/>
        </p:nvSpPr>
        <p:spPr>
          <a:xfrm>
            <a:off x="3630240" y="2715840"/>
            <a:ext cx="21394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Decidir</a:t>
            </a:r>
            <a:endParaRPr lang="pt-PT" sz="2300" b="0" u="none" strike="noStrike">
              <a:solidFill>
                <a:srgbClr val="000000"/>
              </a:solidFill>
              <a:effectLst/>
              <a:uFillTx/>
              <a:latin typeface="Arial"/>
            </a:endParaRPr>
          </a:p>
        </p:txBody>
      </p:sp>
      <p:sp>
        <p:nvSpPr>
          <p:cNvPr id="176" name="TextBox 13"/>
          <p:cNvSpPr/>
          <p:nvPr/>
        </p:nvSpPr>
        <p:spPr>
          <a:xfrm>
            <a:off x="3630240" y="3566160"/>
            <a:ext cx="2139480" cy="1462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Rever a relação entre valor e forma.</a:t>
            </a:r>
            <a:endParaRPr lang="pt-PT" sz="1900" b="0" u="none" strike="noStrike">
              <a:solidFill>
                <a:srgbClr val="000000"/>
              </a:solidFill>
              <a:effectLst/>
              <a:uFillTx/>
              <a:latin typeface="Arial"/>
            </a:endParaRPr>
          </a:p>
        </p:txBody>
      </p:sp>
      <p:sp>
        <p:nvSpPr>
          <p:cNvPr id="177" name="Rectangle 14"/>
          <p:cNvSpPr/>
          <p:nvPr/>
        </p:nvSpPr>
        <p:spPr>
          <a:xfrm>
            <a:off x="6217920" y="1920240"/>
            <a:ext cx="2541600" cy="32457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8" name="TextBox 15"/>
          <p:cNvSpPr/>
          <p:nvPr/>
        </p:nvSpPr>
        <p:spPr>
          <a:xfrm>
            <a:off x="6419160" y="2084760"/>
            <a:ext cx="21394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03</a:t>
            </a:r>
            <a:endParaRPr lang="pt-PT" sz="2800" b="0" u="none" strike="noStrike">
              <a:solidFill>
                <a:srgbClr val="000000"/>
              </a:solidFill>
              <a:effectLst/>
              <a:uFillTx/>
              <a:latin typeface="Arial"/>
            </a:endParaRPr>
          </a:p>
        </p:txBody>
      </p:sp>
      <p:sp>
        <p:nvSpPr>
          <p:cNvPr id="179" name="TextBox 16"/>
          <p:cNvSpPr/>
          <p:nvPr/>
        </p:nvSpPr>
        <p:spPr>
          <a:xfrm>
            <a:off x="6419160" y="2715840"/>
            <a:ext cx="21394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Alterar</a:t>
            </a:r>
            <a:endParaRPr lang="pt-PT" sz="2300" b="0" u="none" strike="noStrike">
              <a:solidFill>
                <a:srgbClr val="000000"/>
              </a:solidFill>
              <a:effectLst/>
              <a:uFillTx/>
              <a:latin typeface="Arial"/>
            </a:endParaRPr>
          </a:p>
        </p:txBody>
      </p:sp>
      <p:sp>
        <p:nvSpPr>
          <p:cNvPr id="180" name="TextBox 17"/>
          <p:cNvSpPr/>
          <p:nvPr/>
        </p:nvSpPr>
        <p:spPr>
          <a:xfrm>
            <a:off x="6419160" y="3566160"/>
            <a:ext cx="2139480" cy="1462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Aplicar a regra no ponto adequado.</a:t>
            </a:r>
            <a:endParaRPr lang="pt-PT" sz="1900" b="0" u="none" strike="noStrike">
              <a:solidFill>
                <a:srgbClr val="000000"/>
              </a:solidFill>
              <a:effectLst/>
              <a:uFillTx/>
              <a:latin typeface="Arial"/>
            </a:endParaRPr>
          </a:p>
        </p:txBody>
      </p:sp>
      <p:sp>
        <p:nvSpPr>
          <p:cNvPr id="181" name="Rectangle 18"/>
          <p:cNvSpPr/>
          <p:nvPr/>
        </p:nvSpPr>
        <p:spPr>
          <a:xfrm>
            <a:off x="9006840" y="1920240"/>
            <a:ext cx="2541600" cy="32457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2" name="TextBox 19"/>
          <p:cNvSpPr/>
          <p:nvPr/>
        </p:nvSpPr>
        <p:spPr>
          <a:xfrm>
            <a:off x="9208080" y="2084760"/>
            <a:ext cx="21394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04</a:t>
            </a:r>
            <a:endParaRPr lang="pt-PT" sz="2800" b="0" u="none" strike="noStrike">
              <a:solidFill>
                <a:srgbClr val="000000"/>
              </a:solidFill>
              <a:effectLst/>
              <a:uFillTx/>
              <a:latin typeface="Arial"/>
            </a:endParaRPr>
          </a:p>
        </p:txBody>
      </p:sp>
      <p:sp>
        <p:nvSpPr>
          <p:cNvPr id="183" name="TextBox 20"/>
          <p:cNvSpPr/>
          <p:nvPr/>
        </p:nvSpPr>
        <p:spPr>
          <a:xfrm>
            <a:off x="9208080" y="2715840"/>
            <a:ext cx="21394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Verificar</a:t>
            </a:r>
            <a:endParaRPr lang="pt-PT" sz="2300" b="0" u="none" strike="noStrike">
              <a:solidFill>
                <a:srgbClr val="000000"/>
              </a:solidFill>
              <a:effectLst/>
              <a:uFillTx/>
              <a:latin typeface="Arial"/>
            </a:endParaRPr>
          </a:p>
        </p:txBody>
      </p:sp>
      <p:sp>
        <p:nvSpPr>
          <p:cNvPr id="184" name="TextBox 21"/>
          <p:cNvSpPr/>
          <p:nvPr/>
        </p:nvSpPr>
        <p:spPr>
          <a:xfrm>
            <a:off x="9208080" y="3566160"/>
            <a:ext cx="2139480" cy="1462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Examinar novamente o resultado.</a:t>
            </a:r>
            <a:endParaRPr lang="pt-PT" sz="1900" b="0" u="none" strike="noStrike">
              <a:solidFill>
                <a:srgbClr val="000000"/>
              </a:solidFill>
              <a:effectLst/>
              <a:uFillTx/>
              <a:latin typeface="Arial"/>
            </a:endParaRPr>
          </a:p>
        </p:txBody>
      </p:sp>
      <p:sp>
        <p:nvSpPr>
          <p:cNvPr id="185" name="TextBox 22"/>
          <p:cNvSpPr/>
          <p:nvPr/>
        </p:nvSpPr>
        <p:spPr>
          <a:xfrm>
            <a:off x="822960" y="5532120"/>
            <a:ext cx="10423800" cy="4568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007C78"/>
                </a:solidFill>
                <a:effectLst/>
                <a:uFillTx/>
                <a:latin typeface="Arial"/>
              </a:rPr>
              <a:t>O contributo depende de explicar a decisão e a sua consequência.</a:t>
            </a:r>
            <a:endParaRPr lang="pt-PT" sz="2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186"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7"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ARTEFACTO DE INVESTIGAÇÃO</a:t>
            </a:r>
            <a:endParaRPr lang="pt-PT" sz="1100" b="0" u="none" strike="noStrike">
              <a:solidFill>
                <a:srgbClr val="000000"/>
              </a:solidFill>
              <a:effectLst/>
              <a:uFillTx/>
              <a:latin typeface="Arial"/>
            </a:endParaRPr>
          </a:p>
        </p:txBody>
      </p:sp>
      <p:sp>
        <p:nvSpPr>
          <p:cNvPr id="188"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HandFab: um percurso com decisões explícitas</a:t>
            </a:r>
            <a:endParaRPr lang="pt-PT" sz="3200" b="0" u="none" strike="noStrike">
              <a:solidFill>
                <a:srgbClr val="000000"/>
              </a:solidFill>
              <a:effectLst/>
              <a:uFillTx/>
              <a:latin typeface="Arial"/>
            </a:endParaRPr>
          </a:p>
        </p:txBody>
      </p:sp>
      <p:sp>
        <p:nvSpPr>
          <p:cNvPr id="189"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Síntese do autor, Figuras 17-18 · Fischer et al. (2004): enquadramento conceptual da modificação.</a:t>
            </a:r>
            <a:endParaRPr lang="pt-PT" sz="1000" b="0" u="none" strike="noStrike">
              <a:solidFill>
                <a:srgbClr val="000000"/>
              </a:solidFill>
              <a:effectLst/>
              <a:uFillTx/>
              <a:latin typeface="Arial"/>
            </a:endParaRPr>
          </a:p>
        </p:txBody>
      </p:sp>
      <p:sp>
        <p:nvSpPr>
          <p:cNvPr id="190"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07</a:t>
            </a:r>
            <a:endParaRPr lang="pt-PT" sz="1100" b="0" u="none" strike="noStrike">
              <a:solidFill>
                <a:srgbClr val="000000"/>
              </a:solidFill>
              <a:effectLst/>
              <a:uFillTx/>
              <a:latin typeface="Arial"/>
            </a:endParaRPr>
          </a:p>
        </p:txBody>
      </p:sp>
      <p:sp>
        <p:nvSpPr>
          <p:cNvPr id="191" name="Rectangle 6"/>
          <p:cNvSpPr/>
          <p:nvPr/>
        </p:nvSpPr>
        <p:spPr>
          <a:xfrm>
            <a:off x="640080" y="2194560"/>
            <a:ext cx="2541600" cy="246852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2" name="TextBox 7"/>
          <p:cNvSpPr/>
          <p:nvPr/>
        </p:nvSpPr>
        <p:spPr>
          <a:xfrm>
            <a:off x="841320" y="2359080"/>
            <a:ext cx="21394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01</a:t>
            </a:r>
            <a:endParaRPr lang="pt-PT" sz="2800" b="0" u="none" strike="noStrike">
              <a:solidFill>
                <a:srgbClr val="000000"/>
              </a:solidFill>
              <a:effectLst/>
              <a:uFillTx/>
              <a:latin typeface="Arial"/>
            </a:endParaRPr>
          </a:p>
        </p:txBody>
      </p:sp>
      <p:sp>
        <p:nvSpPr>
          <p:cNvPr id="193" name="TextBox 8"/>
          <p:cNvSpPr/>
          <p:nvPr/>
        </p:nvSpPr>
        <p:spPr>
          <a:xfrm>
            <a:off x="841320" y="2990160"/>
            <a:ext cx="21394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Referência</a:t>
            </a:r>
            <a:endParaRPr lang="pt-PT" sz="2300" b="0" u="none" strike="noStrike">
              <a:solidFill>
                <a:srgbClr val="000000"/>
              </a:solidFill>
              <a:effectLst/>
              <a:uFillTx/>
              <a:latin typeface="Arial"/>
            </a:endParaRPr>
          </a:p>
        </p:txBody>
      </p:sp>
      <p:sp>
        <p:nvSpPr>
          <p:cNvPr id="194" name="TextBox 9"/>
          <p:cNvSpPr/>
          <p:nvPr/>
        </p:nvSpPr>
        <p:spPr>
          <a:xfrm>
            <a:off x="841320" y="3840480"/>
            <a:ext cx="2139480" cy="6854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Dados ou descrição</a:t>
            </a:r>
            <a:endParaRPr lang="pt-PT" sz="1900" b="0" u="none" strike="noStrike">
              <a:solidFill>
                <a:srgbClr val="000000"/>
              </a:solidFill>
              <a:effectLst/>
              <a:uFillTx/>
              <a:latin typeface="Arial"/>
            </a:endParaRPr>
          </a:p>
        </p:txBody>
      </p:sp>
      <p:sp>
        <p:nvSpPr>
          <p:cNvPr id="195" name="Rectangle 10"/>
          <p:cNvSpPr/>
          <p:nvPr/>
        </p:nvSpPr>
        <p:spPr>
          <a:xfrm>
            <a:off x="3429000" y="2194560"/>
            <a:ext cx="2541600" cy="246852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6" name="TextBox 11"/>
          <p:cNvSpPr/>
          <p:nvPr/>
        </p:nvSpPr>
        <p:spPr>
          <a:xfrm>
            <a:off x="3630240" y="2359080"/>
            <a:ext cx="21394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02</a:t>
            </a:r>
            <a:endParaRPr lang="pt-PT" sz="2800" b="0" u="none" strike="noStrike">
              <a:solidFill>
                <a:srgbClr val="000000"/>
              </a:solidFill>
              <a:effectLst/>
              <a:uFillTx/>
              <a:latin typeface="Arial"/>
            </a:endParaRPr>
          </a:p>
        </p:txBody>
      </p:sp>
      <p:sp>
        <p:nvSpPr>
          <p:cNvPr id="197" name="TextBox 12"/>
          <p:cNvSpPr/>
          <p:nvPr/>
        </p:nvSpPr>
        <p:spPr>
          <a:xfrm>
            <a:off x="3630240" y="2990160"/>
            <a:ext cx="21394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Revisão</a:t>
            </a:r>
            <a:endParaRPr lang="pt-PT" sz="2300" b="0" u="none" strike="noStrike">
              <a:solidFill>
                <a:srgbClr val="000000"/>
              </a:solidFill>
              <a:effectLst/>
              <a:uFillTx/>
              <a:latin typeface="Arial"/>
            </a:endParaRPr>
          </a:p>
        </p:txBody>
      </p:sp>
      <p:sp>
        <p:nvSpPr>
          <p:cNvPr id="198" name="TextBox 13"/>
          <p:cNvSpPr/>
          <p:nvPr/>
        </p:nvSpPr>
        <p:spPr>
          <a:xfrm>
            <a:off x="3630240" y="3840480"/>
            <a:ext cx="2139480" cy="6854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Valores editáveis</a:t>
            </a:r>
            <a:endParaRPr lang="pt-PT" sz="1900" b="0" u="none" strike="noStrike">
              <a:solidFill>
                <a:srgbClr val="000000"/>
              </a:solidFill>
              <a:effectLst/>
              <a:uFillTx/>
              <a:latin typeface="Arial"/>
            </a:endParaRPr>
          </a:p>
        </p:txBody>
      </p:sp>
      <p:sp>
        <p:nvSpPr>
          <p:cNvPr id="199" name="Rectangle 14"/>
          <p:cNvSpPr/>
          <p:nvPr/>
        </p:nvSpPr>
        <p:spPr>
          <a:xfrm>
            <a:off x="6217920" y="2194560"/>
            <a:ext cx="2541600" cy="246852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0" name="TextBox 15"/>
          <p:cNvSpPr/>
          <p:nvPr/>
        </p:nvSpPr>
        <p:spPr>
          <a:xfrm>
            <a:off x="6419160" y="2359080"/>
            <a:ext cx="21394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03</a:t>
            </a:r>
            <a:endParaRPr lang="pt-PT" sz="2800" b="0" u="none" strike="noStrike">
              <a:solidFill>
                <a:srgbClr val="000000"/>
              </a:solidFill>
              <a:effectLst/>
              <a:uFillTx/>
              <a:latin typeface="Arial"/>
            </a:endParaRPr>
          </a:p>
        </p:txBody>
      </p:sp>
      <p:sp>
        <p:nvSpPr>
          <p:cNvPr id="201" name="TextBox 16"/>
          <p:cNvSpPr/>
          <p:nvPr/>
        </p:nvSpPr>
        <p:spPr>
          <a:xfrm>
            <a:off x="6419160" y="2990160"/>
            <a:ext cx="21394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Geometria</a:t>
            </a:r>
            <a:endParaRPr lang="pt-PT" sz="2300" b="0" u="none" strike="noStrike">
              <a:solidFill>
                <a:srgbClr val="000000"/>
              </a:solidFill>
              <a:effectLst/>
              <a:uFillTx/>
              <a:latin typeface="Arial"/>
            </a:endParaRPr>
          </a:p>
        </p:txBody>
      </p:sp>
      <p:sp>
        <p:nvSpPr>
          <p:cNvPr id="202" name="TextBox 17"/>
          <p:cNvSpPr/>
          <p:nvPr/>
        </p:nvSpPr>
        <p:spPr>
          <a:xfrm>
            <a:off x="6419160" y="3840480"/>
            <a:ext cx="2139480" cy="6854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Regras do modelo</a:t>
            </a:r>
            <a:endParaRPr lang="pt-PT" sz="1900" b="0" u="none" strike="noStrike">
              <a:solidFill>
                <a:srgbClr val="000000"/>
              </a:solidFill>
              <a:effectLst/>
              <a:uFillTx/>
              <a:latin typeface="Arial"/>
            </a:endParaRPr>
          </a:p>
        </p:txBody>
      </p:sp>
      <p:sp>
        <p:nvSpPr>
          <p:cNvPr id="203" name="Rectangle 18"/>
          <p:cNvSpPr/>
          <p:nvPr/>
        </p:nvSpPr>
        <p:spPr>
          <a:xfrm>
            <a:off x="9006840" y="2194560"/>
            <a:ext cx="2541600" cy="246852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4" name="TextBox 19"/>
          <p:cNvSpPr/>
          <p:nvPr/>
        </p:nvSpPr>
        <p:spPr>
          <a:xfrm>
            <a:off x="9208080" y="2359080"/>
            <a:ext cx="21394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04</a:t>
            </a:r>
            <a:endParaRPr lang="pt-PT" sz="2800" b="0" u="none" strike="noStrike">
              <a:solidFill>
                <a:srgbClr val="000000"/>
              </a:solidFill>
              <a:effectLst/>
              <a:uFillTx/>
              <a:latin typeface="Arial"/>
            </a:endParaRPr>
          </a:p>
        </p:txBody>
      </p:sp>
      <p:sp>
        <p:nvSpPr>
          <p:cNvPr id="205" name="TextBox 20"/>
          <p:cNvSpPr/>
          <p:nvPr/>
        </p:nvSpPr>
        <p:spPr>
          <a:xfrm>
            <a:off x="9208080" y="2990160"/>
            <a:ext cx="21394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Exportação</a:t>
            </a:r>
            <a:endParaRPr lang="pt-PT" sz="2300" b="0" u="none" strike="noStrike">
              <a:solidFill>
                <a:srgbClr val="000000"/>
              </a:solidFill>
              <a:effectLst/>
              <a:uFillTx/>
              <a:latin typeface="Arial"/>
            </a:endParaRPr>
          </a:p>
        </p:txBody>
      </p:sp>
      <p:sp>
        <p:nvSpPr>
          <p:cNvPr id="206" name="TextBox 21"/>
          <p:cNvSpPr/>
          <p:nvPr/>
        </p:nvSpPr>
        <p:spPr>
          <a:xfrm>
            <a:off x="9208080" y="3840480"/>
            <a:ext cx="2139480" cy="6854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Preparar o fabrico</a:t>
            </a:r>
            <a:endParaRPr lang="pt-PT" sz="1900" b="0" u="none" strike="noStrike">
              <a:solidFill>
                <a:srgbClr val="000000"/>
              </a:solidFill>
              <a:effectLst/>
              <a:uFillTx/>
              <a:latin typeface="Arial"/>
            </a:endParaRPr>
          </a:p>
        </p:txBody>
      </p:sp>
      <p:sp>
        <p:nvSpPr>
          <p:cNvPr id="207" name="Rectangle 22"/>
          <p:cNvSpPr/>
          <p:nvPr/>
        </p:nvSpPr>
        <p:spPr>
          <a:xfrm>
            <a:off x="3474720" y="1801440"/>
            <a:ext cx="2441160" cy="35640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8" name="TextBox 23"/>
          <p:cNvSpPr/>
          <p:nvPr/>
        </p:nvSpPr>
        <p:spPr>
          <a:xfrm>
            <a:off x="3584520" y="1828800"/>
            <a:ext cx="2194200" cy="2556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300" b="1" u="none" strike="noStrike">
                <a:solidFill>
                  <a:srgbClr val="FFFFFF"/>
                </a:solidFill>
                <a:effectLst/>
                <a:uFillTx/>
                <a:latin typeface="Arial"/>
              </a:rPr>
              <a:t>IA: sugestão inicial</a:t>
            </a:r>
            <a:endParaRPr lang="pt-PT" sz="1300" b="0" u="none" strike="noStrike">
              <a:solidFill>
                <a:srgbClr val="000000"/>
              </a:solidFill>
              <a:effectLst/>
              <a:uFillTx/>
              <a:latin typeface="Arial"/>
            </a:endParaRPr>
          </a:p>
        </p:txBody>
      </p:sp>
      <p:sp>
        <p:nvSpPr>
          <p:cNvPr id="209" name="TextBox 24"/>
          <p:cNvSpPr/>
          <p:nvPr/>
        </p:nvSpPr>
        <p:spPr>
          <a:xfrm>
            <a:off x="822960" y="5184720"/>
            <a:ext cx="10423800" cy="849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500" b="1" u="none" strike="noStrike">
                <a:solidFill>
                  <a:srgbClr val="193536"/>
                </a:solidFill>
                <a:effectLst/>
                <a:uFillTx/>
                <a:latin typeface="Arial"/>
              </a:rPr>
              <a:t>As decisões de design definem as variações disponíveis e as condições de revisão.</a:t>
            </a:r>
            <a:endParaRPr lang="pt-PT" sz="2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210"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1"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ANTROPOMETRIA · FONTES</a:t>
            </a:r>
            <a:endParaRPr lang="pt-PT" sz="1100" b="0" u="none" strike="noStrike">
              <a:solidFill>
                <a:srgbClr val="000000"/>
              </a:solidFill>
              <a:effectLst/>
              <a:uFillTx/>
              <a:latin typeface="Arial"/>
            </a:endParaRPr>
          </a:p>
        </p:txBody>
      </p:sp>
      <p:sp>
        <p:nvSpPr>
          <p:cNvPr id="212"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Fontes antropométricas e critérios de utilização</a:t>
            </a:r>
            <a:endParaRPr lang="pt-PT" sz="3200" b="0" u="none" strike="noStrike">
              <a:solidFill>
                <a:srgbClr val="000000"/>
              </a:solidFill>
              <a:effectLst/>
              <a:uFillTx/>
              <a:latin typeface="Arial"/>
            </a:endParaRPr>
          </a:p>
        </p:txBody>
      </p:sp>
      <p:sp>
        <p:nvSpPr>
          <p:cNvPr id="213"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Gordon et al. (1989; 2014) · TU Delft, DINED (s.d.) · ISO 7250-1:2017 · Referências no diapositivo 25.</a:t>
            </a:r>
            <a:endParaRPr lang="pt-PT" sz="1000" b="0" u="none" strike="noStrike">
              <a:solidFill>
                <a:srgbClr val="000000"/>
              </a:solidFill>
              <a:effectLst/>
              <a:uFillTx/>
              <a:latin typeface="Arial"/>
            </a:endParaRPr>
          </a:p>
        </p:txBody>
      </p:sp>
      <p:sp>
        <p:nvSpPr>
          <p:cNvPr id="214"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08</a:t>
            </a:r>
            <a:endParaRPr lang="pt-PT" sz="1100" b="0" u="none" strike="noStrike">
              <a:solidFill>
                <a:srgbClr val="000000"/>
              </a:solidFill>
              <a:effectLst/>
              <a:uFillTx/>
              <a:latin typeface="Arial"/>
            </a:endParaRPr>
          </a:p>
        </p:txBody>
      </p:sp>
      <p:sp>
        <p:nvSpPr>
          <p:cNvPr id="215" name="Rectangle 6"/>
          <p:cNvSpPr/>
          <p:nvPr/>
        </p:nvSpPr>
        <p:spPr>
          <a:xfrm>
            <a:off x="640080" y="1920240"/>
            <a:ext cx="3474360" cy="333720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6" name="TextBox 7"/>
          <p:cNvSpPr/>
          <p:nvPr/>
        </p:nvSpPr>
        <p:spPr>
          <a:xfrm>
            <a:off x="841320" y="2084760"/>
            <a:ext cx="30718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Estudos</a:t>
            </a:r>
            <a:endParaRPr lang="pt-PT" sz="2800" b="0" u="none" strike="noStrike">
              <a:solidFill>
                <a:srgbClr val="000000"/>
              </a:solidFill>
              <a:effectLst/>
              <a:uFillTx/>
              <a:latin typeface="Arial"/>
            </a:endParaRPr>
          </a:p>
        </p:txBody>
      </p:sp>
      <p:sp>
        <p:nvSpPr>
          <p:cNvPr id="217" name="TextBox 8"/>
          <p:cNvSpPr/>
          <p:nvPr/>
        </p:nvSpPr>
        <p:spPr>
          <a:xfrm>
            <a:off x="841320" y="2715840"/>
            <a:ext cx="30718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Gordon et al.</a:t>
            </a:r>
            <a:endParaRPr lang="pt-PT" sz="2300" b="0" u="none" strike="noStrike">
              <a:solidFill>
                <a:srgbClr val="000000"/>
              </a:solidFill>
              <a:effectLst/>
              <a:uFillTx/>
              <a:latin typeface="Arial"/>
            </a:endParaRPr>
          </a:p>
        </p:txBody>
      </p:sp>
      <p:sp>
        <p:nvSpPr>
          <p:cNvPr id="218" name="TextBox 9"/>
          <p:cNvSpPr/>
          <p:nvPr/>
        </p:nvSpPr>
        <p:spPr>
          <a:xfrm>
            <a:off x="841320" y="3566160"/>
            <a:ext cx="3071880" cy="15541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ANSUR 1988 / ANSUR II.</a:t>
            </a:r>
            <a:endParaRPr lang="pt-PT" sz="1900" b="0" u="none" strike="noStrike">
              <a:solidFill>
                <a:srgbClr val="000000"/>
              </a:solidFill>
              <a:effectLst/>
              <a:uFillTx/>
              <a:latin typeface="Arial"/>
            </a:endParaRPr>
          </a:p>
          <a:p>
            <a:pPr defTabSz="457200">
              <a:lnSpc>
                <a:spcPct val="110000"/>
              </a:lnSpc>
              <a:spcAft>
                <a:spcPts val="700"/>
              </a:spcAft>
            </a:pPr>
            <a:r>
              <a:rPr lang="en-US" sz="1900" b="0" u="none" strike="noStrike">
                <a:solidFill>
                  <a:srgbClr val="566B6A"/>
                </a:solidFill>
                <a:effectLst/>
                <a:uFillTx/>
                <a:latin typeface="Arial"/>
              </a:rPr>
              <a:t>Populações e levantamentos distintos.</a:t>
            </a:r>
            <a:endParaRPr lang="pt-PT" sz="1900" b="0" u="none" strike="noStrike">
              <a:solidFill>
                <a:srgbClr val="000000"/>
              </a:solidFill>
              <a:effectLst/>
              <a:uFillTx/>
              <a:latin typeface="Arial"/>
            </a:endParaRPr>
          </a:p>
        </p:txBody>
      </p:sp>
      <p:sp>
        <p:nvSpPr>
          <p:cNvPr id="219" name="Rectangle 10"/>
          <p:cNvSpPr/>
          <p:nvPr/>
        </p:nvSpPr>
        <p:spPr>
          <a:xfrm>
            <a:off x="4343400" y="1920240"/>
            <a:ext cx="3474360" cy="333720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0" name="TextBox 11"/>
          <p:cNvSpPr/>
          <p:nvPr/>
        </p:nvSpPr>
        <p:spPr>
          <a:xfrm>
            <a:off x="4544640" y="2084760"/>
            <a:ext cx="30718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Base</a:t>
            </a:r>
            <a:endParaRPr lang="pt-PT" sz="2800" b="0" u="none" strike="noStrike">
              <a:solidFill>
                <a:srgbClr val="000000"/>
              </a:solidFill>
              <a:effectLst/>
              <a:uFillTx/>
              <a:latin typeface="Arial"/>
            </a:endParaRPr>
          </a:p>
        </p:txBody>
      </p:sp>
      <p:sp>
        <p:nvSpPr>
          <p:cNvPr id="221" name="TextBox 12"/>
          <p:cNvSpPr/>
          <p:nvPr/>
        </p:nvSpPr>
        <p:spPr>
          <a:xfrm>
            <a:off x="4544640" y="2715840"/>
            <a:ext cx="30718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TU Delft · DINED</a:t>
            </a:r>
            <a:endParaRPr lang="pt-PT" sz="2300" b="0" u="none" strike="noStrike">
              <a:solidFill>
                <a:srgbClr val="000000"/>
              </a:solidFill>
              <a:effectLst/>
              <a:uFillTx/>
              <a:latin typeface="Arial"/>
            </a:endParaRPr>
          </a:p>
        </p:txBody>
      </p:sp>
      <p:sp>
        <p:nvSpPr>
          <p:cNvPr id="222" name="TextBox 13"/>
          <p:cNvSpPr/>
          <p:nvPr/>
        </p:nvSpPr>
        <p:spPr>
          <a:xfrm>
            <a:off x="4544640" y="3566160"/>
            <a:ext cx="3071880" cy="15541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Conjuntos utilizados:</a:t>
            </a:r>
            <a:endParaRPr lang="pt-PT" sz="1900" b="0" u="none" strike="noStrike">
              <a:solidFill>
                <a:srgbClr val="000000"/>
              </a:solidFill>
              <a:effectLst/>
              <a:uFillTx/>
              <a:latin typeface="Arial"/>
            </a:endParaRPr>
          </a:p>
          <a:p>
            <a:pPr defTabSz="457200">
              <a:lnSpc>
                <a:spcPct val="110000"/>
              </a:lnSpc>
              <a:spcAft>
                <a:spcPts val="700"/>
              </a:spcAft>
            </a:pPr>
            <a:r>
              <a:rPr lang="en-US" sz="1900" b="0" u="none" strike="noStrike">
                <a:solidFill>
                  <a:srgbClr val="566B6A"/>
                </a:solidFill>
                <a:effectLst/>
                <a:uFillTx/>
                <a:latin typeface="Arial"/>
              </a:rPr>
              <a:t>kima1993 · geron1998</a:t>
            </a:r>
            <a:endParaRPr lang="pt-PT" sz="1900" b="0" u="none" strike="noStrike">
              <a:solidFill>
                <a:srgbClr val="000000"/>
              </a:solidFill>
              <a:effectLst/>
              <a:uFillTx/>
              <a:latin typeface="Arial"/>
            </a:endParaRPr>
          </a:p>
          <a:p>
            <a:pPr defTabSz="457200">
              <a:lnSpc>
                <a:spcPct val="110000"/>
              </a:lnSpc>
              <a:spcAft>
                <a:spcPts val="700"/>
              </a:spcAft>
            </a:pPr>
            <a:r>
              <a:rPr lang="en-US" sz="1900" b="0" u="none" strike="noStrike">
                <a:solidFill>
                  <a:srgbClr val="566B6A"/>
                </a:solidFill>
                <a:effectLst/>
                <a:uFillTx/>
                <a:latin typeface="Arial"/>
              </a:rPr>
              <a:t>dined2004</a:t>
            </a:r>
            <a:endParaRPr lang="pt-PT" sz="1900" b="0" u="none" strike="noStrike">
              <a:solidFill>
                <a:srgbClr val="000000"/>
              </a:solidFill>
              <a:effectLst/>
              <a:uFillTx/>
              <a:latin typeface="Arial"/>
            </a:endParaRPr>
          </a:p>
        </p:txBody>
      </p:sp>
      <p:sp>
        <p:nvSpPr>
          <p:cNvPr id="223" name="Rectangle 14"/>
          <p:cNvSpPr/>
          <p:nvPr/>
        </p:nvSpPr>
        <p:spPr>
          <a:xfrm>
            <a:off x="8046720" y="1920240"/>
            <a:ext cx="3474360" cy="333720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4" name="TextBox 15"/>
          <p:cNvSpPr/>
          <p:nvPr/>
        </p:nvSpPr>
        <p:spPr>
          <a:xfrm>
            <a:off x="8247960" y="2084760"/>
            <a:ext cx="30718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Definições</a:t>
            </a:r>
            <a:endParaRPr lang="pt-PT" sz="2800" b="0" u="none" strike="noStrike">
              <a:solidFill>
                <a:srgbClr val="000000"/>
              </a:solidFill>
              <a:effectLst/>
              <a:uFillTx/>
              <a:latin typeface="Arial"/>
            </a:endParaRPr>
          </a:p>
        </p:txBody>
      </p:sp>
      <p:sp>
        <p:nvSpPr>
          <p:cNvPr id="225" name="TextBox 16"/>
          <p:cNvSpPr/>
          <p:nvPr/>
        </p:nvSpPr>
        <p:spPr>
          <a:xfrm>
            <a:off x="8247960" y="2715840"/>
            <a:ext cx="30718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ISO 7250-1:2017</a:t>
            </a:r>
            <a:endParaRPr lang="pt-PT" sz="2300" b="0" u="none" strike="noStrike">
              <a:solidFill>
                <a:srgbClr val="000000"/>
              </a:solidFill>
              <a:effectLst/>
              <a:uFillTx/>
              <a:latin typeface="Arial"/>
            </a:endParaRPr>
          </a:p>
        </p:txBody>
      </p:sp>
      <p:sp>
        <p:nvSpPr>
          <p:cNvPr id="226" name="TextBox 17"/>
          <p:cNvSpPr/>
          <p:nvPr/>
        </p:nvSpPr>
        <p:spPr>
          <a:xfrm>
            <a:off x="8247960" y="3566160"/>
            <a:ext cx="3071880" cy="15541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Medidas do corpo e pontos anatómicos de referência.</a:t>
            </a:r>
            <a:endParaRPr lang="pt-PT" sz="1900" b="0" u="none" strike="noStrike">
              <a:solidFill>
                <a:srgbClr val="000000"/>
              </a:solidFill>
              <a:effectLst/>
              <a:uFillTx/>
              <a:latin typeface="Arial"/>
            </a:endParaRPr>
          </a:p>
        </p:txBody>
      </p:sp>
      <p:sp>
        <p:nvSpPr>
          <p:cNvPr id="227" name="TextBox 18"/>
          <p:cNvSpPr/>
          <p:nvPr/>
        </p:nvSpPr>
        <p:spPr>
          <a:xfrm>
            <a:off x="859680" y="5623560"/>
            <a:ext cx="10423800" cy="4842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100" b="1" u="none" strike="noStrike">
                <a:solidFill>
                  <a:srgbClr val="007C78"/>
                </a:solidFill>
                <a:effectLst/>
                <a:uFillTx/>
                <a:latin typeface="Arial"/>
              </a:rPr>
              <a:t>Interpretar cada valor: população · idade · sexo · medida · unidade · estatística</a:t>
            </a:r>
            <a:endParaRPr lang="pt-PT" sz="2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228"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9"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ANTROPOMETRIA · TRABALHO REALIZADO</a:t>
            </a:r>
            <a:endParaRPr lang="pt-PT" sz="1100" b="0" u="none" strike="noStrike">
              <a:solidFill>
                <a:srgbClr val="000000"/>
              </a:solidFill>
              <a:effectLst/>
              <a:uFillTx/>
              <a:latin typeface="Arial"/>
            </a:endParaRPr>
          </a:p>
        </p:txBody>
      </p:sp>
      <p:sp>
        <p:nvSpPr>
          <p:cNvPr id="230"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Da base consolidada aos perfis do HandFab</a:t>
            </a:r>
            <a:endParaRPr lang="pt-PT" sz="3200" b="0" u="none" strike="noStrike">
              <a:solidFill>
                <a:srgbClr val="000000"/>
              </a:solidFill>
              <a:effectLst/>
              <a:uFillTx/>
              <a:latin typeface="Arial"/>
            </a:endParaRPr>
          </a:p>
        </p:txBody>
      </p:sp>
      <p:sp>
        <p:nvSpPr>
          <p:cNvPr id="231"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Fontes: manuscrito, 4.2; Suplemento 1 · Os números indicam registos, não participantes.</a:t>
            </a:r>
            <a:endParaRPr lang="pt-PT" sz="1000" b="0" u="none" strike="noStrike">
              <a:solidFill>
                <a:srgbClr val="000000"/>
              </a:solidFill>
              <a:effectLst/>
              <a:uFillTx/>
              <a:latin typeface="Arial"/>
            </a:endParaRPr>
          </a:p>
        </p:txBody>
      </p:sp>
      <p:sp>
        <p:nvSpPr>
          <p:cNvPr id="232"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09</a:t>
            </a:r>
            <a:endParaRPr lang="pt-PT" sz="1100" b="0" u="none" strike="noStrike">
              <a:solidFill>
                <a:srgbClr val="000000"/>
              </a:solidFill>
              <a:effectLst/>
              <a:uFillTx/>
              <a:latin typeface="Arial"/>
            </a:endParaRPr>
          </a:p>
        </p:txBody>
      </p:sp>
      <p:sp>
        <p:nvSpPr>
          <p:cNvPr id="233" name="Rectangle 6"/>
          <p:cNvSpPr/>
          <p:nvPr/>
        </p:nvSpPr>
        <p:spPr>
          <a:xfrm>
            <a:off x="640080" y="1901880"/>
            <a:ext cx="3474360" cy="333720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4" name="TextBox 7"/>
          <p:cNvSpPr/>
          <p:nvPr/>
        </p:nvSpPr>
        <p:spPr>
          <a:xfrm>
            <a:off x="841320" y="2066400"/>
            <a:ext cx="30718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01</a:t>
            </a:r>
            <a:endParaRPr lang="pt-PT" sz="2800" b="0" u="none" strike="noStrike">
              <a:solidFill>
                <a:srgbClr val="000000"/>
              </a:solidFill>
              <a:effectLst/>
              <a:uFillTx/>
              <a:latin typeface="Arial"/>
            </a:endParaRPr>
          </a:p>
        </p:txBody>
      </p:sp>
      <p:sp>
        <p:nvSpPr>
          <p:cNvPr id="235" name="TextBox 8"/>
          <p:cNvSpPr/>
          <p:nvPr/>
        </p:nvSpPr>
        <p:spPr>
          <a:xfrm>
            <a:off x="841320" y="2697480"/>
            <a:ext cx="30718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Estudos originais</a:t>
            </a:r>
            <a:endParaRPr lang="pt-PT" sz="2300" b="0" u="none" strike="noStrike">
              <a:solidFill>
                <a:srgbClr val="000000"/>
              </a:solidFill>
              <a:effectLst/>
              <a:uFillTx/>
              <a:latin typeface="Arial"/>
            </a:endParaRPr>
          </a:p>
        </p:txBody>
      </p:sp>
      <p:sp>
        <p:nvSpPr>
          <p:cNvPr id="236" name="TextBox 9"/>
          <p:cNvSpPr/>
          <p:nvPr/>
        </p:nvSpPr>
        <p:spPr>
          <a:xfrm>
            <a:off x="841320" y="3547800"/>
            <a:ext cx="3071880" cy="15541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Medições e estatísticas publicadas pelos investigadores.</a:t>
            </a:r>
            <a:endParaRPr lang="pt-PT" sz="1900" b="0" u="none" strike="noStrike">
              <a:solidFill>
                <a:srgbClr val="000000"/>
              </a:solidFill>
              <a:effectLst/>
              <a:uFillTx/>
              <a:latin typeface="Arial"/>
            </a:endParaRPr>
          </a:p>
        </p:txBody>
      </p:sp>
      <p:sp>
        <p:nvSpPr>
          <p:cNvPr id="237" name="Rectangle 10"/>
          <p:cNvSpPr/>
          <p:nvPr/>
        </p:nvSpPr>
        <p:spPr>
          <a:xfrm>
            <a:off x="4343400" y="1901880"/>
            <a:ext cx="3474360" cy="333720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8" name="TextBox 11"/>
          <p:cNvSpPr/>
          <p:nvPr/>
        </p:nvSpPr>
        <p:spPr>
          <a:xfrm>
            <a:off x="4544640" y="2066400"/>
            <a:ext cx="30718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02</a:t>
            </a:r>
            <a:endParaRPr lang="pt-PT" sz="2800" b="0" u="none" strike="noStrike">
              <a:solidFill>
                <a:srgbClr val="000000"/>
              </a:solidFill>
              <a:effectLst/>
              <a:uFillTx/>
              <a:latin typeface="Arial"/>
            </a:endParaRPr>
          </a:p>
        </p:txBody>
      </p:sp>
      <p:sp>
        <p:nvSpPr>
          <p:cNvPr id="239" name="TextBox 12"/>
          <p:cNvSpPr/>
          <p:nvPr/>
        </p:nvSpPr>
        <p:spPr>
          <a:xfrm>
            <a:off x="4544640" y="2697480"/>
            <a:ext cx="30718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Base consolidada</a:t>
            </a:r>
            <a:endParaRPr lang="pt-PT" sz="2300" b="0" u="none" strike="noStrike">
              <a:solidFill>
                <a:srgbClr val="000000"/>
              </a:solidFill>
              <a:effectLst/>
              <a:uFillTx/>
              <a:latin typeface="Arial"/>
            </a:endParaRPr>
          </a:p>
        </p:txBody>
      </p:sp>
      <p:sp>
        <p:nvSpPr>
          <p:cNvPr id="240" name="TextBox 13"/>
          <p:cNvSpPr/>
          <p:nvPr/>
        </p:nvSpPr>
        <p:spPr>
          <a:xfrm>
            <a:off x="4544640" y="3547800"/>
            <a:ext cx="3071880" cy="15541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Seleção e organização local. Uma linha por indicador, com origem identificada.</a:t>
            </a:r>
            <a:endParaRPr lang="pt-PT" sz="1900" b="0" u="none" strike="noStrike">
              <a:solidFill>
                <a:srgbClr val="000000"/>
              </a:solidFill>
              <a:effectLst/>
              <a:uFillTx/>
              <a:latin typeface="Arial"/>
            </a:endParaRPr>
          </a:p>
        </p:txBody>
      </p:sp>
      <p:sp>
        <p:nvSpPr>
          <p:cNvPr id="241" name="Rectangle 14"/>
          <p:cNvSpPr/>
          <p:nvPr/>
        </p:nvSpPr>
        <p:spPr>
          <a:xfrm>
            <a:off x="8046720" y="1901880"/>
            <a:ext cx="3474360" cy="333720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2" name="TextBox 15"/>
          <p:cNvSpPr/>
          <p:nvPr/>
        </p:nvSpPr>
        <p:spPr>
          <a:xfrm>
            <a:off x="8247960" y="2066400"/>
            <a:ext cx="30718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03</a:t>
            </a:r>
            <a:endParaRPr lang="pt-PT" sz="2800" b="0" u="none" strike="noStrike">
              <a:solidFill>
                <a:srgbClr val="000000"/>
              </a:solidFill>
              <a:effectLst/>
              <a:uFillTx/>
              <a:latin typeface="Arial"/>
            </a:endParaRPr>
          </a:p>
        </p:txBody>
      </p:sp>
      <p:sp>
        <p:nvSpPr>
          <p:cNvPr id="243" name="TextBox 16"/>
          <p:cNvSpPr/>
          <p:nvPr/>
        </p:nvSpPr>
        <p:spPr>
          <a:xfrm>
            <a:off x="8247960" y="2697480"/>
            <a:ext cx="30718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100 perfis</a:t>
            </a:r>
            <a:endParaRPr lang="pt-PT" sz="2300" b="0" u="none" strike="noStrike">
              <a:solidFill>
                <a:srgbClr val="000000"/>
              </a:solidFill>
              <a:effectLst/>
              <a:uFillTx/>
              <a:latin typeface="Arial"/>
            </a:endParaRPr>
          </a:p>
        </p:txBody>
      </p:sp>
      <p:sp>
        <p:nvSpPr>
          <p:cNvPr id="244" name="TextBox 17"/>
          <p:cNvSpPr/>
          <p:nvPr/>
        </p:nvSpPr>
        <p:spPr>
          <a:xfrm>
            <a:off x="8247960" y="3547800"/>
            <a:ext cx="3071880" cy="15541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97 importados em lote</a:t>
            </a:r>
            <a:endParaRPr lang="pt-PT" sz="1900" b="0" u="none" strike="noStrike">
              <a:solidFill>
                <a:srgbClr val="000000"/>
              </a:solidFill>
              <a:effectLst/>
              <a:uFillTx/>
              <a:latin typeface="Arial"/>
            </a:endParaRPr>
          </a:p>
          <a:p>
            <a:pPr defTabSz="457200">
              <a:lnSpc>
                <a:spcPct val="110000"/>
              </a:lnSpc>
              <a:spcAft>
                <a:spcPts val="700"/>
              </a:spcAft>
            </a:pPr>
            <a:r>
              <a:rPr lang="en-US" sz="1900" b="0" u="none" strike="noStrike">
                <a:solidFill>
                  <a:srgbClr val="566B6A"/>
                </a:solidFill>
                <a:effectLst/>
                <a:uFillTx/>
                <a:latin typeface="Arial"/>
              </a:rPr>
              <a:t>2 por CSV</a:t>
            </a:r>
            <a:endParaRPr lang="pt-PT" sz="1900" b="0" u="none" strike="noStrike">
              <a:solidFill>
                <a:srgbClr val="000000"/>
              </a:solidFill>
              <a:effectLst/>
              <a:uFillTx/>
              <a:latin typeface="Arial"/>
            </a:endParaRPr>
          </a:p>
          <a:p>
            <a:pPr defTabSz="457200">
              <a:lnSpc>
                <a:spcPct val="110000"/>
              </a:lnSpc>
              <a:spcAft>
                <a:spcPts val="700"/>
              </a:spcAft>
            </a:pPr>
            <a:r>
              <a:rPr lang="en-US" sz="1900" b="0" u="none" strike="noStrike">
                <a:solidFill>
                  <a:srgbClr val="566B6A"/>
                </a:solidFill>
                <a:effectLst/>
                <a:uFillTx/>
                <a:latin typeface="Arial"/>
              </a:rPr>
              <a:t>1 criado manualmente</a:t>
            </a:r>
            <a:endParaRPr lang="pt-PT" sz="1900" b="0" u="none" strike="noStrike">
              <a:solidFill>
                <a:srgbClr val="000000"/>
              </a:solidFill>
              <a:effectLst/>
              <a:uFillTx/>
              <a:latin typeface="Arial"/>
            </a:endParaRPr>
          </a:p>
        </p:txBody>
      </p:sp>
      <p:sp>
        <p:nvSpPr>
          <p:cNvPr id="245" name="TextBox 18"/>
          <p:cNvSpPr/>
          <p:nvPr/>
        </p:nvSpPr>
        <p:spPr>
          <a:xfrm>
            <a:off x="850320" y="5449680"/>
            <a:ext cx="10423800" cy="383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000" b="1" u="none" strike="noStrike">
                <a:solidFill>
                  <a:srgbClr val="007C78"/>
                </a:solidFill>
                <a:effectLst/>
                <a:uFillTx/>
                <a:latin typeface="Arial"/>
              </a:rPr>
              <a:t>Exemplo: média + desvio-padrão da mesma medida → duas linhas estatísticas.</a:t>
            </a:r>
            <a:endParaRPr lang="pt-PT" sz="2000" b="0" u="none" strike="noStrike">
              <a:solidFill>
                <a:srgbClr val="000000"/>
              </a:solidFill>
              <a:effectLst/>
              <a:uFillTx/>
              <a:latin typeface="Arial"/>
            </a:endParaRPr>
          </a:p>
        </p:txBody>
      </p:sp>
      <p:sp>
        <p:nvSpPr>
          <p:cNvPr id="246" name="TextBox 19"/>
          <p:cNvSpPr/>
          <p:nvPr/>
        </p:nvSpPr>
        <p:spPr>
          <a:xfrm>
            <a:off x="850320" y="5897880"/>
            <a:ext cx="10423800" cy="319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1" u="none" strike="noStrike">
                <a:solidFill>
                  <a:srgbClr val="193536"/>
                </a:solidFill>
                <a:effectLst/>
                <a:uFillTx/>
                <a:latin typeface="Arial"/>
              </a:rPr>
              <a:t>A contagem de linhas não equivale à contagem de perfis ou de pessoas.</a:t>
            </a:r>
            <a:endParaRPr lang="pt-PT" sz="1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247"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8"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DOIS CASOS DE PROJETO</a:t>
            </a:r>
            <a:endParaRPr lang="pt-PT" sz="1100" b="0" u="none" strike="noStrike">
              <a:solidFill>
                <a:srgbClr val="000000"/>
              </a:solidFill>
              <a:effectLst/>
              <a:uFillTx/>
              <a:latin typeface="Arial"/>
            </a:endParaRPr>
          </a:p>
        </p:txBody>
      </p:sp>
      <p:sp>
        <p:nvSpPr>
          <p:cNvPr id="249"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Cada modelo exige regras próprias</a:t>
            </a:r>
            <a:endParaRPr lang="pt-PT" sz="3200" b="0" u="none" strike="noStrike">
              <a:solidFill>
                <a:srgbClr val="000000"/>
              </a:solidFill>
              <a:effectLst/>
              <a:uFillTx/>
              <a:latin typeface="Arial"/>
            </a:endParaRPr>
          </a:p>
        </p:txBody>
      </p:sp>
      <p:sp>
        <p:nvSpPr>
          <p:cNvPr id="250"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Fonte: 4.4, 8.3, Tabelas 28-29 e Anexo C · Esquema explicativo, não comparação visual histórica.</a:t>
            </a:r>
            <a:endParaRPr lang="pt-PT" sz="1000" b="0" u="none" strike="noStrike">
              <a:solidFill>
                <a:srgbClr val="000000"/>
              </a:solidFill>
              <a:effectLst/>
              <a:uFillTx/>
              <a:latin typeface="Arial"/>
            </a:endParaRPr>
          </a:p>
        </p:txBody>
      </p:sp>
      <p:sp>
        <p:nvSpPr>
          <p:cNvPr id="251"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10</a:t>
            </a:r>
            <a:endParaRPr lang="pt-PT" sz="1100" b="0" u="none" strike="noStrike">
              <a:solidFill>
                <a:srgbClr val="000000"/>
              </a:solidFill>
              <a:effectLst/>
              <a:uFillTx/>
              <a:latin typeface="Arial"/>
            </a:endParaRPr>
          </a:p>
        </p:txBody>
      </p:sp>
      <p:sp>
        <p:nvSpPr>
          <p:cNvPr id="252" name="Rectangle 6"/>
          <p:cNvSpPr/>
          <p:nvPr/>
        </p:nvSpPr>
        <p:spPr>
          <a:xfrm>
            <a:off x="640080" y="1856160"/>
            <a:ext cx="5303160" cy="32000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3" name="TextBox 7"/>
          <p:cNvSpPr/>
          <p:nvPr/>
        </p:nvSpPr>
        <p:spPr>
          <a:xfrm>
            <a:off x="841320" y="2020680"/>
            <a:ext cx="49006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A</a:t>
            </a:r>
            <a:endParaRPr lang="pt-PT" sz="2800" b="0" u="none" strike="noStrike">
              <a:solidFill>
                <a:srgbClr val="000000"/>
              </a:solidFill>
              <a:effectLst/>
              <a:uFillTx/>
              <a:latin typeface="Arial"/>
            </a:endParaRPr>
          </a:p>
        </p:txBody>
      </p:sp>
      <p:sp>
        <p:nvSpPr>
          <p:cNvPr id="254" name="TextBox 8"/>
          <p:cNvSpPr/>
          <p:nvPr/>
        </p:nvSpPr>
        <p:spPr>
          <a:xfrm>
            <a:off x="841320" y="2651760"/>
            <a:ext cx="49006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Paraglider Hand</a:t>
            </a:r>
            <a:endParaRPr lang="pt-PT" sz="2300" b="0" u="none" strike="noStrike">
              <a:solidFill>
                <a:srgbClr val="000000"/>
              </a:solidFill>
              <a:effectLst/>
              <a:uFillTx/>
              <a:latin typeface="Arial"/>
            </a:endParaRPr>
          </a:p>
        </p:txBody>
      </p:sp>
      <p:sp>
        <p:nvSpPr>
          <p:cNvPr id="255" name="TextBox 9"/>
          <p:cNvSpPr/>
          <p:nvPr/>
        </p:nvSpPr>
        <p:spPr>
          <a:xfrm>
            <a:off x="841320" y="3502080"/>
            <a:ext cx="4900680" cy="1416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Problema: a palma mantinha a escala da biblioteca.</a:t>
            </a:r>
            <a:endParaRPr lang="pt-PT" sz="1900" b="0" u="none" strike="noStrike">
              <a:solidFill>
                <a:srgbClr val="000000"/>
              </a:solidFill>
              <a:effectLst/>
              <a:uFillTx/>
              <a:latin typeface="Arial"/>
            </a:endParaRPr>
          </a:p>
          <a:p>
            <a:pPr defTabSz="457200">
              <a:lnSpc>
                <a:spcPct val="110000"/>
              </a:lnSpc>
              <a:spcAft>
                <a:spcPts val="700"/>
              </a:spcAft>
            </a:pPr>
            <a:r>
              <a:rPr lang="en-US" sz="1900" b="0" u="none" strike="noStrike">
                <a:solidFill>
                  <a:srgbClr val="566B6A"/>
                </a:solidFill>
                <a:effectLst/>
                <a:uFillTx/>
                <a:latin typeface="Arial"/>
              </a:rPr>
              <a:t>Decisão: corrigir a aplicação da escala.</a:t>
            </a:r>
            <a:endParaRPr lang="pt-PT" sz="1900" b="0" u="none" strike="noStrike">
              <a:solidFill>
                <a:srgbClr val="000000"/>
              </a:solidFill>
              <a:effectLst/>
              <a:uFillTx/>
              <a:latin typeface="Arial"/>
            </a:endParaRPr>
          </a:p>
        </p:txBody>
      </p:sp>
      <p:sp>
        <p:nvSpPr>
          <p:cNvPr id="256" name="Rectangle 10"/>
          <p:cNvSpPr/>
          <p:nvPr/>
        </p:nvSpPr>
        <p:spPr>
          <a:xfrm>
            <a:off x="6217920" y="1856160"/>
            <a:ext cx="5303160" cy="32000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7" name="TextBox 11"/>
          <p:cNvSpPr/>
          <p:nvPr/>
        </p:nvSpPr>
        <p:spPr>
          <a:xfrm>
            <a:off x="6419160" y="2020680"/>
            <a:ext cx="49006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B</a:t>
            </a:r>
            <a:endParaRPr lang="pt-PT" sz="2800" b="0" u="none" strike="noStrike">
              <a:solidFill>
                <a:srgbClr val="000000"/>
              </a:solidFill>
              <a:effectLst/>
              <a:uFillTx/>
              <a:latin typeface="Arial"/>
            </a:endParaRPr>
          </a:p>
        </p:txBody>
      </p:sp>
      <p:sp>
        <p:nvSpPr>
          <p:cNvPr id="258" name="TextBox 12"/>
          <p:cNvSpPr/>
          <p:nvPr/>
        </p:nvSpPr>
        <p:spPr>
          <a:xfrm>
            <a:off x="6419160" y="2651760"/>
            <a:ext cx="49006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UnLimbited Phoenix</a:t>
            </a:r>
            <a:endParaRPr lang="pt-PT" sz="2300" b="0" u="none" strike="noStrike">
              <a:solidFill>
                <a:srgbClr val="000000"/>
              </a:solidFill>
              <a:effectLst/>
              <a:uFillTx/>
              <a:latin typeface="Arial"/>
            </a:endParaRPr>
          </a:p>
        </p:txBody>
      </p:sp>
      <p:sp>
        <p:nvSpPr>
          <p:cNvPr id="259" name="TextBox 13"/>
          <p:cNvSpPr/>
          <p:nvPr/>
        </p:nvSpPr>
        <p:spPr>
          <a:xfrm>
            <a:off x="6419160" y="3502080"/>
            <a:ext cx="4900680" cy="1416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Limite: largura mínima de cerca de 82 mm.</a:t>
            </a:r>
            <a:endParaRPr lang="pt-PT" sz="1900" b="0" u="none" strike="noStrike">
              <a:solidFill>
                <a:srgbClr val="000000"/>
              </a:solidFill>
              <a:effectLst/>
              <a:uFillTx/>
              <a:latin typeface="Arial"/>
            </a:endParaRPr>
          </a:p>
          <a:p>
            <a:pPr defTabSz="457200">
              <a:lnSpc>
                <a:spcPct val="110000"/>
              </a:lnSpc>
              <a:spcAft>
                <a:spcPts val="700"/>
              </a:spcAft>
            </a:pPr>
            <a:r>
              <a:rPr lang="en-US" sz="1900" b="0" u="none" strike="noStrike">
                <a:solidFill>
                  <a:srgbClr val="566B6A"/>
                </a:solidFill>
                <a:effectLst/>
                <a:uFillTx/>
                <a:latin typeface="Arial"/>
              </a:rPr>
              <a:t>Consequência: nem todos os pedidos são satisfeitos.</a:t>
            </a:r>
            <a:endParaRPr lang="pt-PT" sz="1900" b="0" u="none" strike="noStrike">
              <a:solidFill>
                <a:srgbClr val="000000"/>
              </a:solidFill>
              <a:effectLst/>
              <a:uFillTx/>
              <a:latin typeface="Arial"/>
            </a:endParaRPr>
          </a:p>
        </p:txBody>
      </p:sp>
      <p:sp>
        <p:nvSpPr>
          <p:cNvPr id="260" name="TextBox 14"/>
          <p:cNvSpPr/>
          <p:nvPr/>
        </p:nvSpPr>
        <p:spPr>
          <a:xfrm>
            <a:off x="868680" y="5459040"/>
            <a:ext cx="10423800" cy="5209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400" b="1" u="none" strike="noStrike">
                <a:solidFill>
                  <a:srgbClr val="007C78"/>
                </a:solidFill>
                <a:effectLst/>
                <a:uFillTx/>
                <a:latin typeface="Arial"/>
              </a:rPr>
              <a:t>Configurar também exige reconhecer quando um modelo não responde ao pedido.</a:t>
            </a:r>
            <a:endParaRPr lang="pt-PT"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261"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2"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SUGESTÃO E CONTROLO</a:t>
            </a:r>
            <a:endParaRPr lang="pt-PT" sz="1100" b="0" u="none" strike="noStrike">
              <a:solidFill>
                <a:srgbClr val="000000"/>
              </a:solidFill>
              <a:effectLst/>
              <a:uFillTx/>
              <a:latin typeface="Arial"/>
            </a:endParaRPr>
          </a:p>
        </p:txBody>
      </p:sp>
      <p:sp>
        <p:nvSpPr>
          <p:cNvPr id="263"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A IA propõe um ponto de partida</a:t>
            </a:r>
            <a:endParaRPr lang="pt-PT" sz="3200" b="0" u="none" strike="noStrike">
              <a:solidFill>
                <a:srgbClr val="000000"/>
              </a:solidFill>
              <a:effectLst/>
              <a:uFillTx/>
              <a:latin typeface="Arial"/>
            </a:endParaRPr>
          </a:p>
        </p:txBody>
      </p:sp>
      <p:sp>
        <p:nvSpPr>
          <p:cNvPr id="264"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Fonte: capítulo 6 e 8.2 · Cinco execuções no primeiro conjunto de ensaios reais.</a:t>
            </a:r>
            <a:endParaRPr lang="pt-PT" sz="1000" b="0" u="none" strike="noStrike">
              <a:solidFill>
                <a:srgbClr val="000000"/>
              </a:solidFill>
              <a:effectLst/>
              <a:uFillTx/>
              <a:latin typeface="Arial"/>
            </a:endParaRPr>
          </a:p>
        </p:txBody>
      </p:sp>
      <p:sp>
        <p:nvSpPr>
          <p:cNvPr id="265"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11</a:t>
            </a:r>
            <a:endParaRPr lang="pt-PT" sz="1100" b="0" u="none" strike="noStrike">
              <a:solidFill>
                <a:srgbClr val="000000"/>
              </a:solidFill>
              <a:effectLst/>
              <a:uFillTx/>
              <a:latin typeface="Arial"/>
            </a:endParaRPr>
          </a:p>
        </p:txBody>
      </p:sp>
      <p:sp>
        <p:nvSpPr>
          <p:cNvPr id="266" name="Rectangle 6"/>
          <p:cNvSpPr/>
          <p:nvPr/>
        </p:nvSpPr>
        <p:spPr>
          <a:xfrm>
            <a:off x="640080" y="1956960"/>
            <a:ext cx="2541600" cy="32457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7" name="TextBox 7"/>
          <p:cNvSpPr/>
          <p:nvPr/>
        </p:nvSpPr>
        <p:spPr>
          <a:xfrm>
            <a:off x="841320" y="2121480"/>
            <a:ext cx="21394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01</a:t>
            </a:r>
            <a:endParaRPr lang="pt-PT" sz="2800" b="0" u="none" strike="noStrike">
              <a:solidFill>
                <a:srgbClr val="000000"/>
              </a:solidFill>
              <a:effectLst/>
              <a:uFillTx/>
              <a:latin typeface="Arial"/>
            </a:endParaRPr>
          </a:p>
        </p:txBody>
      </p:sp>
      <p:sp>
        <p:nvSpPr>
          <p:cNvPr id="268" name="TextBox 8"/>
          <p:cNvSpPr/>
          <p:nvPr/>
        </p:nvSpPr>
        <p:spPr>
          <a:xfrm>
            <a:off x="841320" y="2752200"/>
            <a:ext cx="21394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Pedido</a:t>
            </a:r>
            <a:endParaRPr lang="pt-PT" sz="2300" b="0" u="none" strike="noStrike">
              <a:solidFill>
                <a:srgbClr val="000000"/>
              </a:solidFill>
              <a:effectLst/>
              <a:uFillTx/>
              <a:latin typeface="Arial"/>
            </a:endParaRPr>
          </a:p>
        </p:txBody>
      </p:sp>
      <p:sp>
        <p:nvSpPr>
          <p:cNvPr id="269" name="TextBox 9"/>
          <p:cNvSpPr/>
          <p:nvPr/>
        </p:nvSpPr>
        <p:spPr>
          <a:xfrm>
            <a:off x="841320" y="3602880"/>
            <a:ext cx="2139480" cy="1462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Descrição para a sugestão de IA.</a:t>
            </a:r>
            <a:endParaRPr lang="pt-PT" sz="1900" b="0" u="none" strike="noStrike">
              <a:solidFill>
                <a:srgbClr val="000000"/>
              </a:solidFill>
              <a:effectLst/>
              <a:uFillTx/>
              <a:latin typeface="Arial"/>
            </a:endParaRPr>
          </a:p>
        </p:txBody>
      </p:sp>
      <p:sp>
        <p:nvSpPr>
          <p:cNvPr id="270" name="Rectangle 10"/>
          <p:cNvSpPr/>
          <p:nvPr/>
        </p:nvSpPr>
        <p:spPr>
          <a:xfrm>
            <a:off x="3429000" y="1956960"/>
            <a:ext cx="2541600" cy="32457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1" name="TextBox 11"/>
          <p:cNvSpPr/>
          <p:nvPr/>
        </p:nvSpPr>
        <p:spPr>
          <a:xfrm>
            <a:off x="3630240" y="2121480"/>
            <a:ext cx="21394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02</a:t>
            </a:r>
            <a:endParaRPr lang="pt-PT" sz="2800" b="0" u="none" strike="noStrike">
              <a:solidFill>
                <a:srgbClr val="000000"/>
              </a:solidFill>
              <a:effectLst/>
              <a:uFillTx/>
              <a:latin typeface="Arial"/>
            </a:endParaRPr>
          </a:p>
        </p:txBody>
      </p:sp>
      <p:sp>
        <p:nvSpPr>
          <p:cNvPr id="272" name="TextBox 12"/>
          <p:cNvSpPr/>
          <p:nvPr/>
        </p:nvSpPr>
        <p:spPr>
          <a:xfrm>
            <a:off x="3630240" y="2752200"/>
            <a:ext cx="21394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Proposta</a:t>
            </a:r>
            <a:endParaRPr lang="pt-PT" sz="2300" b="0" u="none" strike="noStrike">
              <a:solidFill>
                <a:srgbClr val="000000"/>
              </a:solidFill>
              <a:effectLst/>
              <a:uFillTx/>
              <a:latin typeface="Arial"/>
            </a:endParaRPr>
          </a:p>
        </p:txBody>
      </p:sp>
      <p:sp>
        <p:nvSpPr>
          <p:cNvPr id="273" name="TextBox 13"/>
          <p:cNvSpPr/>
          <p:nvPr/>
        </p:nvSpPr>
        <p:spPr>
          <a:xfrm>
            <a:off x="3630240" y="3602880"/>
            <a:ext cx="2139480" cy="1462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Valores iniciais para parâmetros conhecidos.</a:t>
            </a:r>
            <a:endParaRPr lang="pt-PT" sz="1900" b="0" u="none" strike="noStrike">
              <a:solidFill>
                <a:srgbClr val="000000"/>
              </a:solidFill>
              <a:effectLst/>
              <a:uFillTx/>
              <a:latin typeface="Arial"/>
            </a:endParaRPr>
          </a:p>
        </p:txBody>
      </p:sp>
      <p:sp>
        <p:nvSpPr>
          <p:cNvPr id="274" name="Rectangle 14"/>
          <p:cNvSpPr/>
          <p:nvPr/>
        </p:nvSpPr>
        <p:spPr>
          <a:xfrm>
            <a:off x="6217920" y="1956960"/>
            <a:ext cx="2541600" cy="32457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5" name="TextBox 15"/>
          <p:cNvSpPr/>
          <p:nvPr/>
        </p:nvSpPr>
        <p:spPr>
          <a:xfrm>
            <a:off x="6419160" y="2121480"/>
            <a:ext cx="21394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03</a:t>
            </a:r>
            <a:endParaRPr lang="pt-PT" sz="2800" b="0" u="none" strike="noStrike">
              <a:solidFill>
                <a:srgbClr val="000000"/>
              </a:solidFill>
              <a:effectLst/>
              <a:uFillTx/>
              <a:latin typeface="Arial"/>
            </a:endParaRPr>
          </a:p>
        </p:txBody>
      </p:sp>
      <p:sp>
        <p:nvSpPr>
          <p:cNvPr id="276" name="TextBox 16"/>
          <p:cNvSpPr/>
          <p:nvPr/>
        </p:nvSpPr>
        <p:spPr>
          <a:xfrm>
            <a:off x="6419160" y="2752200"/>
            <a:ext cx="21394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Revisão</a:t>
            </a:r>
            <a:endParaRPr lang="pt-PT" sz="2300" b="0" u="none" strike="noStrike">
              <a:solidFill>
                <a:srgbClr val="000000"/>
              </a:solidFill>
              <a:effectLst/>
              <a:uFillTx/>
              <a:latin typeface="Arial"/>
            </a:endParaRPr>
          </a:p>
        </p:txBody>
      </p:sp>
      <p:sp>
        <p:nvSpPr>
          <p:cNvPr id="277" name="TextBox 17"/>
          <p:cNvSpPr/>
          <p:nvPr/>
        </p:nvSpPr>
        <p:spPr>
          <a:xfrm>
            <a:off x="6419160" y="3602880"/>
            <a:ext cx="2139480" cy="1462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A pessoa pode corrigir ou rejeitar os valores.</a:t>
            </a:r>
            <a:endParaRPr lang="pt-PT" sz="1900" b="0" u="none" strike="noStrike">
              <a:solidFill>
                <a:srgbClr val="000000"/>
              </a:solidFill>
              <a:effectLst/>
              <a:uFillTx/>
              <a:latin typeface="Arial"/>
            </a:endParaRPr>
          </a:p>
        </p:txBody>
      </p:sp>
      <p:sp>
        <p:nvSpPr>
          <p:cNvPr id="278" name="Rectangle 18"/>
          <p:cNvSpPr/>
          <p:nvPr/>
        </p:nvSpPr>
        <p:spPr>
          <a:xfrm>
            <a:off x="9006840" y="1956960"/>
            <a:ext cx="2541600" cy="32457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9" name="TextBox 19"/>
          <p:cNvSpPr/>
          <p:nvPr/>
        </p:nvSpPr>
        <p:spPr>
          <a:xfrm>
            <a:off x="9208080" y="2121480"/>
            <a:ext cx="21394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04</a:t>
            </a:r>
            <a:endParaRPr lang="pt-PT" sz="2800" b="0" u="none" strike="noStrike">
              <a:solidFill>
                <a:srgbClr val="000000"/>
              </a:solidFill>
              <a:effectLst/>
              <a:uFillTx/>
              <a:latin typeface="Arial"/>
            </a:endParaRPr>
          </a:p>
        </p:txBody>
      </p:sp>
      <p:sp>
        <p:nvSpPr>
          <p:cNvPr id="280" name="TextBox 20"/>
          <p:cNvSpPr/>
          <p:nvPr/>
        </p:nvSpPr>
        <p:spPr>
          <a:xfrm>
            <a:off x="9208080" y="2752200"/>
            <a:ext cx="21394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Geometria</a:t>
            </a:r>
            <a:endParaRPr lang="pt-PT" sz="2300" b="0" u="none" strike="noStrike">
              <a:solidFill>
                <a:srgbClr val="000000"/>
              </a:solidFill>
              <a:effectLst/>
              <a:uFillTx/>
              <a:latin typeface="Arial"/>
            </a:endParaRPr>
          </a:p>
        </p:txBody>
      </p:sp>
      <p:sp>
        <p:nvSpPr>
          <p:cNvPr id="281" name="TextBox 21"/>
          <p:cNvSpPr/>
          <p:nvPr/>
        </p:nvSpPr>
        <p:spPr>
          <a:xfrm>
            <a:off x="9208080" y="3602880"/>
            <a:ext cx="2139480" cy="1462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Regras do modelo aplicadas aos valores aceites.</a:t>
            </a:r>
            <a:endParaRPr lang="pt-PT" sz="1900" b="0" u="none" strike="noStrike">
              <a:solidFill>
                <a:srgbClr val="000000"/>
              </a:solidFill>
              <a:effectLst/>
              <a:uFillTx/>
              <a:latin typeface="Arial"/>
            </a:endParaRPr>
          </a:p>
        </p:txBody>
      </p:sp>
      <p:sp>
        <p:nvSpPr>
          <p:cNvPr id="282" name="TextBox 22"/>
          <p:cNvSpPr/>
          <p:nvPr/>
        </p:nvSpPr>
        <p:spPr>
          <a:xfrm>
            <a:off x="868680" y="5486400"/>
            <a:ext cx="10332360" cy="5666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100" b="1" u="none" strike="noStrike">
                <a:solidFill>
                  <a:srgbClr val="007C78"/>
                </a:solidFill>
                <a:effectLst/>
                <a:uFillTx/>
                <a:latin typeface="Arial"/>
              </a:rPr>
              <a:t>A lateralidade segue uma regra explícita. A adequação anatómica requer avaliação.</a:t>
            </a:r>
            <a:endParaRPr lang="pt-PT" sz="2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283"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84"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PERCURSO ILUSTRADO NA PLATAFORMA</a:t>
            </a:r>
            <a:endParaRPr lang="pt-PT" sz="1100" b="0" u="none" strike="noStrike">
              <a:solidFill>
                <a:srgbClr val="000000"/>
              </a:solidFill>
              <a:effectLst/>
              <a:uFillTx/>
              <a:latin typeface="Arial"/>
            </a:endParaRPr>
          </a:p>
        </p:txBody>
      </p:sp>
      <p:sp>
        <p:nvSpPr>
          <p:cNvPr id="285"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Configuração e pré-visualização no HandFab</a:t>
            </a:r>
            <a:endParaRPr lang="pt-PT" sz="3200" b="0" u="none" strike="noStrike">
              <a:solidFill>
                <a:srgbClr val="000000"/>
              </a:solidFill>
              <a:effectLst/>
              <a:uFillTx/>
              <a:latin typeface="Arial"/>
            </a:endParaRPr>
          </a:p>
        </p:txBody>
      </p:sp>
      <p:sp>
        <p:nvSpPr>
          <p:cNvPr id="286"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Capturas do manuscrito, Figura 22 · Sequência ilustrativa, sem nova execução de IA.</a:t>
            </a:r>
            <a:endParaRPr lang="pt-PT" sz="1000" b="0" u="none" strike="noStrike">
              <a:solidFill>
                <a:srgbClr val="000000"/>
              </a:solidFill>
              <a:effectLst/>
              <a:uFillTx/>
              <a:latin typeface="Arial"/>
            </a:endParaRPr>
          </a:p>
        </p:txBody>
      </p:sp>
      <p:sp>
        <p:nvSpPr>
          <p:cNvPr id="287"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12</a:t>
            </a:r>
            <a:endParaRPr lang="pt-PT" sz="1100" b="0" u="none" strike="noStrike">
              <a:solidFill>
                <a:srgbClr val="000000"/>
              </a:solidFill>
              <a:effectLst/>
              <a:uFillTx/>
              <a:latin typeface="Arial"/>
            </a:endParaRPr>
          </a:p>
        </p:txBody>
      </p:sp>
      <p:sp>
        <p:nvSpPr>
          <p:cNvPr id="288" name="Rectangle 6"/>
          <p:cNvSpPr/>
          <p:nvPr/>
        </p:nvSpPr>
        <p:spPr>
          <a:xfrm>
            <a:off x="640080" y="1856160"/>
            <a:ext cx="5284800" cy="345600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289" name="Picture 7" descr="figura_22_1.png"/>
          <p:cNvPicPr/>
          <p:nvPr/>
        </p:nvPicPr>
        <p:blipFill>
          <a:blip r:embed="rId1"/>
          <a:stretch/>
        </p:blipFill>
        <p:spPr>
          <a:xfrm>
            <a:off x="640080" y="2108160"/>
            <a:ext cx="5284800" cy="2952360"/>
          </a:xfrm>
          <a:prstGeom prst="rect">
            <a:avLst/>
          </a:prstGeom>
          <a:noFill/>
          <a:ln w="0">
            <a:noFill/>
          </a:ln>
        </p:spPr>
      </p:pic>
      <p:sp>
        <p:nvSpPr>
          <p:cNvPr id="290" name="Rectangle 8"/>
          <p:cNvSpPr/>
          <p:nvPr/>
        </p:nvSpPr>
        <p:spPr>
          <a:xfrm>
            <a:off x="6236280" y="1856160"/>
            <a:ext cx="5284800" cy="345600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291" name="Picture 9" descr="figura_22_3.png"/>
          <p:cNvPicPr/>
          <p:nvPr/>
        </p:nvPicPr>
        <p:blipFill>
          <a:blip r:embed="rId2"/>
          <a:stretch/>
        </p:blipFill>
        <p:spPr>
          <a:xfrm>
            <a:off x="6236280" y="2108160"/>
            <a:ext cx="5284800" cy="2952360"/>
          </a:xfrm>
          <a:prstGeom prst="rect">
            <a:avLst/>
          </a:prstGeom>
          <a:noFill/>
          <a:ln w="0">
            <a:noFill/>
          </a:ln>
        </p:spPr>
      </p:pic>
      <p:sp>
        <p:nvSpPr>
          <p:cNvPr id="292" name="TextBox 10"/>
          <p:cNvSpPr/>
          <p:nvPr/>
        </p:nvSpPr>
        <p:spPr>
          <a:xfrm>
            <a:off x="868680" y="5513760"/>
            <a:ext cx="4845960" cy="4021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Selecionar o modelo</a:t>
            </a:r>
            <a:endParaRPr lang="pt-PT" sz="2300" b="0" u="none" strike="noStrike">
              <a:solidFill>
                <a:srgbClr val="000000"/>
              </a:solidFill>
              <a:effectLst/>
              <a:uFillTx/>
              <a:latin typeface="Arial"/>
            </a:endParaRPr>
          </a:p>
        </p:txBody>
      </p:sp>
      <p:sp>
        <p:nvSpPr>
          <p:cNvPr id="293" name="TextBox 11"/>
          <p:cNvSpPr/>
          <p:nvPr/>
        </p:nvSpPr>
        <p:spPr>
          <a:xfrm>
            <a:off x="6446520" y="5513760"/>
            <a:ext cx="4845960" cy="4021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Rever valores e gerar</a:t>
            </a:r>
            <a:endParaRPr lang="pt-PT" sz="2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294"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95"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MÉTODO E EVIDÊNCIA</a:t>
            </a:r>
            <a:endParaRPr lang="pt-PT" sz="1100" b="0" u="none" strike="noStrike">
              <a:solidFill>
                <a:srgbClr val="000000"/>
              </a:solidFill>
              <a:effectLst/>
              <a:uFillTx/>
              <a:latin typeface="Arial"/>
            </a:endParaRPr>
          </a:p>
        </p:txBody>
      </p:sp>
      <p:sp>
        <p:nvSpPr>
          <p:cNvPr id="296"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A avaliação acompanhou etapas diferentes</a:t>
            </a:r>
            <a:endParaRPr lang="pt-PT" sz="3200" b="0" u="none" strike="noStrike">
              <a:solidFill>
                <a:srgbClr val="000000"/>
              </a:solidFill>
              <a:effectLst/>
              <a:uFillTx/>
              <a:latin typeface="Arial"/>
            </a:endParaRPr>
          </a:p>
        </p:txBody>
      </p:sp>
      <p:sp>
        <p:nvSpPr>
          <p:cNvPr id="297"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Fonte: capítulo 8 e Anexos B a D · Os conjuntos respondem a perguntas distintas.</a:t>
            </a:r>
            <a:endParaRPr lang="pt-PT" sz="1000" b="0" u="none" strike="noStrike">
              <a:solidFill>
                <a:srgbClr val="000000"/>
              </a:solidFill>
              <a:effectLst/>
              <a:uFillTx/>
              <a:latin typeface="Arial"/>
            </a:endParaRPr>
          </a:p>
        </p:txBody>
      </p:sp>
      <p:sp>
        <p:nvSpPr>
          <p:cNvPr id="298"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13</a:t>
            </a:r>
            <a:endParaRPr lang="pt-PT" sz="1100" b="0" u="none" strike="noStrike">
              <a:solidFill>
                <a:srgbClr val="000000"/>
              </a:solidFill>
              <a:effectLst/>
              <a:uFillTx/>
              <a:latin typeface="Arial"/>
            </a:endParaRPr>
          </a:p>
        </p:txBody>
      </p:sp>
      <p:sp>
        <p:nvSpPr>
          <p:cNvPr id="299" name="Rectangle 6"/>
          <p:cNvSpPr/>
          <p:nvPr/>
        </p:nvSpPr>
        <p:spPr>
          <a:xfrm>
            <a:off x="640080" y="1920240"/>
            <a:ext cx="10881000" cy="7221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00" name="TextBox 7"/>
          <p:cNvSpPr/>
          <p:nvPr/>
        </p:nvSpPr>
        <p:spPr>
          <a:xfrm>
            <a:off x="868680" y="2011680"/>
            <a:ext cx="2422800" cy="5299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000" b="1" u="none" strike="noStrike">
                <a:solidFill>
                  <a:srgbClr val="007C78"/>
                </a:solidFill>
                <a:effectLst/>
                <a:uFillTx/>
                <a:latin typeface="Arial"/>
              </a:rPr>
              <a:t>Plataforma</a:t>
            </a:r>
            <a:endParaRPr lang="pt-PT" sz="2000" b="0" u="none" strike="noStrike">
              <a:solidFill>
                <a:srgbClr val="000000"/>
              </a:solidFill>
              <a:effectLst/>
              <a:uFillTx/>
              <a:latin typeface="Arial"/>
            </a:endParaRPr>
          </a:p>
        </p:txBody>
      </p:sp>
      <p:sp>
        <p:nvSpPr>
          <p:cNvPr id="301" name="TextBox 8"/>
          <p:cNvSpPr/>
          <p:nvPr/>
        </p:nvSpPr>
        <p:spPr>
          <a:xfrm>
            <a:off x="3474720" y="2011680"/>
            <a:ext cx="3794400" cy="5482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193536"/>
                </a:solidFill>
                <a:effectLst/>
                <a:uFillTx/>
                <a:latin typeface="Arial"/>
              </a:rPr>
              <a:t>Funcionamento e falhas</a:t>
            </a:r>
            <a:endParaRPr lang="pt-PT" sz="1800" b="0" u="none" strike="noStrike">
              <a:solidFill>
                <a:srgbClr val="000000"/>
              </a:solidFill>
              <a:effectLst/>
              <a:uFillTx/>
              <a:latin typeface="Arial"/>
            </a:endParaRPr>
          </a:p>
        </p:txBody>
      </p:sp>
      <p:sp>
        <p:nvSpPr>
          <p:cNvPr id="302" name="TextBox 9"/>
          <p:cNvSpPr/>
          <p:nvPr/>
        </p:nvSpPr>
        <p:spPr>
          <a:xfrm>
            <a:off x="7498080" y="2011680"/>
            <a:ext cx="3748680" cy="5482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566B6A"/>
                </a:solidFill>
                <a:effectLst/>
                <a:uFillTx/>
                <a:latin typeface="Arial"/>
              </a:rPr>
              <a:t>Registos de ensaio</a:t>
            </a:r>
            <a:endParaRPr lang="pt-PT" sz="1800" b="0" u="none" strike="noStrike">
              <a:solidFill>
                <a:srgbClr val="000000"/>
              </a:solidFill>
              <a:effectLst/>
              <a:uFillTx/>
              <a:latin typeface="Arial"/>
            </a:endParaRPr>
          </a:p>
        </p:txBody>
      </p:sp>
      <p:sp>
        <p:nvSpPr>
          <p:cNvPr id="303" name="Rectangle 10"/>
          <p:cNvSpPr/>
          <p:nvPr/>
        </p:nvSpPr>
        <p:spPr>
          <a:xfrm>
            <a:off x="640080" y="2752200"/>
            <a:ext cx="10881000" cy="7221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04" name="TextBox 11"/>
          <p:cNvSpPr/>
          <p:nvPr/>
        </p:nvSpPr>
        <p:spPr>
          <a:xfrm>
            <a:off x="868680" y="2843640"/>
            <a:ext cx="2422800" cy="5299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000" b="1" u="none" strike="noStrike">
                <a:solidFill>
                  <a:srgbClr val="007C78"/>
                </a:solidFill>
                <a:effectLst/>
                <a:uFillTx/>
                <a:latin typeface="Arial"/>
              </a:rPr>
              <a:t>Sugestões de IA</a:t>
            </a:r>
            <a:endParaRPr lang="pt-PT" sz="2000" b="0" u="none" strike="noStrike">
              <a:solidFill>
                <a:srgbClr val="000000"/>
              </a:solidFill>
              <a:effectLst/>
              <a:uFillTx/>
              <a:latin typeface="Arial"/>
            </a:endParaRPr>
          </a:p>
        </p:txBody>
      </p:sp>
      <p:sp>
        <p:nvSpPr>
          <p:cNvPr id="305" name="TextBox 12"/>
          <p:cNvSpPr/>
          <p:nvPr/>
        </p:nvSpPr>
        <p:spPr>
          <a:xfrm>
            <a:off x="3474720" y="2843640"/>
            <a:ext cx="3794400" cy="5482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193536"/>
                </a:solidFill>
                <a:effectLst/>
                <a:uFillTx/>
                <a:latin typeface="Arial"/>
              </a:rPr>
              <a:t>Formato e valores propostos</a:t>
            </a:r>
            <a:endParaRPr lang="pt-PT" sz="1800" b="0" u="none" strike="noStrike">
              <a:solidFill>
                <a:srgbClr val="000000"/>
              </a:solidFill>
              <a:effectLst/>
              <a:uFillTx/>
              <a:latin typeface="Arial"/>
            </a:endParaRPr>
          </a:p>
        </p:txBody>
      </p:sp>
      <p:sp>
        <p:nvSpPr>
          <p:cNvPr id="306" name="TextBox 13"/>
          <p:cNvSpPr/>
          <p:nvPr/>
        </p:nvSpPr>
        <p:spPr>
          <a:xfrm>
            <a:off x="7498080" y="2843640"/>
            <a:ext cx="3748680" cy="5482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566B6A"/>
                </a:solidFill>
                <a:effectLst/>
                <a:uFillTx/>
                <a:latin typeface="Arial"/>
              </a:rPr>
              <a:t>Respostas documentadas</a:t>
            </a:r>
            <a:endParaRPr lang="pt-PT" sz="1800" b="0" u="none" strike="noStrike">
              <a:solidFill>
                <a:srgbClr val="000000"/>
              </a:solidFill>
              <a:effectLst/>
              <a:uFillTx/>
              <a:latin typeface="Arial"/>
            </a:endParaRPr>
          </a:p>
        </p:txBody>
      </p:sp>
      <p:sp>
        <p:nvSpPr>
          <p:cNvPr id="307" name="Rectangle 14"/>
          <p:cNvSpPr/>
          <p:nvPr/>
        </p:nvSpPr>
        <p:spPr>
          <a:xfrm>
            <a:off x="640080" y="3584520"/>
            <a:ext cx="10881000" cy="7221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08" name="TextBox 15"/>
          <p:cNvSpPr/>
          <p:nvPr/>
        </p:nvSpPr>
        <p:spPr>
          <a:xfrm>
            <a:off x="868680" y="3675960"/>
            <a:ext cx="2422800" cy="5299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000" b="1" u="none" strike="noStrike">
                <a:solidFill>
                  <a:srgbClr val="007C78"/>
                </a:solidFill>
                <a:effectLst/>
                <a:uFillTx/>
                <a:latin typeface="Arial"/>
              </a:rPr>
              <a:t>Geometria</a:t>
            </a:r>
            <a:endParaRPr lang="pt-PT" sz="2000" b="0" u="none" strike="noStrike">
              <a:solidFill>
                <a:srgbClr val="000000"/>
              </a:solidFill>
              <a:effectLst/>
              <a:uFillTx/>
              <a:latin typeface="Arial"/>
            </a:endParaRPr>
          </a:p>
        </p:txBody>
      </p:sp>
      <p:sp>
        <p:nvSpPr>
          <p:cNvPr id="309" name="TextBox 16"/>
          <p:cNvSpPr/>
          <p:nvPr/>
        </p:nvSpPr>
        <p:spPr>
          <a:xfrm>
            <a:off x="3474720" y="3675960"/>
            <a:ext cx="3794400" cy="5482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193536"/>
                </a:solidFill>
                <a:effectLst/>
                <a:uFillTx/>
                <a:latin typeface="Arial"/>
              </a:rPr>
              <a:t>Propagação e exportação</a:t>
            </a:r>
            <a:endParaRPr lang="pt-PT" sz="1800" b="0" u="none" strike="noStrike">
              <a:solidFill>
                <a:srgbClr val="000000"/>
              </a:solidFill>
              <a:effectLst/>
              <a:uFillTx/>
              <a:latin typeface="Arial"/>
            </a:endParaRPr>
          </a:p>
        </p:txBody>
      </p:sp>
      <p:sp>
        <p:nvSpPr>
          <p:cNvPr id="310" name="TextBox 17"/>
          <p:cNvSpPr/>
          <p:nvPr/>
        </p:nvSpPr>
        <p:spPr>
          <a:xfrm>
            <a:off x="7498080" y="3675960"/>
            <a:ext cx="3748680" cy="5482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566B6A"/>
                </a:solidFill>
                <a:effectLst/>
                <a:uFillTx/>
                <a:latin typeface="Arial"/>
              </a:rPr>
              <a:t>Malhas por modelo e perfil</a:t>
            </a:r>
            <a:endParaRPr lang="pt-PT" sz="1800" b="0" u="none" strike="noStrike">
              <a:solidFill>
                <a:srgbClr val="000000"/>
              </a:solidFill>
              <a:effectLst/>
              <a:uFillTx/>
              <a:latin typeface="Arial"/>
            </a:endParaRPr>
          </a:p>
        </p:txBody>
      </p:sp>
      <p:sp>
        <p:nvSpPr>
          <p:cNvPr id="311" name="Rectangle 18"/>
          <p:cNvSpPr/>
          <p:nvPr/>
        </p:nvSpPr>
        <p:spPr>
          <a:xfrm>
            <a:off x="640080" y="4416480"/>
            <a:ext cx="10881000" cy="7221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12" name="TextBox 19"/>
          <p:cNvSpPr/>
          <p:nvPr/>
        </p:nvSpPr>
        <p:spPr>
          <a:xfrm>
            <a:off x="868680" y="4507920"/>
            <a:ext cx="2422800" cy="5299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000" b="1" u="none" strike="noStrike">
                <a:solidFill>
                  <a:srgbClr val="007C78"/>
                </a:solidFill>
                <a:effectLst/>
                <a:uFillTx/>
                <a:latin typeface="Arial"/>
              </a:rPr>
              <a:t>Peças físicas</a:t>
            </a:r>
            <a:endParaRPr lang="pt-PT" sz="2000" b="0" u="none" strike="noStrike">
              <a:solidFill>
                <a:srgbClr val="000000"/>
              </a:solidFill>
              <a:effectLst/>
              <a:uFillTx/>
              <a:latin typeface="Arial"/>
            </a:endParaRPr>
          </a:p>
        </p:txBody>
      </p:sp>
      <p:sp>
        <p:nvSpPr>
          <p:cNvPr id="313" name="TextBox 20"/>
          <p:cNvSpPr/>
          <p:nvPr/>
        </p:nvSpPr>
        <p:spPr>
          <a:xfrm>
            <a:off x="3474720" y="4507920"/>
            <a:ext cx="3794400" cy="5482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193536"/>
                </a:solidFill>
                <a:effectLst/>
                <a:uFillTx/>
                <a:latin typeface="Arial"/>
              </a:rPr>
              <a:t>Preparação e dimensões</a:t>
            </a:r>
            <a:endParaRPr lang="pt-PT" sz="1800" b="0" u="none" strike="noStrike">
              <a:solidFill>
                <a:srgbClr val="000000"/>
              </a:solidFill>
              <a:effectLst/>
              <a:uFillTx/>
              <a:latin typeface="Arial"/>
            </a:endParaRPr>
          </a:p>
        </p:txBody>
      </p:sp>
      <p:sp>
        <p:nvSpPr>
          <p:cNvPr id="314" name="TextBox 21"/>
          <p:cNvSpPr/>
          <p:nvPr/>
        </p:nvSpPr>
        <p:spPr>
          <a:xfrm>
            <a:off x="7498080" y="4507920"/>
            <a:ext cx="3748680" cy="5482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566B6A"/>
                </a:solidFill>
                <a:effectLst/>
                <a:uFillTx/>
                <a:latin typeface="Arial"/>
              </a:rPr>
              <a:t>CSV e registos fotográficos</a:t>
            </a:r>
            <a:endParaRPr lang="pt-PT" sz="1800" b="0" u="none" strike="noStrike">
              <a:solidFill>
                <a:srgbClr val="000000"/>
              </a:solidFill>
              <a:effectLst/>
              <a:uFillTx/>
              <a:latin typeface="Arial"/>
            </a:endParaRPr>
          </a:p>
        </p:txBody>
      </p:sp>
      <p:sp>
        <p:nvSpPr>
          <p:cNvPr id="315" name="TextBox 22"/>
          <p:cNvSpPr/>
          <p:nvPr/>
        </p:nvSpPr>
        <p:spPr>
          <a:xfrm>
            <a:off x="868680" y="5504760"/>
            <a:ext cx="10332360" cy="392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200" b="1" u="none" strike="noStrike">
                <a:solidFill>
                  <a:srgbClr val="007C78"/>
                </a:solidFill>
                <a:effectLst/>
                <a:uFillTx/>
                <a:latin typeface="Arial"/>
              </a:rPr>
              <a:t>4 projetos na Série A · 12 casos na Série B · 72 medições físicas</a:t>
            </a:r>
            <a:endParaRPr lang="pt-PT"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316"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17"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RESULTADOS DIMENSIONAIS</a:t>
            </a:r>
            <a:endParaRPr lang="pt-PT" sz="1100" b="0" u="none" strike="noStrike">
              <a:solidFill>
                <a:srgbClr val="000000"/>
              </a:solidFill>
              <a:effectLst/>
              <a:uFillTx/>
              <a:latin typeface="Arial"/>
            </a:endParaRPr>
          </a:p>
        </p:txBody>
      </p:sp>
      <p:sp>
        <p:nvSpPr>
          <p:cNvPr id="318"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Peça e malha: diferenças medidas, com limites</a:t>
            </a:r>
            <a:endParaRPr lang="pt-PT" sz="3200" b="0" u="none" strike="noStrike">
              <a:solidFill>
                <a:srgbClr val="000000"/>
              </a:solidFill>
              <a:effectLst/>
              <a:uFillTx/>
              <a:latin typeface="Arial"/>
            </a:endParaRPr>
          </a:p>
        </p:txBody>
      </p:sp>
      <p:sp>
        <p:nvSpPr>
          <p:cNvPr id="319"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Fonte: Suplemento 4, comparacao_dimensional_72_medicoes.csv · Gráfico calculado a partir dos registos.</a:t>
            </a:r>
            <a:endParaRPr lang="pt-PT" sz="1000" b="0" u="none" strike="noStrike">
              <a:solidFill>
                <a:srgbClr val="000000"/>
              </a:solidFill>
              <a:effectLst/>
              <a:uFillTx/>
              <a:latin typeface="Arial"/>
            </a:endParaRPr>
          </a:p>
        </p:txBody>
      </p:sp>
      <p:sp>
        <p:nvSpPr>
          <p:cNvPr id="320"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14</a:t>
            </a:r>
            <a:endParaRPr lang="pt-PT" sz="1100" b="0" u="none" strike="noStrike">
              <a:solidFill>
                <a:srgbClr val="000000"/>
              </a:solidFill>
              <a:effectLst/>
              <a:uFillTx/>
              <a:latin typeface="Arial"/>
            </a:endParaRPr>
          </a:p>
        </p:txBody>
      </p:sp>
      <p:sp>
        <p:nvSpPr>
          <p:cNvPr id="321" name="Rectangle 6"/>
          <p:cNvSpPr/>
          <p:nvPr/>
        </p:nvSpPr>
        <p:spPr>
          <a:xfrm>
            <a:off x="640080" y="1783080"/>
            <a:ext cx="10881000" cy="3894840"/>
          </a:xfrm>
          <a:prstGeom prst="rect">
            <a:avLst/>
          </a:prstGeom>
          <a:solidFill>
            <a:srgbClr val="F6F5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322" name="Picture 7" descr="desvios_dimensionais.png"/>
          <p:cNvPicPr/>
          <p:nvPr/>
        </p:nvPicPr>
        <p:blipFill>
          <a:blip r:embed="rId1"/>
          <a:stretch/>
        </p:blipFill>
        <p:spPr>
          <a:xfrm>
            <a:off x="1451880" y="1783080"/>
            <a:ext cx="9257400" cy="3894840"/>
          </a:xfrm>
          <a:prstGeom prst="rect">
            <a:avLst/>
          </a:prstGeom>
          <a:noFill/>
          <a:ln w="0">
            <a:noFill/>
          </a:ln>
        </p:spPr>
      </p:pic>
      <p:sp>
        <p:nvSpPr>
          <p:cNvPr id="323" name="TextBox 8"/>
          <p:cNvSpPr/>
          <p:nvPr/>
        </p:nvSpPr>
        <p:spPr>
          <a:xfrm>
            <a:off x="841320" y="5715000"/>
            <a:ext cx="10515240" cy="429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100" b="1" u="none" strike="noStrike">
                <a:solidFill>
                  <a:srgbClr val="007C78"/>
                </a:solidFill>
                <a:effectLst/>
                <a:uFillTx/>
                <a:latin typeface="Arial"/>
              </a:rPr>
              <a:t>Amplitude por grupo, calculada com uma leitura por combinação.</a:t>
            </a:r>
            <a:endParaRPr lang="pt-PT" sz="2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324"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25"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LIMITES ENCONTRADOS</a:t>
            </a:r>
            <a:endParaRPr lang="pt-PT" sz="1100" b="0" u="none" strike="noStrike">
              <a:solidFill>
                <a:srgbClr val="000000"/>
              </a:solidFill>
              <a:effectLst/>
              <a:uFillTx/>
              <a:latin typeface="Arial"/>
            </a:endParaRPr>
          </a:p>
        </p:txBody>
      </p:sp>
      <p:sp>
        <p:nvSpPr>
          <p:cNvPr id="326"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As falhas também definem o próximo passo</a:t>
            </a:r>
            <a:endParaRPr lang="pt-PT" sz="3200" b="0" u="none" strike="noStrike">
              <a:solidFill>
                <a:srgbClr val="000000"/>
              </a:solidFill>
              <a:effectLst/>
              <a:uFillTx/>
              <a:latin typeface="Arial"/>
            </a:endParaRPr>
          </a:p>
        </p:txBody>
      </p:sp>
      <p:sp>
        <p:nvSpPr>
          <p:cNvPr id="327"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Fonte: 8.1.2 e Anexo B · Ensaios de recuperação e auditoria de acessibilidade.</a:t>
            </a:r>
            <a:endParaRPr lang="pt-PT" sz="1000" b="0" u="none" strike="noStrike">
              <a:solidFill>
                <a:srgbClr val="000000"/>
              </a:solidFill>
              <a:effectLst/>
              <a:uFillTx/>
              <a:latin typeface="Arial"/>
            </a:endParaRPr>
          </a:p>
        </p:txBody>
      </p:sp>
      <p:sp>
        <p:nvSpPr>
          <p:cNvPr id="328"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15</a:t>
            </a:r>
            <a:endParaRPr lang="pt-PT" sz="1100" b="0" u="none" strike="noStrike">
              <a:solidFill>
                <a:srgbClr val="000000"/>
              </a:solidFill>
              <a:effectLst/>
              <a:uFillTx/>
              <a:latin typeface="Arial"/>
            </a:endParaRPr>
          </a:p>
        </p:txBody>
      </p:sp>
      <p:sp>
        <p:nvSpPr>
          <p:cNvPr id="329" name="Rectangle 6"/>
          <p:cNvSpPr/>
          <p:nvPr/>
        </p:nvSpPr>
        <p:spPr>
          <a:xfrm>
            <a:off x="640080" y="1901880"/>
            <a:ext cx="5303160" cy="338292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30" name="TextBox 7"/>
          <p:cNvSpPr/>
          <p:nvPr/>
        </p:nvSpPr>
        <p:spPr>
          <a:xfrm>
            <a:off x="841320" y="2066400"/>
            <a:ext cx="49006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Controlo</a:t>
            </a:r>
            <a:endParaRPr lang="pt-PT" sz="2800" b="0" u="none" strike="noStrike">
              <a:solidFill>
                <a:srgbClr val="000000"/>
              </a:solidFill>
              <a:effectLst/>
              <a:uFillTx/>
              <a:latin typeface="Arial"/>
            </a:endParaRPr>
          </a:p>
        </p:txBody>
      </p:sp>
      <p:sp>
        <p:nvSpPr>
          <p:cNvPr id="331" name="TextBox 8"/>
          <p:cNvSpPr/>
          <p:nvPr/>
        </p:nvSpPr>
        <p:spPr>
          <a:xfrm>
            <a:off x="841320" y="2697480"/>
            <a:ext cx="49006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Valores fora do limite</a:t>
            </a:r>
            <a:endParaRPr lang="pt-PT" sz="2300" b="0" u="none" strike="noStrike">
              <a:solidFill>
                <a:srgbClr val="000000"/>
              </a:solidFill>
              <a:effectLst/>
              <a:uFillTx/>
              <a:latin typeface="Arial"/>
            </a:endParaRPr>
          </a:p>
        </p:txBody>
      </p:sp>
      <p:sp>
        <p:nvSpPr>
          <p:cNvPr id="332" name="TextBox 9"/>
          <p:cNvSpPr/>
          <p:nvPr/>
        </p:nvSpPr>
        <p:spPr>
          <a:xfrm>
            <a:off x="841320" y="3547800"/>
            <a:ext cx="4900680" cy="15998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Um valor simulado acima do limite chegou ao estado interno.</a:t>
            </a:r>
            <a:endParaRPr lang="pt-PT" sz="1900" b="0" u="none" strike="noStrike">
              <a:solidFill>
                <a:srgbClr val="000000"/>
              </a:solidFill>
              <a:effectLst/>
              <a:uFillTx/>
              <a:latin typeface="Arial"/>
            </a:endParaRPr>
          </a:p>
        </p:txBody>
      </p:sp>
      <p:sp>
        <p:nvSpPr>
          <p:cNvPr id="333" name="Rectangle 10"/>
          <p:cNvSpPr/>
          <p:nvPr/>
        </p:nvSpPr>
        <p:spPr>
          <a:xfrm>
            <a:off x="6217920" y="1901880"/>
            <a:ext cx="5303160" cy="338292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34" name="TextBox 11"/>
          <p:cNvSpPr/>
          <p:nvPr/>
        </p:nvSpPr>
        <p:spPr>
          <a:xfrm>
            <a:off x="6419160" y="2066400"/>
            <a:ext cx="49006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Acessibilidade</a:t>
            </a:r>
            <a:endParaRPr lang="pt-PT" sz="2800" b="0" u="none" strike="noStrike">
              <a:solidFill>
                <a:srgbClr val="000000"/>
              </a:solidFill>
              <a:effectLst/>
              <a:uFillTx/>
              <a:latin typeface="Arial"/>
            </a:endParaRPr>
          </a:p>
        </p:txBody>
      </p:sp>
      <p:sp>
        <p:nvSpPr>
          <p:cNvPr id="335" name="TextBox 12"/>
          <p:cNvSpPr/>
          <p:nvPr/>
        </p:nvSpPr>
        <p:spPr>
          <a:xfrm>
            <a:off x="6419160" y="2697480"/>
            <a:ext cx="49006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Barreiras no percurso</a:t>
            </a:r>
            <a:endParaRPr lang="pt-PT" sz="2300" b="0" u="none" strike="noStrike">
              <a:solidFill>
                <a:srgbClr val="000000"/>
              </a:solidFill>
              <a:effectLst/>
              <a:uFillTx/>
              <a:latin typeface="Arial"/>
            </a:endParaRPr>
          </a:p>
        </p:txBody>
      </p:sp>
      <p:sp>
        <p:nvSpPr>
          <p:cNvPr id="336" name="TextBox 13"/>
          <p:cNvSpPr/>
          <p:nvPr/>
        </p:nvSpPr>
        <p:spPr>
          <a:xfrm>
            <a:off x="6419160" y="3547800"/>
            <a:ext cx="4900680" cy="15998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5 de 12 itens falharam na verificação manual.</a:t>
            </a:r>
            <a:endParaRPr lang="pt-PT" sz="1900" b="0" u="none" strike="noStrike">
              <a:solidFill>
                <a:srgbClr val="000000"/>
              </a:solidFill>
              <a:effectLst/>
              <a:uFillTx/>
              <a:latin typeface="Arial"/>
            </a:endParaRPr>
          </a:p>
        </p:txBody>
      </p:sp>
      <p:sp>
        <p:nvSpPr>
          <p:cNvPr id="337" name="TextBox 14"/>
          <p:cNvSpPr/>
          <p:nvPr/>
        </p:nvSpPr>
        <p:spPr>
          <a:xfrm>
            <a:off x="868680" y="5605200"/>
            <a:ext cx="10332360" cy="392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007C78"/>
                </a:solidFill>
                <a:effectLst/>
                <a:uFillTx/>
                <a:latin typeface="Arial"/>
              </a:rPr>
              <a:t>Problemas identificados orientam revisões concretas do sistema.</a:t>
            </a:r>
            <a:endParaRPr lang="pt-PT" sz="2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338"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39"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RESPOSTA ÀS PERGUNTAS</a:t>
            </a:r>
            <a:endParaRPr lang="pt-PT" sz="1100" b="0" u="none" strike="noStrike">
              <a:solidFill>
                <a:srgbClr val="000000"/>
              </a:solidFill>
              <a:effectLst/>
              <a:uFillTx/>
              <a:latin typeface="Arial"/>
            </a:endParaRPr>
          </a:p>
        </p:txBody>
      </p:sp>
      <p:sp>
        <p:nvSpPr>
          <p:cNvPr id="340"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O contributo para a configuração do produto</a:t>
            </a:r>
            <a:endParaRPr lang="pt-PT" sz="3200" b="0" u="none" strike="noStrike">
              <a:solidFill>
                <a:srgbClr val="000000"/>
              </a:solidFill>
              <a:effectLst/>
              <a:uFillTx/>
              <a:latin typeface="Arial"/>
            </a:endParaRPr>
          </a:p>
        </p:txBody>
      </p:sp>
      <p:sp>
        <p:nvSpPr>
          <p:cNvPr id="341"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Síntese da Tabela 31 e de 9.1-9.4 · Cross (1982): enquadramento do conhecimento de design.</a:t>
            </a:r>
            <a:endParaRPr lang="pt-PT" sz="1000" b="0" u="none" strike="noStrike">
              <a:solidFill>
                <a:srgbClr val="000000"/>
              </a:solidFill>
              <a:effectLst/>
              <a:uFillTx/>
              <a:latin typeface="Arial"/>
            </a:endParaRPr>
          </a:p>
        </p:txBody>
      </p:sp>
      <p:sp>
        <p:nvSpPr>
          <p:cNvPr id="342"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16</a:t>
            </a:r>
            <a:endParaRPr lang="pt-PT" sz="1100" b="0" u="none" strike="noStrike">
              <a:solidFill>
                <a:srgbClr val="000000"/>
              </a:solidFill>
              <a:effectLst/>
              <a:uFillTx/>
              <a:latin typeface="Arial"/>
            </a:endParaRPr>
          </a:p>
        </p:txBody>
      </p:sp>
      <p:sp>
        <p:nvSpPr>
          <p:cNvPr id="343" name="TextBox 6"/>
          <p:cNvSpPr/>
          <p:nvPr/>
        </p:nvSpPr>
        <p:spPr>
          <a:xfrm>
            <a:off x="859680" y="1828800"/>
            <a:ext cx="2331360" cy="319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200" b="1" u="none" strike="noStrike">
                <a:solidFill>
                  <a:srgbClr val="007C78"/>
                </a:solidFill>
                <a:effectLst/>
                <a:uFillTx/>
                <a:latin typeface="Arial"/>
              </a:rPr>
              <a:t>EIXO</a:t>
            </a:r>
            <a:endParaRPr lang="pt-PT" sz="1200" b="0" u="none" strike="noStrike">
              <a:solidFill>
                <a:srgbClr val="000000"/>
              </a:solidFill>
              <a:effectLst/>
              <a:uFillTx/>
              <a:latin typeface="Arial"/>
            </a:endParaRPr>
          </a:p>
        </p:txBody>
      </p:sp>
      <p:sp>
        <p:nvSpPr>
          <p:cNvPr id="344" name="TextBox 7"/>
          <p:cNvSpPr/>
          <p:nvPr/>
        </p:nvSpPr>
        <p:spPr>
          <a:xfrm>
            <a:off x="3474720" y="1828800"/>
            <a:ext cx="3657240" cy="319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200" b="1" u="none" strike="noStrike">
                <a:solidFill>
                  <a:srgbClr val="007C78"/>
                </a:solidFill>
                <a:effectLst/>
                <a:uFillTx/>
                <a:latin typeface="Arial"/>
              </a:rPr>
              <a:t>EVIDÊNCIA OBTIDA</a:t>
            </a:r>
            <a:endParaRPr lang="pt-PT" sz="1200" b="0" u="none" strike="noStrike">
              <a:solidFill>
                <a:srgbClr val="000000"/>
              </a:solidFill>
              <a:effectLst/>
              <a:uFillTx/>
              <a:latin typeface="Arial"/>
            </a:endParaRPr>
          </a:p>
        </p:txBody>
      </p:sp>
      <p:sp>
        <p:nvSpPr>
          <p:cNvPr id="345" name="TextBox 8"/>
          <p:cNvSpPr/>
          <p:nvPr/>
        </p:nvSpPr>
        <p:spPr>
          <a:xfrm>
            <a:off x="7498080" y="1828800"/>
            <a:ext cx="3748680" cy="319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200" b="1" u="none" strike="noStrike">
                <a:solidFill>
                  <a:srgbClr val="AD542D"/>
                </a:solidFill>
                <a:effectLst/>
                <a:uFillTx/>
                <a:latin typeface="Arial"/>
              </a:rPr>
              <a:t>POR AVALIAR</a:t>
            </a:r>
            <a:endParaRPr lang="pt-PT" sz="1200" b="0" u="none" strike="noStrike">
              <a:solidFill>
                <a:srgbClr val="000000"/>
              </a:solidFill>
              <a:effectLst/>
              <a:uFillTx/>
              <a:latin typeface="Arial"/>
            </a:endParaRPr>
          </a:p>
        </p:txBody>
      </p:sp>
      <p:sp>
        <p:nvSpPr>
          <p:cNvPr id="346" name="Rectangle 9"/>
          <p:cNvSpPr/>
          <p:nvPr/>
        </p:nvSpPr>
        <p:spPr>
          <a:xfrm>
            <a:off x="640080" y="2423160"/>
            <a:ext cx="10881000" cy="7221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47" name="TextBox 10"/>
          <p:cNvSpPr/>
          <p:nvPr/>
        </p:nvSpPr>
        <p:spPr>
          <a:xfrm>
            <a:off x="868680" y="2514600"/>
            <a:ext cx="2422800" cy="5299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000" b="1" u="none" strike="noStrike">
                <a:solidFill>
                  <a:srgbClr val="007C78"/>
                </a:solidFill>
                <a:effectLst/>
                <a:uFillTx/>
                <a:latin typeface="Arial"/>
              </a:rPr>
              <a:t>Configuração</a:t>
            </a:r>
            <a:endParaRPr lang="pt-PT" sz="2000" b="0" u="none" strike="noStrike">
              <a:solidFill>
                <a:srgbClr val="000000"/>
              </a:solidFill>
              <a:effectLst/>
              <a:uFillTx/>
              <a:latin typeface="Arial"/>
            </a:endParaRPr>
          </a:p>
        </p:txBody>
      </p:sp>
      <p:sp>
        <p:nvSpPr>
          <p:cNvPr id="348" name="TextBox 11"/>
          <p:cNvSpPr/>
          <p:nvPr/>
        </p:nvSpPr>
        <p:spPr>
          <a:xfrm>
            <a:off x="3474720" y="2514600"/>
            <a:ext cx="3794400" cy="5482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193536"/>
                </a:solidFill>
                <a:effectLst/>
                <a:uFillTx/>
                <a:latin typeface="Arial"/>
              </a:rPr>
              <a:t>Valores editáveis e revisão</a:t>
            </a:r>
            <a:endParaRPr lang="pt-PT" sz="1800" b="0" u="none" strike="noStrike">
              <a:solidFill>
                <a:srgbClr val="000000"/>
              </a:solidFill>
              <a:effectLst/>
              <a:uFillTx/>
              <a:latin typeface="Arial"/>
            </a:endParaRPr>
          </a:p>
        </p:txBody>
      </p:sp>
      <p:sp>
        <p:nvSpPr>
          <p:cNvPr id="349" name="TextBox 12"/>
          <p:cNvSpPr/>
          <p:nvPr/>
        </p:nvSpPr>
        <p:spPr>
          <a:xfrm>
            <a:off x="7498080" y="2514600"/>
            <a:ext cx="3748680" cy="5482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566B6A"/>
                </a:solidFill>
                <a:effectLst/>
                <a:uFillTx/>
                <a:latin typeface="Arial"/>
              </a:rPr>
              <a:t>Conforto e adequação individual</a:t>
            </a:r>
            <a:endParaRPr lang="pt-PT" sz="1800" b="0" u="none" strike="noStrike">
              <a:solidFill>
                <a:srgbClr val="000000"/>
              </a:solidFill>
              <a:effectLst/>
              <a:uFillTx/>
              <a:latin typeface="Arial"/>
            </a:endParaRPr>
          </a:p>
        </p:txBody>
      </p:sp>
      <p:sp>
        <p:nvSpPr>
          <p:cNvPr id="350" name="Rectangle 13"/>
          <p:cNvSpPr/>
          <p:nvPr/>
        </p:nvSpPr>
        <p:spPr>
          <a:xfrm>
            <a:off x="640080" y="3383280"/>
            <a:ext cx="10881000" cy="7221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51" name="TextBox 14"/>
          <p:cNvSpPr/>
          <p:nvPr/>
        </p:nvSpPr>
        <p:spPr>
          <a:xfrm>
            <a:off x="868680" y="3474720"/>
            <a:ext cx="2422800" cy="5299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000" b="1" u="none" strike="noStrike">
                <a:solidFill>
                  <a:srgbClr val="007C78"/>
                </a:solidFill>
                <a:effectLst/>
                <a:uFillTx/>
                <a:latin typeface="Arial"/>
              </a:rPr>
              <a:t>Avaliação</a:t>
            </a:r>
            <a:endParaRPr lang="pt-PT" sz="2000" b="0" u="none" strike="noStrike">
              <a:solidFill>
                <a:srgbClr val="000000"/>
              </a:solidFill>
              <a:effectLst/>
              <a:uFillTx/>
              <a:latin typeface="Arial"/>
            </a:endParaRPr>
          </a:p>
        </p:txBody>
      </p:sp>
      <p:sp>
        <p:nvSpPr>
          <p:cNvPr id="352" name="TextBox 15"/>
          <p:cNvSpPr/>
          <p:nvPr/>
        </p:nvSpPr>
        <p:spPr>
          <a:xfrm>
            <a:off x="3474720" y="3474720"/>
            <a:ext cx="3794400" cy="5482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193536"/>
                </a:solidFill>
                <a:effectLst/>
                <a:uFillTx/>
                <a:latin typeface="Arial"/>
              </a:rPr>
              <a:t>Verificação técnica e dimensional</a:t>
            </a:r>
            <a:endParaRPr lang="pt-PT" sz="1800" b="0" u="none" strike="noStrike">
              <a:solidFill>
                <a:srgbClr val="000000"/>
              </a:solidFill>
              <a:effectLst/>
              <a:uFillTx/>
              <a:latin typeface="Arial"/>
            </a:endParaRPr>
          </a:p>
        </p:txBody>
      </p:sp>
      <p:sp>
        <p:nvSpPr>
          <p:cNvPr id="353" name="TextBox 16"/>
          <p:cNvSpPr/>
          <p:nvPr/>
        </p:nvSpPr>
        <p:spPr>
          <a:xfrm>
            <a:off x="7498080" y="3474720"/>
            <a:ext cx="3748680" cy="5482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566B6A"/>
                </a:solidFill>
                <a:effectLst/>
                <a:uFillTx/>
                <a:latin typeface="Arial"/>
              </a:rPr>
              <a:t>Usabilidade e durabilidade</a:t>
            </a:r>
            <a:endParaRPr lang="pt-PT" sz="1800" b="0" u="none" strike="noStrike">
              <a:solidFill>
                <a:srgbClr val="000000"/>
              </a:solidFill>
              <a:effectLst/>
              <a:uFillTx/>
              <a:latin typeface="Arial"/>
            </a:endParaRPr>
          </a:p>
        </p:txBody>
      </p:sp>
      <p:sp>
        <p:nvSpPr>
          <p:cNvPr id="354" name="Rectangle 17"/>
          <p:cNvSpPr/>
          <p:nvPr/>
        </p:nvSpPr>
        <p:spPr>
          <a:xfrm>
            <a:off x="640080" y="4343400"/>
            <a:ext cx="10881000" cy="7221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55" name="TextBox 18"/>
          <p:cNvSpPr/>
          <p:nvPr/>
        </p:nvSpPr>
        <p:spPr>
          <a:xfrm>
            <a:off x="868680" y="4434840"/>
            <a:ext cx="2422800" cy="5299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000" b="1" u="none" strike="noStrike">
                <a:solidFill>
                  <a:srgbClr val="007C78"/>
                </a:solidFill>
                <a:effectLst/>
                <a:uFillTx/>
                <a:latin typeface="Arial"/>
              </a:rPr>
              <a:t>Requisitos</a:t>
            </a:r>
            <a:endParaRPr lang="pt-PT" sz="2000" b="0" u="none" strike="noStrike">
              <a:solidFill>
                <a:srgbClr val="000000"/>
              </a:solidFill>
              <a:effectLst/>
              <a:uFillTx/>
              <a:latin typeface="Arial"/>
            </a:endParaRPr>
          </a:p>
        </p:txBody>
      </p:sp>
      <p:sp>
        <p:nvSpPr>
          <p:cNvPr id="356" name="TextBox 19"/>
          <p:cNvSpPr/>
          <p:nvPr/>
        </p:nvSpPr>
        <p:spPr>
          <a:xfrm>
            <a:off x="3474720" y="4434840"/>
            <a:ext cx="3794400" cy="5482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193536"/>
                </a:solidFill>
                <a:effectLst/>
                <a:uFillTx/>
                <a:latin typeface="Arial"/>
              </a:rPr>
              <a:t>Regras e escolhas disponíveis</a:t>
            </a:r>
            <a:endParaRPr lang="pt-PT" sz="1800" b="0" u="none" strike="noStrike">
              <a:solidFill>
                <a:srgbClr val="000000"/>
              </a:solidFill>
              <a:effectLst/>
              <a:uFillTx/>
              <a:latin typeface="Arial"/>
            </a:endParaRPr>
          </a:p>
        </p:txBody>
      </p:sp>
      <p:sp>
        <p:nvSpPr>
          <p:cNvPr id="357" name="TextBox 20"/>
          <p:cNvSpPr/>
          <p:nvPr/>
        </p:nvSpPr>
        <p:spPr>
          <a:xfrm>
            <a:off x="7498080" y="4434840"/>
            <a:ext cx="3748680" cy="5482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566B6A"/>
                </a:solidFill>
                <a:effectLst/>
                <a:uFillTx/>
                <a:latin typeface="Arial"/>
              </a:rPr>
              <a:t>Aceitação e autonomia</a:t>
            </a:r>
            <a:endParaRPr lang="pt-PT" sz="1800" b="0" u="none" strike="noStrike">
              <a:solidFill>
                <a:srgbClr val="000000"/>
              </a:solidFill>
              <a:effectLst/>
              <a:uFillTx/>
              <a:latin typeface="Arial"/>
            </a:endParaRPr>
          </a:p>
        </p:txBody>
      </p:sp>
      <p:sp>
        <p:nvSpPr>
          <p:cNvPr id="358" name="TextBox 21"/>
          <p:cNvSpPr/>
          <p:nvPr/>
        </p:nvSpPr>
        <p:spPr>
          <a:xfrm>
            <a:off x="859680" y="5486400"/>
            <a:ext cx="10240920" cy="5115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600" b="1" u="none" strike="noStrike">
                <a:solidFill>
                  <a:srgbClr val="193536"/>
                </a:solidFill>
                <a:effectLst/>
                <a:uFillTx/>
                <a:latin typeface="Arial"/>
              </a:rPr>
              <a:t>Explicar como cada escolha de configuração afeta a forma.</a:t>
            </a:r>
            <a:endParaRPr lang="pt-PT" sz="2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93536"/>
        </a:solidFill>
      </p:bgPr>
    </p:bg>
    <p:spTree>
      <p:nvGrpSpPr>
        <p:cNvPr id="1" name=""/>
        <p:cNvGrpSpPr/>
        <p:nvPr/>
      </p:nvGrpSpPr>
      <p:grpSpPr>
        <a:xfrm>
          <a:off x="0" y="0"/>
          <a:ext cx="0" cy="0"/>
          <a:chOff x="0" y="0"/>
          <a:chExt cx="0" cy="0"/>
        </a:xfrm>
      </p:grpSpPr>
      <p:sp>
        <p:nvSpPr>
          <p:cNvPr id="359"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60"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8DCCC1"/>
                </a:solidFill>
                <a:effectLst/>
                <a:uFillTx/>
                <a:latin typeface="Arial"/>
              </a:rPr>
              <a:t>CONCLUSÃO</a:t>
            </a:r>
            <a:endParaRPr lang="pt-PT" sz="1100" b="0" u="none" strike="noStrike">
              <a:solidFill>
                <a:srgbClr val="FFFFFF"/>
              </a:solidFill>
              <a:effectLst/>
              <a:uFillTx/>
              <a:latin typeface="Arial"/>
            </a:endParaRPr>
          </a:p>
        </p:txBody>
      </p:sp>
      <p:sp>
        <p:nvSpPr>
          <p:cNvPr id="361"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FFFFFF"/>
                </a:solidFill>
                <a:effectLst/>
                <a:uFillTx/>
                <a:latin typeface="Arial"/>
              </a:rPr>
              <a:t>As regras de cada modelo condicionam o resultado</a:t>
            </a:r>
            <a:endParaRPr lang="pt-PT" sz="3200" b="0" u="none" strike="noStrike">
              <a:solidFill>
                <a:srgbClr val="FFFFFF"/>
              </a:solidFill>
              <a:effectLst/>
              <a:uFillTx/>
              <a:latin typeface="Arial"/>
            </a:endParaRPr>
          </a:p>
        </p:txBody>
      </p:sp>
      <p:sp>
        <p:nvSpPr>
          <p:cNvPr id="362"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B5CBC6"/>
                </a:solidFill>
                <a:effectLst/>
                <a:uFillTx/>
                <a:latin typeface="Arial"/>
              </a:rPr>
              <a:t>Projeto HandFab · Pedro Miguel Candeias da Silva · Mestrado em Design e Desenvolvimento de Produto.</a:t>
            </a:r>
            <a:endParaRPr lang="pt-PT" sz="1000" b="0" u="none" strike="noStrike">
              <a:solidFill>
                <a:srgbClr val="FFFFFF"/>
              </a:solidFill>
              <a:effectLst/>
              <a:uFillTx/>
              <a:latin typeface="Arial"/>
            </a:endParaRPr>
          </a:p>
        </p:txBody>
      </p:sp>
      <p:sp>
        <p:nvSpPr>
          <p:cNvPr id="363"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FFFFFF"/>
                </a:solidFill>
                <a:effectLst/>
                <a:uFillTx/>
                <a:latin typeface="Arial"/>
              </a:rPr>
              <a:t>17</a:t>
            </a:r>
            <a:endParaRPr lang="pt-PT" sz="1100" b="0" u="none" strike="noStrike">
              <a:solidFill>
                <a:srgbClr val="FFFFFF"/>
              </a:solidFill>
              <a:effectLst/>
              <a:uFillTx/>
              <a:latin typeface="Arial"/>
            </a:endParaRPr>
          </a:p>
        </p:txBody>
      </p:sp>
      <p:sp>
        <p:nvSpPr>
          <p:cNvPr id="364" name="Rectangle 6"/>
          <p:cNvSpPr/>
          <p:nvPr/>
        </p:nvSpPr>
        <p:spPr>
          <a:xfrm>
            <a:off x="640080" y="1993320"/>
            <a:ext cx="10881000" cy="2395440"/>
          </a:xfrm>
          <a:prstGeom prst="rect">
            <a:avLst/>
          </a:prstGeom>
          <a:solidFill>
            <a:srgbClr val="19353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365" name="Picture 7" descr="figura_28_1.jpg"/>
          <p:cNvPicPr/>
          <p:nvPr/>
        </p:nvPicPr>
        <p:blipFill>
          <a:blip r:embed="rId1"/>
          <a:stretch/>
        </p:blipFill>
        <p:spPr>
          <a:xfrm>
            <a:off x="640080" y="2035440"/>
            <a:ext cx="10881000" cy="2311560"/>
          </a:xfrm>
          <a:prstGeom prst="rect">
            <a:avLst/>
          </a:prstGeom>
          <a:noFill/>
          <a:ln w="0">
            <a:noFill/>
          </a:ln>
        </p:spPr>
      </p:pic>
      <p:sp>
        <p:nvSpPr>
          <p:cNvPr id="366" name="TextBox 8"/>
          <p:cNvSpPr/>
          <p:nvPr/>
        </p:nvSpPr>
        <p:spPr>
          <a:xfrm>
            <a:off x="822960" y="4837320"/>
            <a:ext cx="10332360" cy="8683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500" b="1" u="none" strike="noStrike">
                <a:solidFill>
                  <a:srgbClr val="FFFFFF"/>
                </a:solidFill>
                <a:effectLst/>
                <a:uFillTx/>
                <a:latin typeface="Arial"/>
              </a:rPr>
              <a:t>Próximo passo</a:t>
            </a:r>
            <a:endParaRPr lang="pt-PT" sz="2500" b="0" u="none" strike="noStrike">
              <a:solidFill>
                <a:srgbClr val="FFFFFF"/>
              </a:solidFill>
              <a:effectLst/>
              <a:uFillTx/>
              <a:latin typeface="Arial"/>
            </a:endParaRPr>
          </a:p>
          <a:p>
            <a:pPr defTabSz="457200">
              <a:lnSpc>
                <a:spcPct val="110000"/>
              </a:lnSpc>
              <a:spcAft>
                <a:spcPts val="700"/>
              </a:spcAft>
            </a:pPr>
            <a:r>
              <a:rPr lang="en-US" sz="2500" b="1" u="none" strike="noStrike">
                <a:solidFill>
                  <a:srgbClr val="FFFFFF"/>
                </a:solidFill>
                <a:effectLst/>
                <a:uFillTx/>
                <a:latin typeface="Arial"/>
              </a:rPr>
              <a:t>Avaliar decisões e tarefas com as pessoas a quem o processo se destina.</a:t>
            </a:r>
            <a:endParaRPr lang="pt-PT" sz="25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367"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68"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APOIO · FORMULAÇÕES INTEGRAIS</a:t>
            </a:r>
            <a:endParaRPr lang="pt-PT" sz="1100" b="0" u="none" strike="noStrike">
              <a:solidFill>
                <a:srgbClr val="000000"/>
              </a:solidFill>
              <a:effectLst/>
              <a:uFillTx/>
              <a:latin typeface="Arial"/>
            </a:endParaRPr>
          </a:p>
        </p:txBody>
      </p:sp>
      <p:sp>
        <p:nvSpPr>
          <p:cNvPr id="369"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Perguntas de investigação aprovadas</a:t>
            </a:r>
            <a:endParaRPr lang="pt-PT" sz="3200" b="0" u="none" strike="noStrike">
              <a:solidFill>
                <a:srgbClr val="000000"/>
              </a:solidFill>
              <a:effectLst/>
              <a:uFillTx/>
              <a:latin typeface="Arial"/>
            </a:endParaRPr>
          </a:p>
        </p:txBody>
      </p:sp>
      <p:sp>
        <p:nvSpPr>
          <p:cNvPr id="370"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Fonte: manuscrito, 9.1. Diapositivo fora do percurso principal de 20 minutos.</a:t>
            </a:r>
            <a:endParaRPr lang="pt-PT" sz="1000" b="0" u="none" strike="noStrike">
              <a:solidFill>
                <a:srgbClr val="000000"/>
              </a:solidFill>
              <a:effectLst/>
              <a:uFillTx/>
              <a:latin typeface="Arial"/>
            </a:endParaRPr>
          </a:p>
        </p:txBody>
      </p:sp>
      <p:sp>
        <p:nvSpPr>
          <p:cNvPr id="371"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18</a:t>
            </a:r>
            <a:endParaRPr lang="pt-PT" sz="1100" b="0" u="none" strike="noStrike">
              <a:solidFill>
                <a:srgbClr val="000000"/>
              </a:solidFill>
              <a:effectLst/>
              <a:uFillTx/>
              <a:latin typeface="Arial"/>
            </a:endParaRPr>
          </a:p>
        </p:txBody>
      </p:sp>
      <p:sp>
        <p:nvSpPr>
          <p:cNvPr id="372" name="TextBox 6"/>
          <p:cNvSpPr/>
          <p:nvPr/>
        </p:nvSpPr>
        <p:spPr>
          <a:xfrm>
            <a:off x="713160" y="1856160"/>
            <a:ext cx="594000" cy="4568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007C78"/>
                </a:solidFill>
                <a:effectLst/>
                <a:uFillTx/>
                <a:latin typeface="Arial"/>
              </a:rPr>
              <a:t>P1</a:t>
            </a:r>
            <a:endParaRPr lang="pt-PT" sz="2300" b="0" u="none" strike="noStrike">
              <a:solidFill>
                <a:srgbClr val="000000"/>
              </a:solidFill>
              <a:effectLst/>
              <a:uFillTx/>
              <a:latin typeface="Arial"/>
            </a:endParaRPr>
          </a:p>
        </p:txBody>
      </p:sp>
      <p:sp>
        <p:nvSpPr>
          <p:cNvPr id="373" name="TextBox 7"/>
          <p:cNvSpPr/>
          <p:nvPr/>
        </p:nvSpPr>
        <p:spPr>
          <a:xfrm>
            <a:off x="1481400" y="1856160"/>
            <a:ext cx="9875160" cy="11883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200" b="0" u="none" strike="noStrike">
                <a:solidFill>
                  <a:srgbClr val="193536"/>
                </a:solidFill>
                <a:effectLst/>
                <a:uFillTx/>
                <a:latin typeface="Arial"/>
              </a:rPr>
              <a:t>Como o design de produto, métodos paramétricos e inteligência artificial podem melhorar a personalização, o conforto e a adequação funcional de próteses, mantendo a acessibilidade e o controlo sobre as decisões de projeto?</a:t>
            </a:r>
            <a:endParaRPr lang="pt-PT" sz="2200" b="0" u="none" strike="noStrike">
              <a:solidFill>
                <a:srgbClr val="000000"/>
              </a:solidFill>
              <a:effectLst/>
              <a:uFillTx/>
              <a:latin typeface="Arial"/>
            </a:endParaRPr>
          </a:p>
        </p:txBody>
      </p:sp>
      <p:sp>
        <p:nvSpPr>
          <p:cNvPr id="374" name="TextBox 8"/>
          <p:cNvSpPr/>
          <p:nvPr/>
        </p:nvSpPr>
        <p:spPr>
          <a:xfrm>
            <a:off x="713160" y="3200400"/>
            <a:ext cx="594000" cy="4568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007C78"/>
                </a:solidFill>
                <a:effectLst/>
                <a:uFillTx/>
                <a:latin typeface="Arial"/>
              </a:rPr>
              <a:t>P2</a:t>
            </a:r>
            <a:endParaRPr lang="pt-PT" sz="2300" b="0" u="none" strike="noStrike">
              <a:solidFill>
                <a:srgbClr val="000000"/>
              </a:solidFill>
              <a:effectLst/>
              <a:uFillTx/>
              <a:latin typeface="Arial"/>
            </a:endParaRPr>
          </a:p>
        </p:txBody>
      </p:sp>
      <p:sp>
        <p:nvSpPr>
          <p:cNvPr id="375" name="TextBox 9"/>
          <p:cNvSpPr/>
          <p:nvPr/>
        </p:nvSpPr>
        <p:spPr>
          <a:xfrm>
            <a:off x="1481400" y="3200400"/>
            <a:ext cx="9875160" cy="11883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200" b="0" u="none" strike="noStrike">
                <a:solidFill>
                  <a:srgbClr val="193536"/>
                </a:solidFill>
                <a:effectLst/>
                <a:uFillTx/>
                <a:latin typeface="Arial"/>
              </a:rPr>
              <a:t>Quais metodologias e ferramentas validam a eficácia, a usabilidade, a durabilidade e a possibilidade de reproduzir os resultados de próteses impressas em 3D?</a:t>
            </a:r>
            <a:endParaRPr lang="pt-PT" sz="2200" b="0" u="none" strike="noStrike">
              <a:solidFill>
                <a:srgbClr val="000000"/>
              </a:solidFill>
              <a:effectLst/>
              <a:uFillTx/>
              <a:latin typeface="Arial"/>
            </a:endParaRPr>
          </a:p>
        </p:txBody>
      </p:sp>
      <p:sp>
        <p:nvSpPr>
          <p:cNvPr id="376" name="TextBox 10"/>
          <p:cNvSpPr/>
          <p:nvPr/>
        </p:nvSpPr>
        <p:spPr>
          <a:xfrm>
            <a:off x="713160" y="4544640"/>
            <a:ext cx="594000" cy="4568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007C78"/>
                </a:solidFill>
                <a:effectLst/>
                <a:uFillTx/>
                <a:latin typeface="Arial"/>
              </a:rPr>
              <a:t>P3</a:t>
            </a:r>
            <a:endParaRPr lang="pt-PT" sz="2300" b="0" u="none" strike="noStrike">
              <a:solidFill>
                <a:srgbClr val="000000"/>
              </a:solidFill>
              <a:effectLst/>
              <a:uFillTx/>
              <a:latin typeface="Arial"/>
            </a:endParaRPr>
          </a:p>
        </p:txBody>
      </p:sp>
      <p:sp>
        <p:nvSpPr>
          <p:cNvPr id="377" name="TextBox 11"/>
          <p:cNvSpPr/>
          <p:nvPr/>
        </p:nvSpPr>
        <p:spPr>
          <a:xfrm>
            <a:off x="1481400" y="4544640"/>
            <a:ext cx="9875160" cy="11883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200" b="0" u="none" strike="noStrike">
                <a:solidFill>
                  <a:srgbClr val="193536"/>
                </a:solidFill>
                <a:effectLst/>
                <a:uFillTx/>
                <a:latin typeface="Arial"/>
              </a:rPr>
              <a:t>Como é que o design industrial concilia requisitos anatómicos, funcionais, ergonómicos, estéticos e simbólicos, promovendo a aceitação, a dignidade e a autonomia?</a:t>
            </a:r>
            <a:endParaRPr lang="pt-PT"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378"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79"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APOIO · DESENHO DA AVALIAÇÃO</a:t>
            </a:r>
            <a:endParaRPr lang="pt-PT" sz="1100" b="0" u="none" strike="noStrike">
              <a:solidFill>
                <a:srgbClr val="000000"/>
              </a:solidFill>
              <a:effectLst/>
              <a:uFillTx/>
              <a:latin typeface="Arial"/>
            </a:endParaRPr>
          </a:p>
        </p:txBody>
      </p:sp>
      <p:sp>
        <p:nvSpPr>
          <p:cNvPr id="380"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Os números representam conjuntos diferentes</a:t>
            </a:r>
            <a:endParaRPr lang="pt-PT" sz="3200" b="0" u="none" strike="noStrike">
              <a:solidFill>
                <a:srgbClr val="000000"/>
              </a:solidFill>
              <a:effectLst/>
              <a:uFillTx/>
              <a:latin typeface="Arial"/>
            </a:endParaRPr>
          </a:p>
        </p:txBody>
      </p:sp>
      <p:sp>
        <p:nvSpPr>
          <p:cNvPr id="381"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Fonte: capítulo 8, Anexo D e CSV das Séries A/B e medições físicas.</a:t>
            </a:r>
            <a:endParaRPr lang="pt-PT" sz="1000" b="0" u="none" strike="noStrike">
              <a:solidFill>
                <a:srgbClr val="000000"/>
              </a:solidFill>
              <a:effectLst/>
              <a:uFillTx/>
              <a:latin typeface="Arial"/>
            </a:endParaRPr>
          </a:p>
        </p:txBody>
      </p:sp>
      <p:sp>
        <p:nvSpPr>
          <p:cNvPr id="382"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19</a:t>
            </a:r>
            <a:endParaRPr lang="pt-PT" sz="1100" b="0" u="none" strike="noStrike">
              <a:solidFill>
                <a:srgbClr val="000000"/>
              </a:solidFill>
              <a:effectLst/>
              <a:uFillTx/>
              <a:latin typeface="Arial"/>
            </a:endParaRPr>
          </a:p>
        </p:txBody>
      </p:sp>
      <p:sp>
        <p:nvSpPr>
          <p:cNvPr id="383" name="Rectangle 6"/>
          <p:cNvSpPr/>
          <p:nvPr/>
        </p:nvSpPr>
        <p:spPr>
          <a:xfrm>
            <a:off x="640080" y="1901880"/>
            <a:ext cx="3474360" cy="310860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84" name="TextBox 7"/>
          <p:cNvSpPr/>
          <p:nvPr/>
        </p:nvSpPr>
        <p:spPr>
          <a:xfrm>
            <a:off x="841320" y="2066400"/>
            <a:ext cx="30718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4</a:t>
            </a:r>
            <a:endParaRPr lang="pt-PT" sz="2800" b="0" u="none" strike="noStrike">
              <a:solidFill>
                <a:srgbClr val="000000"/>
              </a:solidFill>
              <a:effectLst/>
              <a:uFillTx/>
              <a:latin typeface="Arial"/>
            </a:endParaRPr>
          </a:p>
        </p:txBody>
      </p:sp>
      <p:sp>
        <p:nvSpPr>
          <p:cNvPr id="385" name="TextBox 8"/>
          <p:cNvSpPr/>
          <p:nvPr/>
        </p:nvSpPr>
        <p:spPr>
          <a:xfrm>
            <a:off x="841320" y="2697480"/>
            <a:ext cx="30718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Projetos da Série A</a:t>
            </a:r>
            <a:endParaRPr lang="pt-PT" sz="2300" b="0" u="none" strike="noStrike">
              <a:solidFill>
                <a:srgbClr val="000000"/>
              </a:solidFill>
              <a:effectLst/>
              <a:uFillTx/>
              <a:latin typeface="Arial"/>
            </a:endParaRPr>
          </a:p>
        </p:txBody>
      </p:sp>
      <p:sp>
        <p:nvSpPr>
          <p:cNvPr id="386" name="TextBox 9"/>
          <p:cNvSpPr/>
          <p:nvPr/>
        </p:nvSpPr>
        <p:spPr>
          <a:xfrm>
            <a:off x="841320" y="3547800"/>
            <a:ext cx="3071880" cy="13255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Condições diferentes. Comparação direta entre equipamentos limitada.</a:t>
            </a:r>
            <a:endParaRPr lang="pt-PT" sz="1900" b="0" u="none" strike="noStrike">
              <a:solidFill>
                <a:srgbClr val="000000"/>
              </a:solidFill>
              <a:effectLst/>
              <a:uFillTx/>
              <a:latin typeface="Arial"/>
            </a:endParaRPr>
          </a:p>
        </p:txBody>
      </p:sp>
      <p:sp>
        <p:nvSpPr>
          <p:cNvPr id="387" name="Rectangle 10"/>
          <p:cNvSpPr/>
          <p:nvPr/>
        </p:nvSpPr>
        <p:spPr>
          <a:xfrm>
            <a:off x="4343400" y="1901880"/>
            <a:ext cx="3474360" cy="310860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88" name="TextBox 11"/>
          <p:cNvSpPr/>
          <p:nvPr/>
        </p:nvSpPr>
        <p:spPr>
          <a:xfrm>
            <a:off x="4544640" y="2066400"/>
            <a:ext cx="30718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12</a:t>
            </a:r>
            <a:endParaRPr lang="pt-PT" sz="2800" b="0" u="none" strike="noStrike">
              <a:solidFill>
                <a:srgbClr val="000000"/>
              </a:solidFill>
              <a:effectLst/>
              <a:uFillTx/>
              <a:latin typeface="Arial"/>
            </a:endParaRPr>
          </a:p>
        </p:txBody>
      </p:sp>
      <p:sp>
        <p:nvSpPr>
          <p:cNvPr id="389" name="TextBox 12"/>
          <p:cNvSpPr/>
          <p:nvPr/>
        </p:nvSpPr>
        <p:spPr>
          <a:xfrm>
            <a:off x="4544640" y="2697480"/>
            <a:ext cx="30718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Casos da Série B</a:t>
            </a:r>
            <a:endParaRPr lang="pt-PT" sz="2300" b="0" u="none" strike="noStrike">
              <a:solidFill>
                <a:srgbClr val="000000"/>
              </a:solidFill>
              <a:effectLst/>
              <a:uFillTx/>
              <a:latin typeface="Arial"/>
            </a:endParaRPr>
          </a:p>
        </p:txBody>
      </p:sp>
      <p:sp>
        <p:nvSpPr>
          <p:cNvPr id="390" name="TextBox 13"/>
          <p:cNvSpPr/>
          <p:nvPr/>
        </p:nvSpPr>
        <p:spPr>
          <a:xfrm>
            <a:off x="4544640" y="3547800"/>
            <a:ext cx="3071880" cy="13255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3 modelos × 4 perfis. Preparação digital concluída, com avisos.</a:t>
            </a:r>
            <a:endParaRPr lang="pt-PT" sz="1900" b="0" u="none" strike="noStrike">
              <a:solidFill>
                <a:srgbClr val="000000"/>
              </a:solidFill>
              <a:effectLst/>
              <a:uFillTx/>
              <a:latin typeface="Arial"/>
            </a:endParaRPr>
          </a:p>
        </p:txBody>
      </p:sp>
      <p:sp>
        <p:nvSpPr>
          <p:cNvPr id="391" name="Rectangle 14"/>
          <p:cNvSpPr/>
          <p:nvPr/>
        </p:nvSpPr>
        <p:spPr>
          <a:xfrm>
            <a:off x="8046720" y="1901880"/>
            <a:ext cx="3474360" cy="310860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92" name="TextBox 15"/>
          <p:cNvSpPr/>
          <p:nvPr/>
        </p:nvSpPr>
        <p:spPr>
          <a:xfrm>
            <a:off x="8247960" y="2066400"/>
            <a:ext cx="30718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72</a:t>
            </a:r>
            <a:endParaRPr lang="pt-PT" sz="2800" b="0" u="none" strike="noStrike">
              <a:solidFill>
                <a:srgbClr val="000000"/>
              </a:solidFill>
              <a:effectLst/>
              <a:uFillTx/>
              <a:latin typeface="Arial"/>
            </a:endParaRPr>
          </a:p>
        </p:txBody>
      </p:sp>
      <p:sp>
        <p:nvSpPr>
          <p:cNvPr id="393" name="TextBox 16"/>
          <p:cNvSpPr/>
          <p:nvPr/>
        </p:nvSpPr>
        <p:spPr>
          <a:xfrm>
            <a:off x="8247960" y="2697480"/>
            <a:ext cx="30718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Medições físicas</a:t>
            </a:r>
            <a:endParaRPr lang="pt-PT" sz="2300" b="0" u="none" strike="noStrike">
              <a:solidFill>
                <a:srgbClr val="000000"/>
              </a:solidFill>
              <a:effectLst/>
              <a:uFillTx/>
              <a:latin typeface="Arial"/>
            </a:endParaRPr>
          </a:p>
        </p:txBody>
      </p:sp>
      <p:sp>
        <p:nvSpPr>
          <p:cNvPr id="394" name="TextBox 17"/>
          <p:cNvSpPr/>
          <p:nvPr/>
        </p:nvSpPr>
        <p:spPr>
          <a:xfrm>
            <a:off x="8247960" y="3547800"/>
            <a:ext cx="3071880" cy="13255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3 modelos × 4 perfis × 3 eixos × 2 materiais. Uma leitura por combinação.</a:t>
            </a:r>
            <a:endParaRPr lang="pt-PT" sz="1900" b="0" u="none" strike="noStrike">
              <a:solidFill>
                <a:srgbClr val="000000"/>
              </a:solidFill>
              <a:effectLst/>
              <a:uFillTx/>
              <a:latin typeface="Arial"/>
            </a:endParaRPr>
          </a:p>
        </p:txBody>
      </p:sp>
      <p:sp>
        <p:nvSpPr>
          <p:cNvPr id="395" name="TextBox 18"/>
          <p:cNvSpPr/>
          <p:nvPr/>
        </p:nvSpPr>
        <p:spPr>
          <a:xfrm>
            <a:off x="877680" y="5559480"/>
            <a:ext cx="10240920" cy="4111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100" b="1" u="none" strike="noStrike">
                <a:solidFill>
                  <a:srgbClr val="007C78"/>
                </a:solidFill>
                <a:effectLst/>
                <a:uFillTx/>
                <a:latin typeface="Arial"/>
              </a:rPr>
              <a:t>Perfis de ensaio: 8, 15, 28 e 70 anos. Não correspondem a participantes.</a:t>
            </a:r>
            <a:endParaRPr lang="pt-PT" sz="2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396"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97"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APOIO · COMPARAÇÃO DIMENSIONAL</a:t>
            </a:r>
            <a:endParaRPr lang="pt-PT" sz="1100" b="0" u="none" strike="noStrike">
              <a:solidFill>
                <a:srgbClr val="000000"/>
              </a:solidFill>
              <a:effectLst/>
              <a:uFillTx/>
              <a:latin typeface="Arial"/>
            </a:endParaRPr>
          </a:p>
        </p:txBody>
      </p:sp>
      <p:sp>
        <p:nvSpPr>
          <p:cNvPr id="398"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Valores registados: amplitude por grupo</a:t>
            </a:r>
            <a:endParaRPr lang="pt-PT" sz="3200" b="0" u="none" strike="noStrike">
              <a:solidFill>
                <a:srgbClr val="000000"/>
              </a:solidFill>
              <a:effectLst/>
              <a:uFillTx/>
              <a:latin typeface="Arial"/>
            </a:endParaRPr>
          </a:p>
        </p:txBody>
      </p:sp>
      <p:sp>
        <p:nvSpPr>
          <p:cNvPr id="399"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Fonte: comparacao_dimensional_72_medicoes.csv · Diferença = dimensão física − dimensão da malha.</a:t>
            </a:r>
            <a:endParaRPr lang="pt-PT" sz="1000" b="0" u="none" strike="noStrike">
              <a:solidFill>
                <a:srgbClr val="000000"/>
              </a:solidFill>
              <a:effectLst/>
              <a:uFillTx/>
              <a:latin typeface="Arial"/>
            </a:endParaRPr>
          </a:p>
        </p:txBody>
      </p:sp>
      <p:sp>
        <p:nvSpPr>
          <p:cNvPr id="400"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20</a:t>
            </a:r>
            <a:endParaRPr lang="pt-PT" sz="1100" b="0" u="none" strike="noStrike">
              <a:solidFill>
                <a:srgbClr val="000000"/>
              </a:solidFill>
              <a:effectLst/>
              <a:uFillTx/>
              <a:latin typeface="Arial"/>
            </a:endParaRPr>
          </a:p>
        </p:txBody>
      </p:sp>
      <p:sp>
        <p:nvSpPr>
          <p:cNvPr id="401" name="TextBox 6"/>
          <p:cNvSpPr/>
          <p:nvPr/>
        </p:nvSpPr>
        <p:spPr>
          <a:xfrm>
            <a:off x="822960" y="1764720"/>
            <a:ext cx="3657240" cy="319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300" b="1" u="none" strike="noStrike">
                <a:solidFill>
                  <a:srgbClr val="007C78"/>
                </a:solidFill>
                <a:effectLst/>
                <a:uFillTx/>
                <a:latin typeface="Arial"/>
              </a:rPr>
              <a:t>MODELO / MATERIAL</a:t>
            </a:r>
            <a:endParaRPr lang="pt-PT" sz="1300" b="0" u="none" strike="noStrike">
              <a:solidFill>
                <a:srgbClr val="000000"/>
              </a:solidFill>
              <a:effectLst/>
              <a:uFillTx/>
              <a:latin typeface="Arial"/>
            </a:endParaRPr>
          </a:p>
        </p:txBody>
      </p:sp>
      <p:sp>
        <p:nvSpPr>
          <p:cNvPr id="402" name="TextBox 7"/>
          <p:cNvSpPr/>
          <p:nvPr/>
        </p:nvSpPr>
        <p:spPr>
          <a:xfrm>
            <a:off x="5486400" y="1764720"/>
            <a:ext cx="2742840" cy="319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300" b="1" u="none" strike="noStrike">
                <a:solidFill>
                  <a:srgbClr val="007C78"/>
                </a:solidFill>
                <a:effectLst/>
                <a:uFillTx/>
                <a:latin typeface="Arial"/>
              </a:rPr>
              <a:t>MÍNIMO (mm)</a:t>
            </a:r>
            <a:endParaRPr lang="pt-PT" sz="1300" b="0" u="none" strike="noStrike">
              <a:solidFill>
                <a:srgbClr val="000000"/>
              </a:solidFill>
              <a:effectLst/>
              <a:uFillTx/>
              <a:latin typeface="Arial"/>
            </a:endParaRPr>
          </a:p>
        </p:txBody>
      </p:sp>
      <p:sp>
        <p:nvSpPr>
          <p:cNvPr id="403" name="TextBox 8"/>
          <p:cNvSpPr/>
          <p:nvPr/>
        </p:nvSpPr>
        <p:spPr>
          <a:xfrm>
            <a:off x="8229600" y="1764720"/>
            <a:ext cx="2742840" cy="3196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300" b="1" u="none" strike="noStrike">
                <a:solidFill>
                  <a:srgbClr val="007C78"/>
                </a:solidFill>
                <a:effectLst/>
                <a:uFillTx/>
                <a:latin typeface="Arial"/>
              </a:rPr>
              <a:t>MÁXIMO (mm)</a:t>
            </a:r>
            <a:endParaRPr lang="pt-PT" sz="1300" b="0" u="none" strike="noStrike">
              <a:solidFill>
                <a:srgbClr val="000000"/>
              </a:solidFill>
              <a:effectLst/>
              <a:uFillTx/>
              <a:latin typeface="Arial"/>
            </a:endParaRPr>
          </a:p>
        </p:txBody>
      </p:sp>
      <p:sp>
        <p:nvSpPr>
          <p:cNvPr id="404" name="Rectangle 9"/>
          <p:cNvSpPr/>
          <p:nvPr/>
        </p:nvSpPr>
        <p:spPr>
          <a:xfrm>
            <a:off x="640080" y="2286000"/>
            <a:ext cx="10881000" cy="4935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05" name="TextBox 10"/>
          <p:cNvSpPr/>
          <p:nvPr/>
        </p:nvSpPr>
        <p:spPr>
          <a:xfrm>
            <a:off x="868680" y="2322720"/>
            <a:ext cx="4571640" cy="383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193536"/>
                </a:solidFill>
                <a:effectLst/>
                <a:uFillTx/>
                <a:latin typeface="Arial"/>
              </a:rPr>
              <a:t>Flexy Beast · PLA</a:t>
            </a:r>
            <a:endParaRPr lang="pt-PT" sz="1800" b="0" u="none" strike="noStrike">
              <a:solidFill>
                <a:srgbClr val="000000"/>
              </a:solidFill>
              <a:effectLst/>
              <a:uFillTx/>
              <a:latin typeface="Arial"/>
            </a:endParaRPr>
          </a:p>
        </p:txBody>
      </p:sp>
      <p:sp>
        <p:nvSpPr>
          <p:cNvPr id="406" name="TextBox 11"/>
          <p:cNvSpPr/>
          <p:nvPr/>
        </p:nvSpPr>
        <p:spPr>
          <a:xfrm>
            <a:off x="5486400" y="2322720"/>
            <a:ext cx="2285640" cy="383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1" u="none" strike="noStrike">
                <a:solidFill>
                  <a:srgbClr val="007C78"/>
                </a:solidFill>
                <a:effectLst/>
                <a:uFillTx/>
                <a:latin typeface="Arial"/>
              </a:rPr>
              <a:t>-0,398</a:t>
            </a:r>
            <a:endParaRPr lang="pt-PT" sz="1900" b="0" u="none" strike="noStrike">
              <a:solidFill>
                <a:srgbClr val="000000"/>
              </a:solidFill>
              <a:effectLst/>
              <a:uFillTx/>
              <a:latin typeface="Arial"/>
            </a:endParaRPr>
          </a:p>
        </p:txBody>
      </p:sp>
      <p:sp>
        <p:nvSpPr>
          <p:cNvPr id="407" name="TextBox 12"/>
          <p:cNvSpPr/>
          <p:nvPr/>
        </p:nvSpPr>
        <p:spPr>
          <a:xfrm>
            <a:off x="8229600" y="2322720"/>
            <a:ext cx="2285640" cy="383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1" u="none" strike="noStrike">
                <a:solidFill>
                  <a:srgbClr val="007C78"/>
                </a:solidFill>
                <a:effectLst/>
                <a:uFillTx/>
                <a:latin typeface="Arial"/>
              </a:rPr>
              <a:t>-0,108</a:t>
            </a:r>
            <a:endParaRPr lang="pt-PT" sz="1900" b="0" u="none" strike="noStrike">
              <a:solidFill>
                <a:srgbClr val="000000"/>
              </a:solidFill>
              <a:effectLst/>
              <a:uFillTx/>
              <a:latin typeface="Arial"/>
            </a:endParaRPr>
          </a:p>
        </p:txBody>
      </p:sp>
      <p:sp>
        <p:nvSpPr>
          <p:cNvPr id="408" name="Rectangle 13"/>
          <p:cNvSpPr/>
          <p:nvPr/>
        </p:nvSpPr>
        <p:spPr>
          <a:xfrm>
            <a:off x="640080" y="2843640"/>
            <a:ext cx="10881000" cy="4935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09" name="TextBox 14"/>
          <p:cNvSpPr/>
          <p:nvPr/>
        </p:nvSpPr>
        <p:spPr>
          <a:xfrm>
            <a:off x="868680" y="2880360"/>
            <a:ext cx="4571640" cy="383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193536"/>
                </a:solidFill>
                <a:effectLst/>
                <a:uFillTx/>
                <a:latin typeface="Arial"/>
              </a:rPr>
              <a:t>Flexy Beast · PETG</a:t>
            </a:r>
            <a:endParaRPr lang="pt-PT" sz="1800" b="0" u="none" strike="noStrike">
              <a:solidFill>
                <a:srgbClr val="000000"/>
              </a:solidFill>
              <a:effectLst/>
              <a:uFillTx/>
              <a:latin typeface="Arial"/>
            </a:endParaRPr>
          </a:p>
        </p:txBody>
      </p:sp>
      <p:sp>
        <p:nvSpPr>
          <p:cNvPr id="410" name="TextBox 15"/>
          <p:cNvSpPr/>
          <p:nvPr/>
        </p:nvSpPr>
        <p:spPr>
          <a:xfrm>
            <a:off x="5486400" y="2880360"/>
            <a:ext cx="2285640" cy="383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1" u="none" strike="noStrike">
                <a:solidFill>
                  <a:srgbClr val="007C78"/>
                </a:solidFill>
                <a:effectLst/>
                <a:uFillTx/>
                <a:latin typeface="Arial"/>
              </a:rPr>
              <a:t>-0,527</a:t>
            </a:r>
            <a:endParaRPr lang="pt-PT" sz="1900" b="0" u="none" strike="noStrike">
              <a:solidFill>
                <a:srgbClr val="000000"/>
              </a:solidFill>
              <a:effectLst/>
              <a:uFillTx/>
              <a:latin typeface="Arial"/>
            </a:endParaRPr>
          </a:p>
        </p:txBody>
      </p:sp>
      <p:sp>
        <p:nvSpPr>
          <p:cNvPr id="411" name="TextBox 16"/>
          <p:cNvSpPr/>
          <p:nvPr/>
        </p:nvSpPr>
        <p:spPr>
          <a:xfrm>
            <a:off x="8229600" y="2880360"/>
            <a:ext cx="2285640" cy="383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1" u="none" strike="noStrike">
                <a:solidFill>
                  <a:srgbClr val="007C78"/>
                </a:solidFill>
                <a:effectLst/>
                <a:uFillTx/>
                <a:latin typeface="Arial"/>
              </a:rPr>
              <a:t>-0,137</a:t>
            </a:r>
            <a:endParaRPr lang="pt-PT" sz="1900" b="0" u="none" strike="noStrike">
              <a:solidFill>
                <a:srgbClr val="000000"/>
              </a:solidFill>
              <a:effectLst/>
              <a:uFillTx/>
              <a:latin typeface="Arial"/>
            </a:endParaRPr>
          </a:p>
        </p:txBody>
      </p:sp>
      <p:sp>
        <p:nvSpPr>
          <p:cNvPr id="412" name="Rectangle 17"/>
          <p:cNvSpPr/>
          <p:nvPr/>
        </p:nvSpPr>
        <p:spPr>
          <a:xfrm>
            <a:off x="640080" y="3401640"/>
            <a:ext cx="10881000" cy="4935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13" name="TextBox 18"/>
          <p:cNvSpPr/>
          <p:nvPr/>
        </p:nvSpPr>
        <p:spPr>
          <a:xfrm>
            <a:off x="868680" y="3438000"/>
            <a:ext cx="4571640" cy="383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193536"/>
                </a:solidFill>
                <a:effectLst/>
                <a:uFillTx/>
                <a:latin typeface="Arial"/>
              </a:rPr>
              <a:t>Paraglider Hand · PLA</a:t>
            </a:r>
            <a:endParaRPr lang="pt-PT" sz="1800" b="0" u="none" strike="noStrike">
              <a:solidFill>
                <a:srgbClr val="000000"/>
              </a:solidFill>
              <a:effectLst/>
              <a:uFillTx/>
              <a:latin typeface="Arial"/>
            </a:endParaRPr>
          </a:p>
        </p:txBody>
      </p:sp>
      <p:sp>
        <p:nvSpPr>
          <p:cNvPr id="414" name="TextBox 19"/>
          <p:cNvSpPr/>
          <p:nvPr/>
        </p:nvSpPr>
        <p:spPr>
          <a:xfrm>
            <a:off x="5486400" y="3438000"/>
            <a:ext cx="2285640" cy="383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1" u="none" strike="noStrike">
                <a:solidFill>
                  <a:srgbClr val="007C78"/>
                </a:solidFill>
                <a:effectLst/>
                <a:uFillTx/>
                <a:latin typeface="Arial"/>
              </a:rPr>
              <a:t>-0,375</a:t>
            </a:r>
            <a:endParaRPr lang="pt-PT" sz="1900" b="0" u="none" strike="noStrike">
              <a:solidFill>
                <a:srgbClr val="000000"/>
              </a:solidFill>
              <a:effectLst/>
              <a:uFillTx/>
              <a:latin typeface="Arial"/>
            </a:endParaRPr>
          </a:p>
        </p:txBody>
      </p:sp>
      <p:sp>
        <p:nvSpPr>
          <p:cNvPr id="415" name="TextBox 20"/>
          <p:cNvSpPr/>
          <p:nvPr/>
        </p:nvSpPr>
        <p:spPr>
          <a:xfrm>
            <a:off x="8229600" y="3438000"/>
            <a:ext cx="2285640" cy="383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1" u="none" strike="noStrike">
                <a:solidFill>
                  <a:srgbClr val="007C78"/>
                </a:solidFill>
                <a:effectLst/>
                <a:uFillTx/>
                <a:latin typeface="Arial"/>
              </a:rPr>
              <a:t>-0,089</a:t>
            </a:r>
            <a:endParaRPr lang="pt-PT" sz="1900" b="0" u="none" strike="noStrike">
              <a:solidFill>
                <a:srgbClr val="000000"/>
              </a:solidFill>
              <a:effectLst/>
              <a:uFillTx/>
              <a:latin typeface="Arial"/>
            </a:endParaRPr>
          </a:p>
        </p:txBody>
      </p:sp>
      <p:sp>
        <p:nvSpPr>
          <p:cNvPr id="416" name="Rectangle 21"/>
          <p:cNvSpPr/>
          <p:nvPr/>
        </p:nvSpPr>
        <p:spPr>
          <a:xfrm>
            <a:off x="640080" y="3959280"/>
            <a:ext cx="10881000" cy="4935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17" name="TextBox 22"/>
          <p:cNvSpPr/>
          <p:nvPr/>
        </p:nvSpPr>
        <p:spPr>
          <a:xfrm>
            <a:off x="868680" y="3996000"/>
            <a:ext cx="4571640" cy="383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193536"/>
                </a:solidFill>
                <a:effectLst/>
                <a:uFillTx/>
                <a:latin typeface="Arial"/>
              </a:rPr>
              <a:t>Paraglider Hand · PETG</a:t>
            </a:r>
            <a:endParaRPr lang="pt-PT" sz="1800" b="0" u="none" strike="noStrike">
              <a:solidFill>
                <a:srgbClr val="000000"/>
              </a:solidFill>
              <a:effectLst/>
              <a:uFillTx/>
              <a:latin typeface="Arial"/>
            </a:endParaRPr>
          </a:p>
        </p:txBody>
      </p:sp>
      <p:sp>
        <p:nvSpPr>
          <p:cNvPr id="418" name="TextBox 23"/>
          <p:cNvSpPr/>
          <p:nvPr/>
        </p:nvSpPr>
        <p:spPr>
          <a:xfrm>
            <a:off x="5486400" y="3996000"/>
            <a:ext cx="2285640" cy="383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1" u="none" strike="noStrike">
                <a:solidFill>
                  <a:srgbClr val="007C78"/>
                </a:solidFill>
                <a:effectLst/>
                <a:uFillTx/>
                <a:latin typeface="Arial"/>
              </a:rPr>
              <a:t>-0,523</a:t>
            </a:r>
            <a:endParaRPr lang="pt-PT" sz="1900" b="0" u="none" strike="noStrike">
              <a:solidFill>
                <a:srgbClr val="000000"/>
              </a:solidFill>
              <a:effectLst/>
              <a:uFillTx/>
              <a:latin typeface="Arial"/>
            </a:endParaRPr>
          </a:p>
        </p:txBody>
      </p:sp>
      <p:sp>
        <p:nvSpPr>
          <p:cNvPr id="419" name="TextBox 24"/>
          <p:cNvSpPr/>
          <p:nvPr/>
        </p:nvSpPr>
        <p:spPr>
          <a:xfrm>
            <a:off x="8229600" y="3996000"/>
            <a:ext cx="2285640" cy="383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1" u="none" strike="noStrike">
                <a:solidFill>
                  <a:srgbClr val="007C78"/>
                </a:solidFill>
                <a:effectLst/>
                <a:uFillTx/>
                <a:latin typeface="Arial"/>
              </a:rPr>
              <a:t>-0,117</a:t>
            </a:r>
            <a:endParaRPr lang="pt-PT" sz="1900" b="0" u="none" strike="noStrike">
              <a:solidFill>
                <a:srgbClr val="000000"/>
              </a:solidFill>
              <a:effectLst/>
              <a:uFillTx/>
              <a:latin typeface="Arial"/>
            </a:endParaRPr>
          </a:p>
        </p:txBody>
      </p:sp>
      <p:sp>
        <p:nvSpPr>
          <p:cNvPr id="420" name="Rectangle 25"/>
          <p:cNvSpPr/>
          <p:nvPr/>
        </p:nvSpPr>
        <p:spPr>
          <a:xfrm>
            <a:off x="640080" y="4517280"/>
            <a:ext cx="10881000" cy="4935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21" name="TextBox 26"/>
          <p:cNvSpPr/>
          <p:nvPr/>
        </p:nvSpPr>
        <p:spPr>
          <a:xfrm>
            <a:off x="868680" y="4553640"/>
            <a:ext cx="4571640" cy="383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193536"/>
                </a:solidFill>
                <a:effectLst/>
                <a:uFillTx/>
                <a:latin typeface="Arial"/>
              </a:rPr>
              <a:t>UnLimbited Phoenix · PLA</a:t>
            </a:r>
            <a:endParaRPr lang="pt-PT" sz="1800" b="0" u="none" strike="noStrike">
              <a:solidFill>
                <a:srgbClr val="000000"/>
              </a:solidFill>
              <a:effectLst/>
              <a:uFillTx/>
              <a:latin typeface="Arial"/>
            </a:endParaRPr>
          </a:p>
        </p:txBody>
      </p:sp>
      <p:sp>
        <p:nvSpPr>
          <p:cNvPr id="422" name="TextBox 27"/>
          <p:cNvSpPr/>
          <p:nvPr/>
        </p:nvSpPr>
        <p:spPr>
          <a:xfrm>
            <a:off x="5486400" y="4553640"/>
            <a:ext cx="2285640" cy="383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1" u="none" strike="noStrike">
                <a:solidFill>
                  <a:srgbClr val="007C78"/>
                </a:solidFill>
                <a:effectLst/>
                <a:uFillTx/>
                <a:latin typeface="Arial"/>
              </a:rPr>
              <a:t>-0,302</a:t>
            </a:r>
            <a:endParaRPr lang="pt-PT" sz="1900" b="0" u="none" strike="noStrike">
              <a:solidFill>
                <a:srgbClr val="000000"/>
              </a:solidFill>
              <a:effectLst/>
              <a:uFillTx/>
              <a:latin typeface="Arial"/>
            </a:endParaRPr>
          </a:p>
        </p:txBody>
      </p:sp>
      <p:sp>
        <p:nvSpPr>
          <p:cNvPr id="423" name="TextBox 28"/>
          <p:cNvSpPr/>
          <p:nvPr/>
        </p:nvSpPr>
        <p:spPr>
          <a:xfrm>
            <a:off x="8229600" y="4553640"/>
            <a:ext cx="2285640" cy="383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1" u="none" strike="noStrike">
                <a:solidFill>
                  <a:srgbClr val="007C78"/>
                </a:solidFill>
                <a:effectLst/>
                <a:uFillTx/>
                <a:latin typeface="Arial"/>
              </a:rPr>
              <a:t>-0,084</a:t>
            </a:r>
            <a:endParaRPr lang="pt-PT" sz="1900" b="0" u="none" strike="noStrike">
              <a:solidFill>
                <a:srgbClr val="000000"/>
              </a:solidFill>
              <a:effectLst/>
              <a:uFillTx/>
              <a:latin typeface="Arial"/>
            </a:endParaRPr>
          </a:p>
        </p:txBody>
      </p:sp>
      <p:sp>
        <p:nvSpPr>
          <p:cNvPr id="424" name="Rectangle 29"/>
          <p:cNvSpPr/>
          <p:nvPr/>
        </p:nvSpPr>
        <p:spPr>
          <a:xfrm>
            <a:off x="640080" y="5074920"/>
            <a:ext cx="10881000" cy="4935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25" name="TextBox 30"/>
          <p:cNvSpPr/>
          <p:nvPr/>
        </p:nvSpPr>
        <p:spPr>
          <a:xfrm>
            <a:off x="868680" y="5111640"/>
            <a:ext cx="4571640" cy="383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0" u="none" strike="noStrike">
                <a:solidFill>
                  <a:srgbClr val="193536"/>
                </a:solidFill>
                <a:effectLst/>
                <a:uFillTx/>
                <a:latin typeface="Arial"/>
              </a:rPr>
              <a:t>UnLimbited Phoenix · PETG</a:t>
            </a:r>
            <a:endParaRPr lang="pt-PT" sz="1800" b="0" u="none" strike="noStrike">
              <a:solidFill>
                <a:srgbClr val="000000"/>
              </a:solidFill>
              <a:effectLst/>
              <a:uFillTx/>
              <a:latin typeface="Arial"/>
            </a:endParaRPr>
          </a:p>
        </p:txBody>
      </p:sp>
      <p:sp>
        <p:nvSpPr>
          <p:cNvPr id="426" name="TextBox 31"/>
          <p:cNvSpPr/>
          <p:nvPr/>
        </p:nvSpPr>
        <p:spPr>
          <a:xfrm>
            <a:off x="5486400" y="5111640"/>
            <a:ext cx="2285640" cy="383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1" u="none" strike="noStrike">
                <a:solidFill>
                  <a:srgbClr val="007C78"/>
                </a:solidFill>
                <a:effectLst/>
                <a:uFillTx/>
                <a:latin typeface="Arial"/>
              </a:rPr>
              <a:t>-0,414</a:t>
            </a:r>
            <a:endParaRPr lang="pt-PT" sz="1900" b="0" u="none" strike="noStrike">
              <a:solidFill>
                <a:srgbClr val="000000"/>
              </a:solidFill>
              <a:effectLst/>
              <a:uFillTx/>
              <a:latin typeface="Arial"/>
            </a:endParaRPr>
          </a:p>
        </p:txBody>
      </p:sp>
      <p:sp>
        <p:nvSpPr>
          <p:cNvPr id="427" name="TextBox 32"/>
          <p:cNvSpPr/>
          <p:nvPr/>
        </p:nvSpPr>
        <p:spPr>
          <a:xfrm>
            <a:off x="8229600" y="5111640"/>
            <a:ext cx="2285640" cy="3837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1" u="none" strike="noStrike">
                <a:solidFill>
                  <a:srgbClr val="007C78"/>
                </a:solidFill>
                <a:effectLst/>
                <a:uFillTx/>
                <a:latin typeface="Arial"/>
              </a:rPr>
              <a:t>-0,121</a:t>
            </a:r>
            <a:endParaRPr lang="pt-PT" sz="1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428"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29"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APOIO · ALCANCE DA EVIDÊNCIA FÍSICA</a:t>
            </a:r>
            <a:endParaRPr lang="pt-PT" sz="1100" b="0" u="none" strike="noStrike">
              <a:solidFill>
                <a:srgbClr val="000000"/>
              </a:solidFill>
              <a:effectLst/>
              <a:uFillTx/>
              <a:latin typeface="Arial"/>
            </a:endParaRPr>
          </a:p>
        </p:txBody>
      </p:sp>
      <p:sp>
        <p:nvSpPr>
          <p:cNvPr id="430"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Phoenix: uma montagem observada em bancada</a:t>
            </a:r>
            <a:endParaRPr lang="pt-PT" sz="3200" b="0" u="none" strike="noStrike">
              <a:solidFill>
                <a:srgbClr val="000000"/>
              </a:solidFill>
              <a:effectLst/>
              <a:uFillTx/>
              <a:latin typeface="Arial"/>
            </a:endParaRPr>
          </a:p>
        </p:txBody>
      </p:sp>
      <p:sp>
        <p:nvSpPr>
          <p:cNvPr id="431"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Fonte: Figura 29 e montagem_phoenix_15_anos.csv · Espécime PHX-TEEN15-MONT-001.</a:t>
            </a:r>
            <a:endParaRPr lang="pt-PT" sz="1000" b="0" u="none" strike="noStrike">
              <a:solidFill>
                <a:srgbClr val="000000"/>
              </a:solidFill>
              <a:effectLst/>
              <a:uFillTx/>
              <a:latin typeface="Arial"/>
            </a:endParaRPr>
          </a:p>
        </p:txBody>
      </p:sp>
      <p:sp>
        <p:nvSpPr>
          <p:cNvPr id="432"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21</a:t>
            </a:r>
            <a:endParaRPr lang="pt-PT" sz="1100" b="0" u="none" strike="noStrike">
              <a:solidFill>
                <a:srgbClr val="000000"/>
              </a:solidFill>
              <a:effectLst/>
              <a:uFillTx/>
              <a:latin typeface="Arial"/>
            </a:endParaRPr>
          </a:p>
        </p:txBody>
      </p:sp>
      <p:sp>
        <p:nvSpPr>
          <p:cNvPr id="433" name="Rectangle 6"/>
          <p:cNvSpPr/>
          <p:nvPr/>
        </p:nvSpPr>
        <p:spPr>
          <a:xfrm>
            <a:off x="640080" y="1837800"/>
            <a:ext cx="7314840" cy="356580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434" name="Picture 7" descr="figura_29_1.jpg"/>
          <p:cNvPicPr/>
          <p:nvPr/>
        </p:nvPicPr>
        <p:blipFill>
          <a:blip r:embed="rId1"/>
          <a:stretch/>
        </p:blipFill>
        <p:spPr>
          <a:xfrm>
            <a:off x="640080" y="2225160"/>
            <a:ext cx="7314840" cy="2791440"/>
          </a:xfrm>
          <a:prstGeom prst="rect">
            <a:avLst/>
          </a:prstGeom>
          <a:noFill/>
          <a:ln w="0">
            <a:noFill/>
          </a:ln>
        </p:spPr>
      </p:pic>
      <p:sp>
        <p:nvSpPr>
          <p:cNvPr id="435" name="TextBox 8"/>
          <p:cNvSpPr/>
          <p:nvPr/>
        </p:nvSpPr>
        <p:spPr>
          <a:xfrm>
            <a:off x="8256960" y="1993320"/>
            <a:ext cx="3200040" cy="11883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400" b="1" u="none" strike="noStrike">
                <a:solidFill>
                  <a:srgbClr val="007C78"/>
                </a:solidFill>
                <a:effectLst/>
                <a:uFillTx/>
                <a:latin typeface="Arial"/>
              </a:rPr>
              <a:t>1 espécime</a:t>
            </a:r>
            <a:endParaRPr lang="pt-PT" sz="2400" b="0" u="none" strike="noStrike">
              <a:solidFill>
                <a:srgbClr val="000000"/>
              </a:solidFill>
              <a:effectLst/>
              <a:uFillTx/>
              <a:latin typeface="Arial"/>
            </a:endParaRPr>
          </a:p>
          <a:p>
            <a:pPr defTabSz="457200">
              <a:lnSpc>
                <a:spcPct val="110000"/>
              </a:lnSpc>
              <a:spcAft>
                <a:spcPts val="700"/>
              </a:spcAft>
            </a:pPr>
            <a:r>
              <a:rPr lang="en-US" sz="2400" b="1" u="none" strike="noStrike">
                <a:solidFill>
                  <a:srgbClr val="007C78"/>
                </a:solidFill>
                <a:effectLst/>
                <a:uFillTx/>
                <a:latin typeface="Arial"/>
              </a:rPr>
              <a:t>PLA · perfil de 15 anos</a:t>
            </a:r>
            <a:endParaRPr lang="pt-PT" sz="2400" b="0" u="none" strike="noStrike">
              <a:solidFill>
                <a:srgbClr val="000000"/>
              </a:solidFill>
              <a:effectLst/>
              <a:uFillTx/>
              <a:latin typeface="Arial"/>
            </a:endParaRPr>
          </a:p>
        </p:txBody>
      </p:sp>
      <p:sp>
        <p:nvSpPr>
          <p:cNvPr id="436" name="TextBox 9"/>
          <p:cNvSpPr/>
          <p:nvPr/>
        </p:nvSpPr>
        <p:spPr>
          <a:xfrm>
            <a:off x="8256960" y="3493080"/>
            <a:ext cx="3200040" cy="21301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100" b="0" u="none" strike="noStrike">
                <a:solidFill>
                  <a:srgbClr val="193536"/>
                </a:solidFill>
                <a:effectLst/>
                <a:uFillTx/>
                <a:latin typeface="Arial"/>
              </a:rPr>
              <a:t>Movimento manual observado.</a:t>
            </a:r>
            <a:endParaRPr lang="pt-PT" sz="2100" b="0" u="none" strike="noStrike">
              <a:solidFill>
                <a:srgbClr val="000000"/>
              </a:solidFill>
              <a:effectLst/>
              <a:uFillTx/>
              <a:latin typeface="Arial"/>
            </a:endParaRPr>
          </a:p>
          <a:p>
            <a:pPr defTabSz="457200">
              <a:lnSpc>
                <a:spcPct val="110000"/>
              </a:lnSpc>
              <a:spcAft>
                <a:spcPts val="700"/>
              </a:spcAft>
            </a:pPr>
            <a:r>
              <a:rPr lang="en-US" sz="2100" b="0" u="none" strike="noStrike">
                <a:solidFill>
                  <a:srgbClr val="193536"/>
                </a:solidFill>
                <a:effectLst/>
                <a:uFillTx/>
                <a:latin typeface="Arial"/>
              </a:rPr>
              <a:t>Elásticos substituídos.</a:t>
            </a:r>
            <a:endParaRPr lang="pt-PT" sz="2100" b="0" u="none" strike="noStrike">
              <a:solidFill>
                <a:srgbClr val="000000"/>
              </a:solidFill>
              <a:effectLst/>
              <a:uFillTx/>
              <a:latin typeface="Arial"/>
            </a:endParaRPr>
          </a:p>
          <a:p>
            <a:pPr defTabSz="457200">
              <a:lnSpc>
                <a:spcPct val="110000"/>
              </a:lnSpc>
              <a:spcAft>
                <a:spcPts val="700"/>
              </a:spcAft>
            </a:pPr>
            <a:r>
              <a:rPr lang="en-US" sz="2100" b="0" u="none" strike="noStrike">
                <a:solidFill>
                  <a:srgbClr val="193536"/>
                </a:solidFill>
                <a:effectLst/>
                <a:uFillTx/>
                <a:latin typeface="Arial"/>
              </a:rPr>
              <a:t>Número de ciclos não registado.</a:t>
            </a:r>
            <a:endParaRPr lang="pt-PT" sz="2100" b="0" u="none" strike="noStrike">
              <a:solidFill>
                <a:srgbClr val="000000"/>
              </a:solidFill>
              <a:effectLst/>
              <a:uFillTx/>
              <a:latin typeface="Arial"/>
            </a:endParaRPr>
          </a:p>
        </p:txBody>
      </p:sp>
      <p:sp>
        <p:nvSpPr>
          <p:cNvPr id="437" name="TextBox 10"/>
          <p:cNvSpPr/>
          <p:nvPr/>
        </p:nvSpPr>
        <p:spPr>
          <a:xfrm>
            <a:off x="859680" y="5715000"/>
            <a:ext cx="10423800" cy="3654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100" b="1" u="none" strike="noStrike">
                <a:solidFill>
                  <a:srgbClr val="007C78"/>
                </a:solidFill>
                <a:effectLst/>
                <a:uFillTx/>
                <a:latin typeface="Arial"/>
              </a:rPr>
              <a:t>Observação de montagem e movimento; sem avaliação em utilização protésica.</a:t>
            </a:r>
            <a:endParaRPr lang="pt-PT" sz="2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438"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39"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APOIO · VERIFICAÇÕES DA PLATAFORMA</a:t>
            </a:r>
            <a:endParaRPr lang="pt-PT" sz="1100" b="0" u="none" strike="noStrike">
              <a:solidFill>
                <a:srgbClr val="000000"/>
              </a:solidFill>
              <a:effectLst/>
              <a:uFillTx/>
              <a:latin typeface="Arial"/>
            </a:endParaRPr>
          </a:p>
        </p:txBody>
      </p:sp>
      <p:sp>
        <p:nvSpPr>
          <p:cNvPr id="440"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Repetição e acessibilidade: resultados delimitados</a:t>
            </a:r>
            <a:endParaRPr lang="pt-PT" sz="3200" b="0" u="none" strike="noStrike">
              <a:solidFill>
                <a:srgbClr val="000000"/>
              </a:solidFill>
              <a:effectLst/>
              <a:uFillTx/>
              <a:latin typeface="Arial"/>
            </a:endParaRPr>
          </a:p>
        </p:txBody>
      </p:sp>
      <p:sp>
        <p:nvSpPr>
          <p:cNvPr id="441"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Fonte: 8.1.2 e Anexo B. Repetições idênticas dentro da configuração examinada.</a:t>
            </a:r>
            <a:endParaRPr lang="pt-PT" sz="1000" b="0" u="none" strike="noStrike">
              <a:solidFill>
                <a:srgbClr val="000000"/>
              </a:solidFill>
              <a:effectLst/>
              <a:uFillTx/>
              <a:latin typeface="Arial"/>
            </a:endParaRPr>
          </a:p>
        </p:txBody>
      </p:sp>
      <p:sp>
        <p:nvSpPr>
          <p:cNvPr id="442"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22</a:t>
            </a:r>
            <a:endParaRPr lang="pt-PT" sz="1100" b="0" u="none" strike="noStrike">
              <a:solidFill>
                <a:srgbClr val="000000"/>
              </a:solidFill>
              <a:effectLst/>
              <a:uFillTx/>
              <a:latin typeface="Arial"/>
            </a:endParaRPr>
          </a:p>
        </p:txBody>
      </p:sp>
      <p:sp>
        <p:nvSpPr>
          <p:cNvPr id="443" name="Rectangle 6"/>
          <p:cNvSpPr/>
          <p:nvPr/>
        </p:nvSpPr>
        <p:spPr>
          <a:xfrm>
            <a:off x="640080" y="1956960"/>
            <a:ext cx="5303160" cy="32914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44" name="TextBox 7"/>
          <p:cNvSpPr/>
          <p:nvPr/>
        </p:nvSpPr>
        <p:spPr>
          <a:xfrm>
            <a:off x="841320" y="2121480"/>
            <a:ext cx="49006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7 / 5 / 5</a:t>
            </a:r>
            <a:endParaRPr lang="pt-PT" sz="2800" b="0" u="none" strike="noStrike">
              <a:solidFill>
                <a:srgbClr val="000000"/>
              </a:solidFill>
              <a:effectLst/>
              <a:uFillTx/>
              <a:latin typeface="Arial"/>
            </a:endParaRPr>
          </a:p>
        </p:txBody>
      </p:sp>
      <p:sp>
        <p:nvSpPr>
          <p:cNvPr id="445" name="TextBox 8"/>
          <p:cNvSpPr/>
          <p:nvPr/>
        </p:nvSpPr>
        <p:spPr>
          <a:xfrm>
            <a:off x="841320" y="2752200"/>
            <a:ext cx="49006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Exportações concluídas</a:t>
            </a:r>
            <a:endParaRPr lang="pt-PT" sz="2300" b="0" u="none" strike="noStrike">
              <a:solidFill>
                <a:srgbClr val="000000"/>
              </a:solidFill>
              <a:effectLst/>
              <a:uFillTx/>
              <a:latin typeface="Arial"/>
            </a:endParaRPr>
          </a:p>
        </p:txBody>
      </p:sp>
      <p:sp>
        <p:nvSpPr>
          <p:cNvPr id="446" name="TextBox 9"/>
          <p:cNvSpPr/>
          <p:nvPr/>
        </p:nvSpPr>
        <p:spPr>
          <a:xfrm>
            <a:off x="841320" y="3602880"/>
            <a:ext cx="4900680" cy="15084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Flexy Beast / Paraglider / Phoenix. Objetivo inicial: 10 por modelo.</a:t>
            </a:r>
            <a:endParaRPr lang="pt-PT" sz="1900" b="0" u="none" strike="noStrike">
              <a:solidFill>
                <a:srgbClr val="000000"/>
              </a:solidFill>
              <a:effectLst/>
              <a:uFillTx/>
              <a:latin typeface="Arial"/>
            </a:endParaRPr>
          </a:p>
        </p:txBody>
      </p:sp>
      <p:sp>
        <p:nvSpPr>
          <p:cNvPr id="447" name="Rectangle 10"/>
          <p:cNvSpPr/>
          <p:nvPr/>
        </p:nvSpPr>
        <p:spPr>
          <a:xfrm>
            <a:off x="6217920" y="1956960"/>
            <a:ext cx="5303160" cy="32914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48" name="TextBox 11"/>
          <p:cNvSpPr/>
          <p:nvPr/>
        </p:nvSpPr>
        <p:spPr>
          <a:xfrm>
            <a:off x="6419160" y="2121480"/>
            <a:ext cx="49006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7 conformes · 5 falhas</a:t>
            </a:r>
            <a:endParaRPr lang="pt-PT" sz="2800" b="0" u="none" strike="noStrike">
              <a:solidFill>
                <a:srgbClr val="000000"/>
              </a:solidFill>
              <a:effectLst/>
              <a:uFillTx/>
              <a:latin typeface="Arial"/>
            </a:endParaRPr>
          </a:p>
        </p:txBody>
      </p:sp>
      <p:sp>
        <p:nvSpPr>
          <p:cNvPr id="449" name="TextBox 12"/>
          <p:cNvSpPr/>
          <p:nvPr/>
        </p:nvSpPr>
        <p:spPr>
          <a:xfrm>
            <a:off x="6419160" y="2752200"/>
            <a:ext cx="49006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Verificação manual</a:t>
            </a:r>
            <a:endParaRPr lang="pt-PT" sz="2300" b="0" u="none" strike="noStrike">
              <a:solidFill>
                <a:srgbClr val="000000"/>
              </a:solidFill>
              <a:effectLst/>
              <a:uFillTx/>
              <a:latin typeface="Arial"/>
            </a:endParaRPr>
          </a:p>
        </p:txBody>
      </p:sp>
      <p:sp>
        <p:nvSpPr>
          <p:cNvPr id="450" name="TextBox 13"/>
          <p:cNvSpPr/>
          <p:nvPr/>
        </p:nvSpPr>
        <p:spPr>
          <a:xfrm>
            <a:off x="6419160" y="3602880"/>
            <a:ext cx="4900680" cy="15084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12 itens. A auditoria identificou barreiras a corrigir.</a:t>
            </a:r>
            <a:endParaRPr lang="pt-PT" sz="1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451"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52"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APOIO · TRANSPARÊNCIA E RESPONSABILIDADE</a:t>
            </a:r>
            <a:endParaRPr lang="pt-PT" sz="1100" b="0" u="none" strike="noStrike">
              <a:solidFill>
                <a:srgbClr val="000000"/>
              </a:solidFill>
              <a:effectLst/>
              <a:uFillTx/>
              <a:latin typeface="Arial"/>
            </a:endParaRPr>
          </a:p>
        </p:txBody>
      </p:sp>
      <p:sp>
        <p:nvSpPr>
          <p:cNvPr id="453"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Dois usos de inteligência artificial</a:t>
            </a:r>
            <a:endParaRPr lang="pt-PT" sz="3200" b="0" u="none" strike="noStrike">
              <a:solidFill>
                <a:srgbClr val="000000"/>
              </a:solidFill>
              <a:effectLst/>
              <a:uFillTx/>
              <a:latin typeface="Arial"/>
            </a:endParaRPr>
          </a:p>
        </p:txBody>
      </p:sp>
      <p:sp>
        <p:nvSpPr>
          <p:cNvPr id="454"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Fonte: declaração inicial do manuscrito e capítulo 6.</a:t>
            </a:r>
            <a:endParaRPr lang="pt-PT" sz="1000" b="0" u="none" strike="noStrike">
              <a:solidFill>
                <a:srgbClr val="000000"/>
              </a:solidFill>
              <a:effectLst/>
              <a:uFillTx/>
              <a:latin typeface="Arial"/>
            </a:endParaRPr>
          </a:p>
        </p:txBody>
      </p:sp>
      <p:sp>
        <p:nvSpPr>
          <p:cNvPr id="455"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23</a:t>
            </a:r>
            <a:endParaRPr lang="pt-PT" sz="1100" b="0" u="none" strike="noStrike">
              <a:solidFill>
                <a:srgbClr val="000000"/>
              </a:solidFill>
              <a:effectLst/>
              <a:uFillTx/>
              <a:latin typeface="Arial"/>
            </a:endParaRPr>
          </a:p>
        </p:txBody>
      </p:sp>
      <p:sp>
        <p:nvSpPr>
          <p:cNvPr id="456" name="Rectangle 6"/>
          <p:cNvSpPr/>
          <p:nvPr/>
        </p:nvSpPr>
        <p:spPr>
          <a:xfrm>
            <a:off x="640080" y="1956960"/>
            <a:ext cx="5303160" cy="32914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57" name="TextBox 7"/>
          <p:cNvSpPr/>
          <p:nvPr/>
        </p:nvSpPr>
        <p:spPr>
          <a:xfrm>
            <a:off x="841320" y="2121480"/>
            <a:ext cx="49006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Na elaboração</a:t>
            </a:r>
            <a:endParaRPr lang="pt-PT" sz="2800" b="0" u="none" strike="noStrike">
              <a:solidFill>
                <a:srgbClr val="000000"/>
              </a:solidFill>
              <a:effectLst/>
              <a:uFillTx/>
              <a:latin typeface="Arial"/>
            </a:endParaRPr>
          </a:p>
        </p:txBody>
      </p:sp>
      <p:sp>
        <p:nvSpPr>
          <p:cNvPr id="458" name="TextBox 8"/>
          <p:cNvSpPr/>
          <p:nvPr/>
        </p:nvSpPr>
        <p:spPr>
          <a:xfrm>
            <a:off x="841320" y="2752200"/>
            <a:ext cx="49006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Ferramentas de apoio</a:t>
            </a:r>
            <a:endParaRPr lang="pt-PT" sz="2300" b="0" u="none" strike="noStrike">
              <a:solidFill>
                <a:srgbClr val="000000"/>
              </a:solidFill>
              <a:effectLst/>
              <a:uFillTx/>
              <a:latin typeface="Arial"/>
            </a:endParaRPr>
          </a:p>
        </p:txBody>
      </p:sp>
      <p:sp>
        <p:nvSpPr>
          <p:cNvPr id="459" name="TextBox 9"/>
          <p:cNvSpPr/>
          <p:nvPr/>
        </p:nvSpPr>
        <p:spPr>
          <a:xfrm>
            <a:off x="841320" y="3602880"/>
            <a:ext cx="4900680" cy="15084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Pesquisa e organização, texto, código e ficheiros complementares.</a:t>
            </a:r>
            <a:endParaRPr lang="pt-PT" sz="1900" b="0" u="none" strike="noStrike">
              <a:solidFill>
                <a:srgbClr val="000000"/>
              </a:solidFill>
              <a:effectLst/>
              <a:uFillTx/>
              <a:latin typeface="Arial"/>
            </a:endParaRPr>
          </a:p>
        </p:txBody>
      </p:sp>
      <p:sp>
        <p:nvSpPr>
          <p:cNvPr id="460" name="Rectangle 10"/>
          <p:cNvSpPr/>
          <p:nvPr/>
        </p:nvSpPr>
        <p:spPr>
          <a:xfrm>
            <a:off x="6217920" y="1956960"/>
            <a:ext cx="5303160" cy="32914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1" name="TextBox 11"/>
          <p:cNvSpPr/>
          <p:nvPr/>
        </p:nvSpPr>
        <p:spPr>
          <a:xfrm>
            <a:off x="6419160" y="2121480"/>
            <a:ext cx="4900680" cy="4384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800" b="1" u="none" strike="noStrike">
                <a:solidFill>
                  <a:srgbClr val="007C78"/>
                </a:solidFill>
                <a:effectLst/>
                <a:uFillTx/>
                <a:latin typeface="Arial"/>
              </a:rPr>
              <a:t>No HandFab</a:t>
            </a:r>
            <a:endParaRPr lang="pt-PT" sz="2800" b="0" u="none" strike="noStrike">
              <a:solidFill>
                <a:srgbClr val="000000"/>
              </a:solidFill>
              <a:effectLst/>
              <a:uFillTx/>
              <a:latin typeface="Arial"/>
            </a:endParaRPr>
          </a:p>
        </p:txBody>
      </p:sp>
      <p:sp>
        <p:nvSpPr>
          <p:cNvPr id="462" name="TextBox 12"/>
          <p:cNvSpPr/>
          <p:nvPr/>
        </p:nvSpPr>
        <p:spPr>
          <a:xfrm>
            <a:off x="6419160" y="2752200"/>
            <a:ext cx="4900680" cy="77688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300" b="1" u="none" strike="noStrike">
                <a:solidFill>
                  <a:srgbClr val="193536"/>
                </a:solidFill>
                <a:effectLst/>
                <a:uFillTx/>
                <a:latin typeface="Arial"/>
              </a:rPr>
              <a:t>Objeto de investigação</a:t>
            </a:r>
            <a:endParaRPr lang="pt-PT" sz="2300" b="0" u="none" strike="noStrike">
              <a:solidFill>
                <a:srgbClr val="000000"/>
              </a:solidFill>
              <a:effectLst/>
              <a:uFillTx/>
              <a:latin typeface="Arial"/>
            </a:endParaRPr>
          </a:p>
        </p:txBody>
      </p:sp>
      <p:sp>
        <p:nvSpPr>
          <p:cNvPr id="463" name="TextBox 13"/>
          <p:cNvSpPr/>
          <p:nvPr/>
        </p:nvSpPr>
        <p:spPr>
          <a:xfrm>
            <a:off x="6419160" y="3602880"/>
            <a:ext cx="4900680" cy="15084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900" b="0" u="none" strike="noStrike">
                <a:solidFill>
                  <a:srgbClr val="566B6A"/>
                </a:solidFill>
                <a:effectLst/>
                <a:uFillTx/>
                <a:latin typeface="Arial"/>
              </a:rPr>
              <a:t>Sugestões iniciais de parâmetros, sujeitas a revisão.</a:t>
            </a:r>
            <a:endParaRPr lang="pt-PT" sz="1900" b="0" u="none" strike="noStrike">
              <a:solidFill>
                <a:srgbClr val="000000"/>
              </a:solidFill>
              <a:effectLst/>
              <a:uFillTx/>
              <a:latin typeface="Arial"/>
            </a:endParaRPr>
          </a:p>
        </p:txBody>
      </p:sp>
      <p:sp>
        <p:nvSpPr>
          <p:cNvPr id="464" name="TextBox 14"/>
          <p:cNvSpPr/>
          <p:nvPr/>
        </p:nvSpPr>
        <p:spPr>
          <a:xfrm>
            <a:off x="859680" y="5477400"/>
            <a:ext cx="10332360" cy="6397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2100" b="1" u="none" strike="noStrike">
                <a:solidFill>
                  <a:srgbClr val="007C78"/>
                </a:solidFill>
                <a:effectLst/>
                <a:uFillTx/>
                <a:latin typeface="Arial"/>
              </a:rPr>
              <a:t>O autor assume a responsabilidade pelo conteúdo e pelas decisões do projeto.</a:t>
            </a:r>
            <a:endParaRPr lang="pt-PT" sz="2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465"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6"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APOIO · REFERÊNCIAS</a:t>
            </a:r>
            <a:endParaRPr lang="pt-PT" sz="1100" b="0" u="none" strike="noStrike">
              <a:solidFill>
                <a:srgbClr val="000000"/>
              </a:solidFill>
              <a:effectLst/>
              <a:uFillTx/>
              <a:latin typeface="Arial"/>
            </a:endParaRPr>
          </a:p>
        </p:txBody>
      </p:sp>
      <p:sp>
        <p:nvSpPr>
          <p:cNvPr id="467"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Referências: design e investigação</a:t>
            </a:r>
            <a:endParaRPr lang="pt-PT" sz="3200" b="0" u="none" strike="noStrike">
              <a:solidFill>
                <a:srgbClr val="000000"/>
              </a:solidFill>
              <a:effectLst/>
              <a:uFillTx/>
              <a:latin typeface="Arial"/>
            </a:endParaRPr>
          </a:p>
        </p:txBody>
      </p:sp>
      <p:sp>
        <p:nvSpPr>
          <p:cNvPr id="468"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Seleção da bibliografia do manuscrito · A ligação ao HandFab é uma interpretação aplicada ao projeto.</a:t>
            </a:r>
            <a:endParaRPr lang="pt-PT" sz="1000" b="0" u="none" strike="noStrike">
              <a:solidFill>
                <a:srgbClr val="000000"/>
              </a:solidFill>
              <a:effectLst/>
              <a:uFillTx/>
              <a:latin typeface="Arial"/>
            </a:endParaRPr>
          </a:p>
        </p:txBody>
      </p:sp>
      <p:sp>
        <p:nvSpPr>
          <p:cNvPr id="469"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24</a:t>
            </a:r>
            <a:endParaRPr lang="pt-PT" sz="1100" b="0" u="none" strike="noStrike">
              <a:solidFill>
                <a:srgbClr val="000000"/>
              </a:solidFill>
              <a:effectLst/>
              <a:uFillTx/>
              <a:latin typeface="Arial"/>
            </a:endParaRPr>
          </a:p>
        </p:txBody>
      </p:sp>
      <p:sp>
        <p:nvSpPr>
          <p:cNvPr id="470" name="TextBox 6"/>
          <p:cNvSpPr/>
          <p:nvPr/>
        </p:nvSpPr>
        <p:spPr>
          <a:xfrm>
            <a:off x="731520" y="1847160"/>
            <a:ext cx="2788560" cy="6397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1" u="none" strike="noStrike">
                <a:solidFill>
                  <a:srgbClr val="007C78"/>
                </a:solidFill>
                <a:effectLst/>
                <a:uFillTx/>
                <a:latin typeface="Arial"/>
              </a:rPr>
              <a:t>Cross (1982)</a:t>
            </a:r>
            <a:endParaRPr lang="pt-PT" sz="1800" b="0" u="none" strike="noStrike">
              <a:solidFill>
                <a:srgbClr val="000000"/>
              </a:solidFill>
              <a:effectLst/>
              <a:uFillTx/>
              <a:latin typeface="Arial"/>
            </a:endParaRPr>
          </a:p>
        </p:txBody>
      </p:sp>
      <p:sp>
        <p:nvSpPr>
          <p:cNvPr id="471" name="TextBox 7"/>
          <p:cNvSpPr/>
          <p:nvPr/>
        </p:nvSpPr>
        <p:spPr>
          <a:xfrm>
            <a:off x="3684960" y="1847160"/>
            <a:ext cx="7753680" cy="7128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193536"/>
                </a:solidFill>
                <a:effectLst/>
                <a:uFillTx/>
                <a:latin typeface="Arial"/>
              </a:rPr>
              <a:t>Designerly ways of knowing. Design Studies, 3(4), 221-227. DOI: 10.1016/0142-694X(82)90040-0</a:t>
            </a:r>
            <a:endParaRPr lang="pt-PT" sz="1700" b="0" u="none" strike="noStrike">
              <a:solidFill>
                <a:srgbClr val="000000"/>
              </a:solidFill>
              <a:effectLst/>
              <a:uFillTx/>
              <a:latin typeface="Arial"/>
            </a:endParaRPr>
          </a:p>
        </p:txBody>
      </p:sp>
      <p:sp>
        <p:nvSpPr>
          <p:cNvPr id="472" name="TextBox 8"/>
          <p:cNvSpPr/>
          <p:nvPr/>
        </p:nvSpPr>
        <p:spPr>
          <a:xfrm>
            <a:off x="731520" y="2660760"/>
            <a:ext cx="2788560" cy="6397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1" u="none" strike="noStrike">
                <a:solidFill>
                  <a:srgbClr val="007C78"/>
                </a:solidFill>
                <a:effectLst/>
                <a:uFillTx/>
                <a:latin typeface="Arial"/>
              </a:rPr>
              <a:t>Fischer et al. (2004)</a:t>
            </a:r>
            <a:endParaRPr lang="pt-PT" sz="1800" b="0" u="none" strike="noStrike">
              <a:solidFill>
                <a:srgbClr val="000000"/>
              </a:solidFill>
              <a:effectLst/>
              <a:uFillTx/>
              <a:latin typeface="Arial"/>
            </a:endParaRPr>
          </a:p>
        </p:txBody>
      </p:sp>
      <p:sp>
        <p:nvSpPr>
          <p:cNvPr id="473" name="TextBox 9"/>
          <p:cNvSpPr/>
          <p:nvPr/>
        </p:nvSpPr>
        <p:spPr>
          <a:xfrm>
            <a:off x="3684960" y="2660760"/>
            <a:ext cx="7753680" cy="7128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193536"/>
                </a:solidFill>
                <a:effectLst/>
                <a:uFillTx/>
                <a:latin typeface="Arial"/>
              </a:rPr>
              <a:t>Meta-design: A manifesto for end-user development. Communications of the ACM, 47(9), 33-37. DOI: 10.1145/1015864.1015884</a:t>
            </a:r>
            <a:endParaRPr lang="pt-PT" sz="1700" b="0" u="none" strike="noStrike">
              <a:solidFill>
                <a:srgbClr val="000000"/>
              </a:solidFill>
              <a:effectLst/>
              <a:uFillTx/>
              <a:latin typeface="Arial"/>
            </a:endParaRPr>
          </a:p>
        </p:txBody>
      </p:sp>
      <p:sp>
        <p:nvSpPr>
          <p:cNvPr id="474" name="TextBox 10"/>
          <p:cNvSpPr/>
          <p:nvPr/>
        </p:nvSpPr>
        <p:spPr>
          <a:xfrm>
            <a:off x="731520" y="3474720"/>
            <a:ext cx="2788560" cy="6397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1" u="none" strike="noStrike">
                <a:solidFill>
                  <a:srgbClr val="007C78"/>
                </a:solidFill>
                <a:effectLst/>
                <a:uFillTx/>
                <a:latin typeface="Arial"/>
              </a:rPr>
              <a:t>Frayling (1994)</a:t>
            </a:r>
            <a:endParaRPr lang="pt-PT" sz="1800" b="0" u="none" strike="noStrike">
              <a:solidFill>
                <a:srgbClr val="000000"/>
              </a:solidFill>
              <a:effectLst/>
              <a:uFillTx/>
              <a:latin typeface="Arial"/>
            </a:endParaRPr>
          </a:p>
        </p:txBody>
      </p:sp>
      <p:sp>
        <p:nvSpPr>
          <p:cNvPr id="475" name="TextBox 11"/>
          <p:cNvSpPr/>
          <p:nvPr/>
        </p:nvSpPr>
        <p:spPr>
          <a:xfrm>
            <a:off x="3684960" y="3474720"/>
            <a:ext cx="7753680" cy="7128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193536"/>
                </a:solidFill>
                <a:effectLst/>
                <a:uFillTx/>
                <a:latin typeface="Arial"/>
              </a:rPr>
              <a:t>Research in art and design. Royal College of Art Research Papers, 1(1).</a:t>
            </a:r>
            <a:endParaRPr lang="pt-PT" sz="1700" b="0" u="none" strike="noStrike">
              <a:solidFill>
                <a:srgbClr val="000000"/>
              </a:solidFill>
              <a:effectLst/>
              <a:uFillTx/>
              <a:latin typeface="Arial"/>
            </a:endParaRPr>
          </a:p>
        </p:txBody>
      </p:sp>
      <p:sp>
        <p:nvSpPr>
          <p:cNvPr id="476" name="TextBox 12"/>
          <p:cNvSpPr/>
          <p:nvPr/>
        </p:nvSpPr>
        <p:spPr>
          <a:xfrm>
            <a:off x="731520" y="4288680"/>
            <a:ext cx="2788560" cy="6397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1" u="none" strike="noStrike">
                <a:solidFill>
                  <a:srgbClr val="007C78"/>
                </a:solidFill>
                <a:effectLst/>
                <a:uFillTx/>
                <a:latin typeface="Arial"/>
              </a:rPr>
              <a:t>Zimmerman et al. (2007)</a:t>
            </a:r>
            <a:endParaRPr lang="pt-PT" sz="1800" b="0" u="none" strike="noStrike">
              <a:solidFill>
                <a:srgbClr val="000000"/>
              </a:solidFill>
              <a:effectLst/>
              <a:uFillTx/>
              <a:latin typeface="Arial"/>
            </a:endParaRPr>
          </a:p>
        </p:txBody>
      </p:sp>
      <p:sp>
        <p:nvSpPr>
          <p:cNvPr id="477" name="TextBox 13"/>
          <p:cNvSpPr/>
          <p:nvPr/>
        </p:nvSpPr>
        <p:spPr>
          <a:xfrm>
            <a:off x="3684960" y="4288680"/>
            <a:ext cx="7753680" cy="7128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193536"/>
                </a:solidFill>
                <a:effectLst/>
                <a:uFillTx/>
                <a:latin typeface="Arial"/>
              </a:rPr>
              <a:t>Research through design as a method for interaction design research in HCI. CHI, 493-502. DOI: 10.1145/1240624.1240704</a:t>
            </a:r>
            <a:endParaRPr lang="pt-PT" sz="1700" b="0" u="none" strike="noStrike">
              <a:solidFill>
                <a:srgbClr val="000000"/>
              </a:solidFill>
              <a:effectLst/>
              <a:uFillTx/>
              <a:latin typeface="Arial"/>
            </a:endParaRPr>
          </a:p>
        </p:txBody>
      </p:sp>
      <p:sp>
        <p:nvSpPr>
          <p:cNvPr id="478" name="TextBox 14"/>
          <p:cNvSpPr/>
          <p:nvPr/>
        </p:nvSpPr>
        <p:spPr>
          <a:xfrm>
            <a:off x="731520" y="5102280"/>
            <a:ext cx="2788560" cy="6397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1" u="none" strike="noStrike">
                <a:solidFill>
                  <a:srgbClr val="007C78"/>
                </a:solidFill>
                <a:effectLst/>
                <a:uFillTx/>
                <a:latin typeface="Arial"/>
              </a:rPr>
              <a:t>Design Council (2007)</a:t>
            </a:r>
            <a:endParaRPr lang="pt-PT" sz="1800" b="0" u="none" strike="noStrike">
              <a:solidFill>
                <a:srgbClr val="000000"/>
              </a:solidFill>
              <a:effectLst/>
              <a:uFillTx/>
              <a:latin typeface="Arial"/>
            </a:endParaRPr>
          </a:p>
        </p:txBody>
      </p:sp>
      <p:sp>
        <p:nvSpPr>
          <p:cNvPr id="479" name="TextBox 15"/>
          <p:cNvSpPr/>
          <p:nvPr/>
        </p:nvSpPr>
        <p:spPr>
          <a:xfrm>
            <a:off x="3684960" y="5102280"/>
            <a:ext cx="7753680" cy="7128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193536"/>
                </a:solidFill>
                <a:effectLst/>
                <a:uFillTx/>
                <a:latin typeface="Arial"/>
              </a:rPr>
              <a:t>Eleven lessons: Managing design in eleven global brands: A study of the design process.</a:t>
            </a:r>
            <a:endParaRPr lang="pt-PT"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5F0"/>
        </a:solidFill>
      </p:bgPr>
    </p:bg>
    <p:spTree>
      <p:nvGrpSpPr>
        <p:cNvPr id="1" name=""/>
        <p:cNvGrpSpPr/>
        <p:nvPr/>
      </p:nvGrpSpPr>
      <p:grpSpPr>
        <a:xfrm>
          <a:off x="0" y="0"/>
          <a:ext cx="0" cy="0"/>
          <a:chOff x="0" y="0"/>
          <a:chExt cx="0" cy="0"/>
        </a:xfrm>
      </p:grpSpPr>
      <p:sp>
        <p:nvSpPr>
          <p:cNvPr id="480" name="Rectangle 1"/>
          <p:cNvSpPr/>
          <p:nvPr/>
        </p:nvSpPr>
        <p:spPr>
          <a:xfrm>
            <a:off x="411480" y="411480"/>
            <a:ext cx="109440" cy="273960"/>
          </a:xfrm>
          <a:prstGeom prst="rect">
            <a:avLst/>
          </a:prstGeom>
          <a:solidFill>
            <a:srgbClr val="007C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81" name="TextBox 2"/>
          <p:cNvSpPr/>
          <p:nvPr/>
        </p:nvSpPr>
        <p:spPr>
          <a:xfrm>
            <a:off x="640080" y="365760"/>
            <a:ext cx="10789560" cy="27396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100" b="1" u="none" strike="noStrike">
                <a:solidFill>
                  <a:srgbClr val="007C78"/>
                </a:solidFill>
                <a:effectLst/>
                <a:uFillTx/>
                <a:latin typeface="Arial"/>
              </a:rPr>
              <a:t>APOIO · REFERÊNCIAS</a:t>
            </a:r>
            <a:endParaRPr lang="pt-PT" sz="1100" b="0" u="none" strike="noStrike">
              <a:solidFill>
                <a:srgbClr val="000000"/>
              </a:solidFill>
              <a:effectLst/>
              <a:uFillTx/>
              <a:latin typeface="Arial"/>
            </a:endParaRPr>
          </a:p>
        </p:txBody>
      </p:sp>
      <p:sp>
        <p:nvSpPr>
          <p:cNvPr id="482" name="TextBox 3"/>
          <p:cNvSpPr/>
          <p:nvPr/>
        </p:nvSpPr>
        <p:spPr>
          <a:xfrm>
            <a:off x="640080" y="859680"/>
            <a:ext cx="10881000" cy="9140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3200" b="1" u="none" strike="noStrike">
                <a:solidFill>
                  <a:srgbClr val="193536"/>
                </a:solidFill>
                <a:effectLst/>
                <a:uFillTx/>
                <a:latin typeface="Arial"/>
              </a:rPr>
              <a:t>Referências: próteses e antropometria</a:t>
            </a:r>
            <a:endParaRPr lang="pt-PT" sz="3200" b="0" u="none" strike="noStrike">
              <a:solidFill>
                <a:srgbClr val="000000"/>
              </a:solidFill>
              <a:effectLst/>
              <a:uFillTx/>
              <a:latin typeface="Arial"/>
            </a:endParaRPr>
          </a:p>
        </p:txBody>
      </p:sp>
      <p:sp>
        <p:nvSpPr>
          <p:cNvPr id="483" name="TextBox 4"/>
          <p:cNvSpPr/>
          <p:nvPr/>
        </p:nvSpPr>
        <p:spPr>
          <a:xfrm>
            <a:off x="640080" y="6364080"/>
            <a:ext cx="10560960" cy="23724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000" b="0" u="none" strike="noStrike">
                <a:solidFill>
                  <a:srgbClr val="566B6A"/>
                </a:solidFill>
                <a:effectLst/>
                <a:uFillTx/>
                <a:latin typeface="Arial"/>
              </a:rPr>
              <a:t>Dados e atribuições: Suplemento 1 · Ensaios do projeto: Suplementos 2-4 · Obras distintas com funções próprias.</a:t>
            </a:r>
            <a:endParaRPr lang="pt-PT" sz="1000" b="0" u="none" strike="noStrike">
              <a:solidFill>
                <a:srgbClr val="000000"/>
              </a:solidFill>
              <a:effectLst/>
              <a:uFillTx/>
              <a:latin typeface="Arial"/>
            </a:endParaRPr>
          </a:p>
        </p:txBody>
      </p:sp>
      <p:sp>
        <p:nvSpPr>
          <p:cNvPr id="484" name="TextBox 5"/>
          <p:cNvSpPr/>
          <p:nvPr/>
        </p:nvSpPr>
        <p:spPr>
          <a:xfrm>
            <a:off x="11201400" y="6336720"/>
            <a:ext cx="365400" cy="273960"/>
          </a:xfrm>
          <a:prstGeom prst="rect">
            <a:avLst/>
          </a:prstGeom>
          <a:noFill/>
          <a:ln w="0">
            <a:noFill/>
          </a:ln>
        </p:spPr>
        <p:style>
          <a:lnRef idx="0"/>
          <a:fillRef idx="0"/>
          <a:effectRef idx="0"/>
          <a:fontRef idx="minor"/>
        </p:style>
        <p:txBody>
          <a:bodyPr lIns="0" tIns="23040" rIns="0" bIns="23040" anchor="t">
            <a:spAutoFit/>
          </a:bodyPr>
          <a:p>
            <a:pPr algn="r" defTabSz="457200">
              <a:lnSpc>
                <a:spcPct val="110000"/>
              </a:lnSpc>
              <a:spcAft>
                <a:spcPts val="700"/>
              </a:spcAft>
            </a:pPr>
            <a:r>
              <a:rPr lang="en-US" sz="1100" b="1" u="none" strike="noStrike">
                <a:solidFill>
                  <a:srgbClr val="193536"/>
                </a:solidFill>
                <a:effectLst/>
                <a:uFillTx/>
                <a:latin typeface="Arial"/>
              </a:rPr>
              <a:t>25</a:t>
            </a:r>
            <a:endParaRPr lang="pt-PT" sz="1100" b="0" u="none" strike="noStrike">
              <a:solidFill>
                <a:srgbClr val="000000"/>
              </a:solidFill>
              <a:effectLst/>
              <a:uFillTx/>
              <a:latin typeface="Arial"/>
            </a:endParaRPr>
          </a:p>
        </p:txBody>
      </p:sp>
      <p:sp>
        <p:nvSpPr>
          <p:cNvPr id="485" name="TextBox 6"/>
          <p:cNvSpPr/>
          <p:nvPr/>
        </p:nvSpPr>
        <p:spPr>
          <a:xfrm>
            <a:off x="731520" y="1847160"/>
            <a:ext cx="2788560" cy="6397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1" u="none" strike="noStrike">
                <a:solidFill>
                  <a:srgbClr val="007C78"/>
                </a:solidFill>
                <a:effectLst/>
                <a:uFillTx/>
                <a:latin typeface="Arial"/>
              </a:rPr>
              <a:t>Manero et al. (2019)</a:t>
            </a:r>
            <a:endParaRPr lang="pt-PT" sz="1800" b="0" u="none" strike="noStrike">
              <a:solidFill>
                <a:srgbClr val="000000"/>
              </a:solidFill>
              <a:effectLst/>
              <a:uFillTx/>
              <a:latin typeface="Arial"/>
            </a:endParaRPr>
          </a:p>
        </p:txBody>
      </p:sp>
      <p:sp>
        <p:nvSpPr>
          <p:cNvPr id="486" name="TextBox 7"/>
          <p:cNvSpPr/>
          <p:nvPr/>
        </p:nvSpPr>
        <p:spPr>
          <a:xfrm>
            <a:off x="3684960" y="1847160"/>
            <a:ext cx="7753680" cy="7128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193536"/>
                </a:solidFill>
                <a:effectLst/>
                <a:uFillTx/>
                <a:latin typeface="Arial"/>
              </a:rPr>
              <a:t>Implementation of 3D printing technology in the field of prosthetics: Past, present, and future. DOI: 10.3390/ijerph16091641</a:t>
            </a:r>
            <a:endParaRPr lang="pt-PT" sz="1700" b="0" u="none" strike="noStrike">
              <a:solidFill>
                <a:srgbClr val="000000"/>
              </a:solidFill>
              <a:effectLst/>
              <a:uFillTx/>
              <a:latin typeface="Arial"/>
            </a:endParaRPr>
          </a:p>
        </p:txBody>
      </p:sp>
      <p:sp>
        <p:nvSpPr>
          <p:cNvPr id="487" name="TextBox 8"/>
          <p:cNvSpPr/>
          <p:nvPr/>
        </p:nvSpPr>
        <p:spPr>
          <a:xfrm>
            <a:off x="731520" y="2660760"/>
            <a:ext cx="2788560" cy="6397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1" u="none" strike="noStrike">
                <a:solidFill>
                  <a:srgbClr val="007C78"/>
                </a:solidFill>
                <a:effectLst/>
                <a:uFillTx/>
                <a:latin typeface="Arial"/>
              </a:rPr>
              <a:t>Cabibihan et al. (2021)</a:t>
            </a:r>
            <a:endParaRPr lang="pt-PT" sz="1800" b="0" u="none" strike="noStrike">
              <a:solidFill>
                <a:srgbClr val="000000"/>
              </a:solidFill>
              <a:effectLst/>
              <a:uFillTx/>
              <a:latin typeface="Arial"/>
            </a:endParaRPr>
          </a:p>
        </p:txBody>
      </p:sp>
      <p:sp>
        <p:nvSpPr>
          <p:cNvPr id="488" name="TextBox 9"/>
          <p:cNvSpPr/>
          <p:nvPr/>
        </p:nvSpPr>
        <p:spPr>
          <a:xfrm>
            <a:off x="3684960" y="2660760"/>
            <a:ext cx="7753680" cy="7128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193536"/>
                </a:solidFill>
                <a:effectLst/>
                <a:uFillTx/>
                <a:latin typeface="Arial"/>
              </a:rPr>
              <a:t>Suitability of the openly accessible 3D printed prosthetic hands for war-wounded children. DOI: 10.3389/frobt.2020.594196</a:t>
            </a:r>
            <a:endParaRPr lang="pt-PT" sz="1700" b="0" u="none" strike="noStrike">
              <a:solidFill>
                <a:srgbClr val="000000"/>
              </a:solidFill>
              <a:effectLst/>
              <a:uFillTx/>
              <a:latin typeface="Arial"/>
            </a:endParaRPr>
          </a:p>
        </p:txBody>
      </p:sp>
      <p:sp>
        <p:nvSpPr>
          <p:cNvPr id="489" name="TextBox 10"/>
          <p:cNvSpPr/>
          <p:nvPr/>
        </p:nvSpPr>
        <p:spPr>
          <a:xfrm>
            <a:off x="731520" y="3474720"/>
            <a:ext cx="2788560" cy="6397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1" u="none" strike="noStrike">
                <a:solidFill>
                  <a:srgbClr val="007C78"/>
                </a:solidFill>
                <a:effectLst/>
                <a:uFillTx/>
                <a:latin typeface="Arial"/>
              </a:rPr>
              <a:t>Gordon et al. (1989; 2014)</a:t>
            </a:r>
            <a:endParaRPr lang="pt-PT" sz="1800" b="0" u="none" strike="noStrike">
              <a:solidFill>
                <a:srgbClr val="000000"/>
              </a:solidFill>
              <a:effectLst/>
              <a:uFillTx/>
              <a:latin typeface="Arial"/>
            </a:endParaRPr>
          </a:p>
        </p:txBody>
      </p:sp>
      <p:sp>
        <p:nvSpPr>
          <p:cNvPr id="490" name="TextBox 11"/>
          <p:cNvSpPr/>
          <p:nvPr/>
        </p:nvSpPr>
        <p:spPr>
          <a:xfrm>
            <a:off x="3684960" y="3474720"/>
            <a:ext cx="7753680" cy="7128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193536"/>
                </a:solidFill>
                <a:effectLst/>
                <a:uFillTx/>
                <a:latin typeface="Arial"/>
              </a:rPr>
              <a:t>1988 / 2012 anthropometric survey of U.S. Army personnel: Methods and summary statistics. Relatórios distintos: ANSUR 1988 / ANSUR II.</a:t>
            </a:r>
            <a:endParaRPr lang="pt-PT" sz="1700" b="0" u="none" strike="noStrike">
              <a:solidFill>
                <a:srgbClr val="000000"/>
              </a:solidFill>
              <a:effectLst/>
              <a:uFillTx/>
              <a:latin typeface="Arial"/>
            </a:endParaRPr>
          </a:p>
        </p:txBody>
      </p:sp>
      <p:sp>
        <p:nvSpPr>
          <p:cNvPr id="491" name="TextBox 12"/>
          <p:cNvSpPr/>
          <p:nvPr/>
        </p:nvSpPr>
        <p:spPr>
          <a:xfrm>
            <a:off x="731520" y="4288680"/>
            <a:ext cx="2788560" cy="6397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1" u="none" strike="noStrike">
                <a:solidFill>
                  <a:srgbClr val="007C78"/>
                </a:solidFill>
                <a:effectLst/>
                <a:uFillTx/>
                <a:latin typeface="Arial"/>
              </a:rPr>
              <a:t>TU Delft · DINED (s.d.)</a:t>
            </a:r>
            <a:endParaRPr lang="pt-PT" sz="1800" b="0" u="none" strike="noStrike">
              <a:solidFill>
                <a:srgbClr val="000000"/>
              </a:solidFill>
              <a:effectLst/>
              <a:uFillTx/>
              <a:latin typeface="Arial"/>
            </a:endParaRPr>
          </a:p>
        </p:txBody>
      </p:sp>
      <p:sp>
        <p:nvSpPr>
          <p:cNvPr id="492" name="TextBox 13"/>
          <p:cNvSpPr/>
          <p:nvPr/>
        </p:nvSpPr>
        <p:spPr>
          <a:xfrm>
            <a:off x="3684960" y="4288680"/>
            <a:ext cx="7753680" cy="7128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193536"/>
                </a:solidFill>
                <a:effectLst/>
                <a:uFillTx/>
                <a:latin typeface="Arial"/>
              </a:rPr>
              <a:t>DINED: 1D anthropometric database [Base de dados]. Consulta: 02/05/2026. https://dined.io.tudelft.nl/en/database/tool</a:t>
            </a:r>
            <a:endParaRPr lang="pt-PT" sz="1700" b="0" u="none" strike="noStrike">
              <a:solidFill>
                <a:srgbClr val="000000"/>
              </a:solidFill>
              <a:effectLst/>
              <a:uFillTx/>
              <a:latin typeface="Arial"/>
            </a:endParaRPr>
          </a:p>
        </p:txBody>
      </p:sp>
      <p:sp>
        <p:nvSpPr>
          <p:cNvPr id="493" name="TextBox 14"/>
          <p:cNvSpPr/>
          <p:nvPr/>
        </p:nvSpPr>
        <p:spPr>
          <a:xfrm>
            <a:off x="731520" y="5102280"/>
            <a:ext cx="2788560" cy="63972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800" b="1" u="none" strike="noStrike">
                <a:solidFill>
                  <a:srgbClr val="007C78"/>
                </a:solidFill>
                <a:effectLst/>
                <a:uFillTx/>
                <a:latin typeface="Arial"/>
              </a:rPr>
              <a:t>ISO (2017)</a:t>
            </a:r>
            <a:endParaRPr lang="pt-PT" sz="1800" b="0" u="none" strike="noStrike">
              <a:solidFill>
                <a:srgbClr val="000000"/>
              </a:solidFill>
              <a:effectLst/>
              <a:uFillTx/>
              <a:latin typeface="Arial"/>
            </a:endParaRPr>
          </a:p>
        </p:txBody>
      </p:sp>
      <p:sp>
        <p:nvSpPr>
          <p:cNvPr id="494" name="TextBox 15"/>
          <p:cNvSpPr/>
          <p:nvPr/>
        </p:nvSpPr>
        <p:spPr>
          <a:xfrm>
            <a:off x="3684960" y="5102280"/>
            <a:ext cx="7753680" cy="712800"/>
          </a:xfrm>
          <a:prstGeom prst="rect">
            <a:avLst/>
          </a:prstGeom>
          <a:noFill/>
          <a:ln w="0">
            <a:noFill/>
          </a:ln>
        </p:spPr>
        <p:style>
          <a:lnRef idx="0"/>
          <a:fillRef idx="0"/>
          <a:effectRef idx="0"/>
          <a:fontRef idx="minor"/>
        </p:style>
        <p:txBody>
          <a:bodyPr lIns="0" tIns="23040" rIns="0" bIns="23040" anchor="t">
            <a:spAutoFit/>
          </a:bodyPr>
          <a:p>
            <a:pPr defTabSz="457200">
              <a:lnSpc>
                <a:spcPct val="110000"/>
              </a:lnSpc>
              <a:spcAft>
                <a:spcPts val="700"/>
              </a:spcAft>
            </a:pPr>
            <a:r>
              <a:rPr lang="en-US" sz="1700" b="0" u="none" strike="noStrike">
                <a:solidFill>
                  <a:srgbClr val="193536"/>
                </a:solidFill>
                <a:effectLst/>
                <a:uFillTx/>
                <a:latin typeface="Arial"/>
              </a:rPr>
              <a:t>ISO 7250-1:2017. Basic human body measurements for technological design: Part 1: Body measurement definitions and landmarks (2.ª ed.).</a:t>
            </a:r>
            <a:endParaRPr lang="pt-PT"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695</TotalTime>
  <Application>LibreOffice/26.2.5.2$Linux_X86_64 LibreOffice_project/6d2b0d33fb0f5da53a12f98bed3e9973e56ff1f0</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Pedro Miguel Candeias da Silva</dc:creator>
  <dc:description>generated using python-pptx</dc:description>
  <dc:language>pt-PT</dc:language>
  <cp:lastModifiedBy/>
  <dcterms:modified xsi:type="dcterms:W3CDTF">2026-10-12T09:14:33Z</dcterms:modified>
  <cp:revision>2</cp:revision>
  <dc:subject>Design e Desenvolvimento de Produto · UPCA</dc:subject>
  <dc:title>HandFab: Defesa do projeto de mestrado</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